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Play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/Im3rDcTTHT1CpM2PP0ncyQSX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D10E6C-81D3-41D5-82F2-AEA2A5149642}">
  <a:tblStyle styleId="{84D10E6C-81D3-41D5-82F2-AEA2A51496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lay-bold.fntdata"/><Relationship Id="rId16" Type="http://schemas.openxmlformats.org/officeDocument/2006/relationships/slide" Target="slides/slide11.xml"/><Relationship Id="rId38" Type="http://schemas.openxmlformats.org/officeDocument/2006/relationships/font" Target="fonts/Play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d4ca9d3d1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6d4ca9d3d1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 the Origin of Species: https://en.wikipedia.org/wiki/On_the_Origin_of_Species</a:t>
            </a:r>
            <a:endParaRPr/>
          </a:p>
        </p:txBody>
      </p:sp>
      <p:sp>
        <p:nvSpPr>
          <p:cNvPr id="87" name="Google Shape;87;g36d4ca9d3d1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b8d30b041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9b8d30b041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" name="Google Shape;98;g39b8d30b041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12ca3d802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12ca3d802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6" name="Google Shape;106;g3b12ca3d802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b8d30b041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9b8d30b041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4" name="Google Shape;114;g39b8d30b041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2ca3d802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b12ca3d802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2" name="Google Shape;122;g3b12ca3d802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12ca3d802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b12ca3d802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0" name="Google Shape;130;g3b12ca3d802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2ca3d802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b12ca3d802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8" name="Google Shape;138;g3b12ca3d802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12ca3d802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b12ca3d802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6" name="Google Shape;146;g3b12ca3d802_0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12ca3d802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b12ca3d802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5" name="Google Shape;155;g3b12ca3d802_0_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12ca3d802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b12ca3d802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5" name="Google Shape;165;g3b12ca3d802_0_2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12ca3d802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b12ca3d802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3" name="Google Shape;173;g3b12ca3d802_0_1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12ca3d802_0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b12ca3d802_0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2" name="Google Shape;182;g3b12ca3d802_0_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12ca3d802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b12ca3d802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0.0, 0.0]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0.0, 0.0]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0.0, 0.0]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0, Actual: 1, Error: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[0.1, 0.1,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1 — Total Error: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1, Actual: 0, Error: -1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0.1,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1, Actual: 0, Error: -1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0.1, 0.0]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0.1, 0.0]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0, Actual: 1, Error: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2 — Total Error: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1, Actual: 0, Error: -1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1, Actual: 0, Error: -1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0.1, 0.0]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0, Actual: 1, Error: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3 — Total Error: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1, Actual: 0, Error: -1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0.1,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0, Actual: 1, Error: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4 — Total Error: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1, Actual: 0, Error: -1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1, Actual: 1,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5 — Total Error: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0, Actual: 0,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1, Actual: 1, Error: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6 — Total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Final predictions: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[0, 0] -&gt;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[0, 1] -&gt;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[1, 0] -&gt;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[1, 1] -&gt;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Final weights: [-0.2,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0" name="Google Shape;190;g3b12ca3d802_0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12ca3d802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b12ca3d802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8" name="Google Shape;198;g3b12ca3d802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12ca3d802_0_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b12ca3d802_0_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https://en.wikipedia.org/wiki/Activation_function</a:t>
            </a:r>
            <a:endParaRPr/>
          </a:p>
        </p:txBody>
      </p:sp>
      <p:sp>
        <p:nvSpPr>
          <p:cNvPr id="206" name="Google Shape;206;g3b12ca3d802_0_2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b8d30b041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9b8d30b041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4" name="Google Shape;214;g39b8d30b041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b8d30b041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9b8d30b041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2" name="Google Shape;222;g39b8d30b041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12ca3d802_0_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b12ca3d802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1" name="Google Shape;231;g3b12ca3d802_0_2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12ca3d802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b12ca3d802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0" name="Google Shape;240;g3b12ca3d802_0_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b8d30b041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9b8d30b041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https://playground.tensorflow.org/#activation=tanh&amp;batchSize=10&amp;dataset=circle&amp;regDataset=reg-plane&amp;learningRate=0.03&amp;regularizationRate=0&amp;noise=0&amp;networkShape=4,2&amp;seed=0.55196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</a:t>
            </a:r>
            <a:endParaRPr/>
          </a:p>
        </p:txBody>
      </p:sp>
      <p:sp>
        <p:nvSpPr>
          <p:cNvPr id="249" name="Google Shape;249;g39b8d30b041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d4c5cc13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6d4c5cc13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Expression of the Emotions in Man and Animals: https://en.wikipedia.org/wiki/The_Expression_of_the_Emotions_in_Man_and_Animals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6d4c5cc131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12ca3d802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b12ca3d802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9" name="Google Shape;269;g3b12ca3d802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12ca3d802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b12ca3d802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8" name="Google Shape;278;g3b12ca3d802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12ca3d802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b12ca3d802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7" name="Google Shape;287;g3b12ca3d802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12ca3d802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b12ca3d802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7" name="Google Shape;297;g3b12ca3d802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12ca3d802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b12ca3d802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7" name="Google Shape;307;g3b12ca3d802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12ca3d802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b12ca3d802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7" name="Google Shape;317;g3b12ca3d802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12ca3d802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b12ca3d802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0" name="Google Shape;330;g3b12ca3d802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12ca3d802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b12ca3d802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8" name="Google Shape;338;g3b12ca3d802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12ca3d802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b12ca3d802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6" name="Google Shape;346;g3b12ca3d802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12ca3d802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b12ca3d802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4" name="Google Shape;354;g3b12ca3d802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12ca3d802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b12ca3d802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https://colab.research.google.com/drive/1mcGhSiEXrl_oUuF85GqW1pjmwXVsk08G?usp=sharing</a:t>
            </a:r>
            <a:endParaRPr/>
          </a:p>
        </p:txBody>
      </p:sp>
      <p:sp>
        <p:nvSpPr>
          <p:cNvPr id="362" name="Google Shape;362;g3b12ca3d802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d4ca9d3d1_0_26"/>
          <p:cNvSpPr txBox="1"/>
          <p:nvPr>
            <p:ph type="ctrTitle"/>
          </p:nvPr>
        </p:nvSpPr>
        <p:spPr>
          <a:xfrm>
            <a:off x="-133450" y="341700"/>
            <a:ext cx="98340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On the Origin of Perceptrons</a:t>
            </a:r>
            <a:endParaRPr/>
          </a:p>
        </p:txBody>
      </p:sp>
      <p:sp>
        <p:nvSpPr>
          <p:cNvPr id="90" name="Google Shape;90;g36d4ca9d3d1_0_26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6d4ca9d3d1_0_26"/>
          <p:cNvSpPr txBox="1"/>
          <p:nvPr/>
        </p:nvSpPr>
        <p:spPr>
          <a:xfrm>
            <a:off x="4273825" y="1723375"/>
            <a:ext cx="64986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1" lang="en-US"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 computer can be programmed so that it will learn to play a better game of checkers than can be played by the person who wrote the program … given only … a </a:t>
            </a:r>
            <a:r>
              <a:rPr i="1" lang="en-US"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redundant and incomplete </a:t>
            </a:r>
            <a:r>
              <a:rPr i="1" lang="en-US"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list of parameters … whose correct signs and relative weights are unknown and unspecified.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ARTHUR L. SAMUEL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(195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9</a:t>
            </a: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endParaRPr b="1"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92" name="Google Shape;92;g36d4ca9d3d1_0_26"/>
          <p:cNvSpPr txBox="1"/>
          <p:nvPr/>
        </p:nvSpPr>
        <p:spPr>
          <a:xfrm>
            <a:off x="3425530" y="4102008"/>
            <a:ext cx="6102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This lecture explores the core principles of how machines learn, delving into the mechanics of perceptrons and neural networks, and witnessing their application in recognizing handwritten digits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g36d4ca9d3d1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0750" y="6020300"/>
            <a:ext cx="675450" cy="5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6d4ca9d3d1_0_26"/>
          <p:cNvPicPr preferRelativeResize="0"/>
          <p:nvPr/>
        </p:nvPicPr>
        <p:blipFill rotWithShape="1">
          <a:blip r:embed="rId4">
            <a:alphaModFix/>
          </a:blip>
          <a:srcRect b="0" l="8875" r="0" t="0"/>
          <a:stretch/>
        </p:blipFill>
        <p:spPr>
          <a:xfrm>
            <a:off x="616225" y="3903000"/>
            <a:ext cx="2580600" cy="159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b8d30b041_0_22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</a:t>
            </a:r>
            <a:endParaRPr/>
          </a:p>
        </p:txBody>
      </p:sp>
      <p:sp>
        <p:nvSpPr>
          <p:cNvPr id="101" name="Google Shape;101;g39b8d30b041_0_22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g39b8d30b041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875" y="1655200"/>
            <a:ext cx="8639600" cy="45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12ca3d802_0_123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</a:t>
            </a:r>
            <a:endParaRPr/>
          </a:p>
        </p:txBody>
      </p:sp>
      <p:sp>
        <p:nvSpPr>
          <p:cNvPr id="109" name="Google Shape;109;g3b12ca3d802_0_123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b12ca3d802_0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8863" y="2158500"/>
            <a:ext cx="6573224" cy="34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b8d30b041_0_29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17" name="Google Shape;117;g39b8d30b041_0_29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8" name="Google Shape;118;g39b8d30b041_0_29"/>
          <p:cNvGraphicFramePr/>
          <p:nvPr/>
        </p:nvGraphicFramePr>
        <p:xfrm>
          <a:off x="1361888" y="205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{84D10E6C-81D3-41D5-82F2-AEA2A5149642}</a:tableStyleId>
              </a:tblPr>
              <a:tblGrid>
                <a:gridCol w="3156075"/>
                <a:gridCol w="3156075"/>
                <a:gridCol w="3156075"/>
              </a:tblGrid>
              <a:tr h="136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A is </a:t>
                      </a:r>
                      <a:r>
                        <a:rPr b="1" lang="en-US" sz="2600">
                          <a:solidFill>
                            <a:schemeClr val="accent3"/>
                          </a:solidFill>
                        </a:rPr>
                        <a:t>TRUE</a:t>
                      </a:r>
                      <a:endParaRPr b="1" sz="26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A is </a:t>
                      </a:r>
                      <a:r>
                        <a:rPr b="1" lang="en-US" sz="2600">
                          <a:solidFill>
                            <a:srgbClr val="FF0000"/>
                          </a:solidFill>
                        </a:rPr>
                        <a:t>FALSE</a:t>
                      </a:r>
                      <a:endParaRPr b="1"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36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B is </a:t>
                      </a:r>
                      <a:r>
                        <a:rPr b="1" lang="en-US" sz="2600">
                          <a:solidFill>
                            <a:schemeClr val="accent3"/>
                          </a:solidFill>
                        </a:rPr>
                        <a:t>TRUE</a:t>
                      </a:r>
                      <a:endParaRPr b="1" sz="26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chemeClr val="accent3"/>
                          </a:solidFill>
                        </a:rPr>
                        <a:t>TRUE</a:t>
                      </a:r>
                      <a:endParaRPr sz="26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FALSE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36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B is </a:t>
                      </a:r>
                      <a:r>
                        <a:rPr b="1" lang="en-US" sz="2600">
                          <a:solidFill>
                            <a:srgbClr val="FF0000"/>
                          </a:solidFill>
                        </a:rPr>
                        <a:t>FALSE</a:t>
                      </a:r>
                      <a:endParaRPr b="1"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FALSE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FALSE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12ca3d802_0_132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25" name="Google Shape;125;g3b12ca3d802_0_132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6" name="Google Shape;126;g3b12ca3d802_0_132"/>
          <p:cNvGraphicFramePr/>
          <p:nvPr/>
        </p:nvGraphicFramePr>
        <p:xfrm>
          <a:off x="1361888" y="205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{84D10E6C-81D3-41D5-82F2-AEA2A5149642}</a:tableStyleId>
              </a:tblPr>
              <a:tblGrid>
                <a:gridCol w="3156075"/>
                <a:gridCol w="3156075"/>
                <a:gridCol w="3156075"/>
              </a:tblGrid>
              <a:tr h="136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A is </a:t>
                      </a:r>
                      <a:r>
                        <a:rPr b="1" lang="en-US" sz="2600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6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A is </a:t>
                      </a:r>
                      <a:r>
                        <a:rPr b="1"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b="1"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36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B is </a:t>
                      </a:r>
                      <a:r>
                        <a:rPr b="1" lang="en-US" sz="2600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6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chemeClr val="accent3"/>
                          </a:solidFill>
                        </a:rPr>
                        <a:t>1</a:t>
                      </a:r>
                      <a:endParaRPr sz="26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36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B is </a:t>
                      </a:r>
                      <a:r>
                        <a:rPr b="1"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b="1"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2ca3d802_0_139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33" name="Google Shape;133;g3b12ca3d802_0_139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4" name="Google Shape;134;g3b12ca3d802_0_139"/>
          <p:cNvGraphicFramePr/>
          <p:nvPr/>
        </p:nvGraphicFramePr>
        <p:xfrm>
          <a:off x="2078675" y="165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{84D10E6C-81D3-41D5-82F2-AEA2A5149642}</a:tableStyleId>
              </a:tblPr>
              <a:tblGrid>
                <a:gridCol w="2348400"/>
                <a:gridCol w="2348400"/>
                <a:gridCol w="2348400"/>
              </a:tblGrid>
              <a:tr h="9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/>
                        <a:t>A</a:t>
                      </a:r>
                      <a:endParaRPr b="1" sz="2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/>
                        <a:t>B</a:t>
                      </a:r>
                      <a:endParaRPr b="1" sz="26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/>
                        <a:t>A AND B</a:t>
                      </a:r>
                      <a:endParaRPr b="1"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6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chemeClr val="accent3"/>
                          </a:solidFill>
                        </a:rPr>
                        <a:t>1</a:t>
                      </a:r>
                      <a:endParaRPr sz="26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chemeClr val="accent3"/>
                          </a:solidFill>
                        </a:rPr>
                        <a:t>1</a:t>
                      </a:r>
                      <a:endParaRPr sz="2600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6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12ca3d802_0_160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41" name="Google Shape;141;g3b12ca3d802_0_160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b12ca3d802_0_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988" y="1807600"/>
            <a:ext cx="9676026" cy="43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12ca3d802_0_168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49" name="Google Shape;149;g3b12ca3d802_0_168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3b12ca3d802_0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900" y="1655200"/>
            <a:ext cx="8820775" cy="449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b12ca3d802_0_168"/>
          <p:cNvSpPr/>
          <p:nvPr/>
        </p:nvSpPr>
        <p:spPr>
          <a:xfrm>
            <a:off x="8455550" y="3041325"/>
            <a:ext cx="2055300" cy="2105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b12ca3d802_0_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900" y="1655200"/>
            <a:ext cx="8820775" cy="449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b12ca3d802_0_177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59" name="Google Shape;159;g3b12ca3d802_0_177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b12ca3d802_0_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9900" y="1655203"/>
            <a:ext cx="9135453" cy="449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b12ca3d802_0_177"/>
          <p:cNvSpPr/>
          <p:nvPr/>
        </p:nvSpPr>
        <p:spPr>
          <a:xfrm>
            <a:off x="8689525" y="2941100"/>
            <a:ext cx="2055300" cy="2105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12ca3d802_0_206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68" name="Google Shape;168;g3b12ca3d802_0_206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b12ca3d802_0_2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902" y="1655200"/>
            <a:ext cx="8363046" cy="44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12ca3d802_0_187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76" name="Google Shape;176;g3b12ca3d802_0_187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g3b12ca3d802_0_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902" y="1655200"/>
            <a:ext cx="8363046" cy="44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b12ca3d802_0_1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9902" y="1655202"/>
            <a:ext cx="8363050" cy="477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12ca3d802_0_214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85" name="Google Shape;185;g3b12ca3d802_0_21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b12ca3d802_0_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251" y="1504825"/>
            <a:ext cx="9177524" cy="495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12ca3d802_0_250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93" name="Google Shape;193;g3b12ca3d802_0_250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3b12ca3d802_0_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251" y="1504825"/>
            <a:ext cx="9177524" cy="495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12ca3d802_0_237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Things we choose</a:t>
            </a:r>
            <a:endParaRPr/>
          </a:p>
        </p:txBody>
      </p:sp>
      <p:sp>
        <p:nvSpPr>
          <p:cNvPr id="201" name="Google Shape;201;g3b12ca3d802_0_237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b12ca3d802_0_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300" y="1655200"/>
            <a:ext cx="8639600" cy="45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12ca3d802_0_260"/>
          <p:cNvSpPr txBox="1"/>
          <p:nvPr>
            <p:ph type="title"/>
          </p:nvPr>
        </p:nvSpPr>
        <p:spPr>
          <a:xfrm>
            <a:off x="1197999" y="329500"/>
            <a:ext cx="8978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Activation Function </a:t>
            </a:r>
            <a:endParaRPr/>
          </a:p>
        </p:txBody>
      </p:sp>
      <p:sp>
        <p:nvSpPr>
          <p:cNvPr id="209" name="Google Shape;209;g3b12ca3d802_0_260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g3b12ca3d802_0_2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213" y="1339700"/>
            <a:ext cx="7675568" cy="551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b8d30b041_0_50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Multilayer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Perceptron (MLP)</a:t>
            </a:r>
            <a:endParaRPr/>
          </a:p>
        </p:txBody>
      </p:sp>
      <p:sp>
        <p:nvSpPr>
          <p:cNvPr id="217" name="Google Shape;217;g39b8d30b041_0_50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g39b8d30b041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4100" y="1556950"/>
            <a:ext cx="9372600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b8d30b041_0_57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MLP Example - Feed Forward</a:t>
            </a:r>
            <a:endParaRPr/>
          </a:p>
        </p:txBody>
      </p:sp>
      <p:sp>
        <p:nvSpPr>
          <p:cNvPr id="225" name="Google Shape;225;g39b8d30b041_0_57"/>
          <p:cNvSpPr txBox="1"/>
          <p:nvPr>
            <p:ph idx="1" type="body"/>
          </p:nvPr>
        </p:nvSpPr>
        <p:spPr>
          <a:xfrm>
            <a:off x="837186" y="1916696"/>
            <a:ext cx="7798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6" name="Google Shape;226;g39b8d30b041_0_57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g39b8d30b041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602" y="1415888"/>
            <a:ext cx="7798801" cy="5352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12ca3d802_0_27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MLP Example - Back Propagation</a:t>
            </a:r>
            <a:endParaRPr/>
          </a:p>
        </p:txBody>
      </p:sp>
      <p:sp>
        <p:nvSpPr>
          <p:cNvPr id="234" name="Google Shape;234;g3b12ca3d802_0_274"/>
          <p:cNvSpPr txBox="1"/>
          <p:nvPr>
            <p:ph idx="1" type="body"/>
          </p:nvPr>
        </p:nvSpPr>
        <p:spPr>
          <a:xfrm>
            <a:off x="837186" y="1916696"/>
            <a:ext cx="7798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5" name="Google Shape;235;g3b12ca3d802_0_27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g3b12ca3d802_0_2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4128" y="1399625"/>
            <a:ext cx="5983725" cy="5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12ca3d802_0_28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MLP Example - Back Propagation</a:t>
            </a:r>
            <a:endParaRPr/>
          </a:p>
        </p:txBody>
      </p:sp>
      <p:sp>
        <p:nvSpPr>
          <p:cNvPr id="243" name="Google Shape;243;g3b12ca3d802_0_284"/>
          <p:cNvSpPr txBox="1"/>
          <p:nvPr>
            <p:ph idx="1" type="body"/>
          </p:nvPr>
        </p:nvSpPr>
        <p:spPr>
          <a:xfrm>
            <a:off x="837186" y="1916696"/>
            <a:ext cx="7798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4" name="Google Shape;244;g3b12ca3d802_0_28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g3b12ca3d802_0_2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1034" y="1349863"/>
            <a:ext cx="8189937" cy="54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b8d30b041_0_6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TensorFlow Playground</a:t>
            </a:r>
            <a:endParaRPr/>
          </a:p>
        </p:txBody>
      </p:sp>
      <p:sp>
        <p:nvSpPr>
          <p:cNvPr id="252" name="Google Shape;252;g39b8d30b041_0_64"/>
          <p:cNvSpPr txBox="1"/>
          <p:nvPr>
            <p:ph idx="1" type="body"/>
          </p:nvPr>
        </p:nvSpPr>
        <p:spPr>
          <a:xfrm>
            <a:off x="837186" y="1916696"/>
            <a:ext cx="7798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3" name="Google Shape;253;g39b8d30b041_0_6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9b8d30b041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175" y="1612493"/>
            <a:ext cx="11184800" cy="4959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d4c5cc131_0_7"/>
          <p:cNvSpPr txBox="1"/>
          <p:nvPr>
            <p:ph type="ctrTitle"/>
          </p:nvPr>
        </p:nvSpPr>
        <p:spPr>
          <a:xfrm>
            <a:off x="258175" y="129100"/>
            <a:ext cx="7965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Expression of the Digits in Machines</a:t>
            </a:r>
            <a:endParaRPr/>
          </a:p>
        </p:txBody>
      </p:sp>
      <p:sp>
        <p:nvSpPr>
          <p:cNvPr id="261" name="Google Shape;261;g36d4c5cc131_0_7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6d4c5cc131_0_7"/>
          <p:cNvSpPr txBox="1"/>
          <p:nvPr/>
        </p:nvSpPr>
        <p:spPr>
          <a:xfrm>
            <a:off x="5118650" y="1723375"/>
            <a:ext cx="56538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1" lang="en-US"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problem of recognizing hand-written digits is of enormous practical and </a:t>
            </a:r>
            <a:r>
              <a:rPr i="1" lang="en-US"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theoretical</a:t>
            </a:r>
            <a:r>
              <a:rPr i="1" lang="en-US"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interest … This is a topic where "neural net" techniques are expected to be relevant, since the task requires closely mimicking human performance 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AT&amp;T BELL LABS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(19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88</a:t>
            </a: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endParaRPr b="1"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63" name="Google Shape;263;g36d4c5cc131_0_7"/>
          <p:cNvSpPr txBox="1"/>
          <p:nvPr/>
        </p:nvSpPr>
        <p:spPr>
          <a:xfrm>
            <a:off x="3425530" y="4102008"/>
            <a:ext cx="610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This lecture focuses on practical application, guiding you through the digit recognition code so you can train and test the model with your very own handwriting.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6d4c5cc131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0750" y="6020300"/>
            <a:ext cx="675450" cy="5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6d4c5cc131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449" y="3590209"/>
            <a:ext cx="2088600" cy="2224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12ca3d802_0_6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Problem</a:t>
            </a:r>
            <a:endParaRPr/>
          </a:p>
        </p:txBody>
      </p:sp>
      <p:sp>
        <p:nvSpPr>
          <p:cNvPr id="272" name="Google Shape;272;g3b12ca3d802_0_6"/>
          <p:cNvSpPr txBox="1"/>
          <p:nvPr>
            <p:ph idx="1" type="body"/>
          </p:nvPr>
        </p:nvSpPr>
        <p:spPr>
          <a:xfrm>
            <a:off x="837175" y="1916700"/>
            <a:ext cx="6292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are the US Postal Service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receive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millions of hand addressed 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envelope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each day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have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a human read the address on each letter and send it to the correct place. This is time consuming and expensive.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want to have an automated system that can read the addresses and sort the mail into the correct bin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3" name="Google Shape;273;g3b12ca3d802_0_6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g3b12ca3d802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3425" y="1916700"/>
            <a:ext cx="4613950" cy="317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12ca3d802_0_1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Solution</a:t>
            </a:r>
            <a:endParaRPr/>
          </a:p>
        </p:txBody>
      </p:sp>
      <p:sp>
        <p:nvSpPr>
          <p:cNvPr id="281" name="Google Shape;281;g3b12ca3d802_0_14"/>
          <p:cNvSpPr txBox="1"/>
          <p:nvPr>
            <p:ph idx="1" type="body"/>
          </p:nvPr>
        </p:nvSpPr>
        <p:spPr>
          <a:xfrm>
            <a:off x="837175" y="1916700"/>
            <a:ext cx="10679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collect nearly 10,000 samples of handwritten digits, digitize them, and 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label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them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then train a Convolutional Neural Network to classify handwritten digits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2" name="Google Shape;282;g3b12ca3d802_0_1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g3b12ca3d802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750" y="3661125"/>
            <a:ext cx="5695824" cy="282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12ca3d802_0_2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1: Handwriting to Digital Sample</a:t>
            </a:r>
            <a:endParaRPr/>
          </a:p>
        </p:txBody>
      </p:sp>
      <p:sp>
        <p:nvSpPr>
          <p:cNvPr id="290" name="Google Shape;290;g3b12ca3d802_0_2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g3b12ca3d802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750" y="2168575"/>
            <a:ext cx="3435674" cy="28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b12ca3d802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8050" y="2122301"/>
            <a:ext cx="2921255" cy="2885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g3b12ca3d802_0_24"/>
          <p:cNvCxnSpPr/>
          <p:nvPr/>
        </p:nvCxnSpPr>
        <p:spPr>
          <a:xfrm>
            <a:off x="5375200" y="3484600"/>
            <a:ext cx="13593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12ca3d802_0_3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1: Handwriting to Digital Sample</a:t>
            </a:r>
            <a:endParaRPr/>
          </a:p>
        </p:txBody>
      </p:sp>
      <p:sp>
        <p:nvSpPr>
          <p:cNvPr id="300" name="Google Shape;300;g3b12ca3d802_0_3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g3b12ca3d802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2800" y="2041651"/>
            <a:ext cx="2921255" cy="2885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" name="Google Shape;302;g3b12ca3d802_0_34"/>
          <p:cNvCxnSpPr/>
          <p:nvPr/>
        </p:nvCxnSpPr>
        <p:spPr>
          <a:xfrm>
            <a:off x="5375200" y="3484600"/>
            <a:ext cx="13593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03" name="Google Shape;303;g3b12ca3d802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8775" y="2021905"/>
            <a:ext cx="2921249" cy="2912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12ca3d802_0_45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2: Digital Sample to List of Numbers</a:t>
            </a:r>
            <a:endParaRPr/>
          </a:p>
        </p:txBody>
      </p:sp>
      <p:sp>
        <p:nvSpPr>
          <p:cNvPr id="310" name="Google Shape;310;g3b12ca3d802_0_45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g3b12ca3d802_0_45"/>
          <p:cNvCxnSpPr/>
          <p:nvPr/>
        </p:nvCxnSpPr>
        <p:spPr>
          <a:xfrm>
            <a:off x="5375200" y="3484600"/>
            <a:ext cx="13593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12" name="Google Shape;312;g3b12ca3d802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8475" y="2104005"/>
            <a:ext cx="2921249" cy="291271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b12ca3d802_0_45"/>
          <p:cNvSpPr txBox="1"/>
          <p:nvPr/>
        </p:nvSpPr>
        <p:spPr>
          <a:xfrm>
            <a:off x="6980150" y="2115263"/>
            <a:ext cx="3906600" cy="28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</a:rPr>
              <a:t>0,</a:t>
            </a:r>
            <a:endParaRPr b="1" sz="28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0, 0, 0, … 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….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…255, 255, 255, …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….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0, 0, 0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12ca3d802_0_55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3: Split the X and Y</a:t>
            </a:r>
            <a:endParaRPr/>
          </a:p>
        </p:txBody>
      </p:sp>
      <p:sp>
        <p:nvSpPr>
          <p:cNvPr id="320" name="Google Shape;320;g3b12ca3d802_0_55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b12ca3d802_0_55"/>
          <p:cNvSpPr txBox="1"/>
          <p:nvPr/>
        </p:nvSpPr>
        <p:spPr>
          <a:xfrm>
            <a:off x="1233600" y="2758975"/>
            <a:ext cx="3906600" cy="28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</a:rPr>
              <a:t>0,</a:t>
            </a:r>
            <a:endParaRPr b="1" sz="28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0, 0, 0, … 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….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…255, 255, 255, …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….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0, 0, 0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22" name="Google Shape;322;g3b12ca3d802_0_55"/>
          <p:cNvSpPr txBox="1"/>
          <p:nvPr/>
        </p:nvSpPr>
        <p:spPr>
          <a:xfrm>
            <a:off x="6345550" y="2758975"/>
            <a:ext cx="3540600" cy="28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0, 0, 0, … 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….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…255, 255, 255, …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….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0, 0, 0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23" name="Google Shape;323;g3b12ca3d802_0_55"/>
          <p:cNvSpPr txBox="1"/>
          <p:nvPr/>
        </p:nvSpPr>
        <p:spPr>
          <a:xfrm>
            <a:off x="10012375" y="2758975"/>
            <a:ext cx="6786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</a:rPr>
              <a:t>0</a:t>
            </a:r>
            <a:endParaRPr sz="2800">
              <a:solidFill>
                <a:schemeClr val="dk1"/>
              </a:solidFill>
            </a:endParaRPr>
          </a:p>
        </p:txBody>
      </p:sp>
      <p:cxnSp>
        <p:nvCxnSpPr>
          <p:cNvPr id="324" name="Google Shape;324;g3b12ca3d802_0_55"/>
          <p:cNvCxnSpPr/>
          <p:nvPr/>
        </p:nvCxnSpPr>
        <p:spPr>
          <a:xfrm>
            <a:off x="4603350" y="3681675"/>
            <a:ext cx="13593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g3b12ca3d802_0_55"/>
          <p:cNvSpPr txBox="1"/>
          <p:nvPr/>
        </p:nvSpPr>
        <p:spPr>
          <a:xfrm>
            <a:off x="6411250" y="1899300"/>
            <a:ext cx="199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X (input)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326" name="Google Shape;326;g3b12ca3d802_0_55"/>
          <p:cNvSpPr txBox="1"/>
          <p:nvPr/>
        </p:nvSpPr>
        <p:spPr>
          <a:xfrm>
            <a:off x="9886150" y="1899288"/>
            <a:ext cx="214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Y</a:t>
            </a:r>
            <a:r>
              <a:rPr b="1" lang="en-US" sz="2800">
                <a:solidFill>
                  <a:schemeClr val="dk1"/>
                </a:solidFill>
              </a:rPr>
              <a:t> (output)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12ca3d802_0_70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4: Train the Model - Forward Pass</a:t>
            </a:r>
            <a:endParaRPr/>
          </a:p>
        </p:txBody>
      </p:sp>
      <p:sp>
        <p:nvSpPr>
          <p:cNvPr id="333" name="Google Shape;333;g3b12ca3d802_0_70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g3b12ca3d802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1675" y="1495575"/>
            <a:ext cx="8795143" cy="48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12ca3d802_0_91"/>
          <p:cNvSpPr txBox="1"/>
          <p:nvPr>
            <p:ph type="title"/>
          </p:nvPr>
        </p:nvSpPr>
        <p:spPr>
          <a:xfrm>
            <a:off x="1074050" y="329500"/>
            <a:ext cx="11118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5: Train the Model - Backpropagation</a:t>
            </a:r>
            <a:endParaRPr/>
          </a:p>
        </p:txBody>
      </p:sp>
      <p:sp>
        <p:nvSpPr>
          <p:cNvPr id="341" name="Google Shape;341;g3b12ca3d802_0_91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g3b12ca3d802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425" y="1458150"/>
            <a:ext cx="8842125" cy="513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12ca3d802_0_99"/>
          <p:cNvSpPr txBox="1"/>
          <p:nvPr>
            <p:ph type="title"/>
          </p:nvPr>
        </p:nvSpPr>
        <p:spPr>
          <a:xfrm>
            <a:off x="1074050" y="329500"/>
            <a:ext cx="11118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6: 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Repeat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Steps 4 &amp; 5 for 1000’s of examples</a:t>
            </a:r>
            <a:endParaRPr/>
          </a:p>
        </p:txBody>
      </p:sp>
      <p:sp>
        <p:nvSpPr>
          <p:cNvPr id="349" name="Google Shape;349;g3b12ca3d802_0_99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g3b12ca3d802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7175" y="1841050"/>
            <a:ext cx="8010076" cy="465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12ca3d802_0_106"/>
          <p:cNvSpPr txBox="1"/>
          <p:nvPr>
            <p:ph type="title"/>
          </p:nvPr>
        </p:nvSpPr>
        <p:spPr>
          <a:xfrm>
            <a:off x="1074050" y="329500"/>
            <a:ext cx="11118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7: Test your model</a:t>
            </a:r>
            <a:endParaRPr/>
          </a:p>
        </p:txBody>
      </p:sp>
      <p:sp>
        <p:nvSpPr>
          <p:cNvPr id="357" name="Google Shape;357;g3b12ca3d802_0_106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g3b12ca3d802_0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250" y="1655200"/>
            <a:ext cx="8270252" cy="489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12ca3d802_0_11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Let's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Build our First AI!</a:t>
            </a:r>
            <a:endParaRPr/>
          </a:p>
        </p:txBody>
      </p:sp>
      <p:sp>
        <p:nvSpPr>
          <p:cNvPr id="365" name="Google Shape;365;g3b12ca3d802_0_114"/>
          <p:cNvSpPr txBox="1"/>
          <p:nvPr>
            <p:ph idx="1" type="body"/>
          </p:nvPr>
        </p:nvSpPr>
        <p:spPr>
          <a:xfrm>
            <a:off x="837175" y="1916700"/>
            <a:ext cx="1069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6" name="Google Shape;366;g3b12ca3d802_0_11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2025-07-05T12:48:20Z</dcterms:created>
  <dc:creator>Connors, Collin Dey</dc:creator>
</cp:coreProperties>
</file>