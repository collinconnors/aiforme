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Play"/>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HaQtC3LWPNDflv8YissNIJ+bx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504DF6-56D2-4C18-8B58-111B8525DC42}">
  <a:tblStyle styleId="{17504DF6-56D2-4C18-8B58-111B8525DC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lay-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x1xhlol/system-prompts-and-models-of-ai-tool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 Id="rId3" Type="http://schemas.openxmlformats.org/officeDocument/2006/relationships/hyperlink" Target="https://arxiv.org/pdf/2402.07927" TargetMode="External"/><Relationship Id="rId4" Type="http://schemas.openxmlformats.org/officeDocument/2006/relationships/hyperlink" Target="https://www.ibm.com/think/prompt-engineering" TargetMode="External"/><Relationship Id="rId5" Type="http://schemas.openxmlformats.org/officeDocument/2006/relationships/hyperlink" Target="https://learn.microsoft.com/en-us/azure/ai-foundry/openai/concepts/prompt-engineering?view=foundry-classic" TargetMode="External"/><Relationship Id="rId6" Type="http://schemas.openxmlformats.org/officeDocument/2006/relationships/hyperlink" Target="https://platform.claude.com/docs/en/build-with-claude/prompt-engineering/overview"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 Id="rId3" Type="http://schemas.openxmlformats.org/officeDocument/2006/relationships/hyperlink" Target="https://arxiv.org/pdf/2402.07927"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 Id="rId3" Type="http://schemas.openxmlformats.org/officeDocument/2006/relationships/hyperlink" Target="https://arxiv.org/pdf/2402.07927"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 Id="rId3" Type="http://schemas.openxmlformats.org/officeDocument/2006/relationships/hyperlink" Target="https://arxiv.org/pdf/2402.07927"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kaggle.com/whitepaper-prompt-engineering" TargetMode="External"/><Relationship Id="rId3" Type="http://schemas.openxmlformats.org/officeDocument/2006/relationships/hyperlink" Target="https://arxiv.org/pdf/2402.07927"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pdf/2310.06117"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2aed5767c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c2aed5767c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98" name="Google Shape;98;g3c2aed5767c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2aed5767c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c2aed5767c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106" name="Google Shape;106;g3c2aed5767c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2aed5767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c2aed5767c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114" name="Google Shape;114;g3c2aed5767c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2aed5767c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2aed5767c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122" name="Google Shape;122;g3c2aed5767c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2aed5767c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c2aed5767c_0_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System Prompt Examples: </a:t>
            </a:r>
            <a:r>
              <a:rPr lang="en-US" u="sng">
                <a:solidFill>
                  <a:schemeClr val="hlink"/>
                </a:solidFill>
                <a:hlinkClick r:id="rId2"/>
              </a:rPr>
              <a:t>https://github.com/x1xhlol/system-prompts-and-models-of-ai-tools</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30" name="Google Shape;130;g3c2aed5767c_0_1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2aed5767c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c2aed5767c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lnSpc>
                <a:spcPct val="100000"/>
              </a:lnSpc>
              <a:spcBef>
                <a:spcPts val="1200"/>
              </a:spcBef>
              <a:spcAft>
                <a:spcPts val="0"/>
              </a:spcAft>
              <a:buClr>
                <a:schemeClr val="dk1"/>
              </a:buClr>
              <a:buSzPts val="1200"/>
              <a:buFont typeface="Arial"/>
              <a:buNone/>
            </a:pPr>
            <a:r>
              <a:t/>
            </a:r>
            <a:endParaRPr/>
          </a:p>
        </p:txBody>
      </p:sp>
      <p:sp>
        <p:nvSpPr>
          <p:cNvPr id="139" name="Google Shape;139;g3c2aed5767c_0_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2aed5767c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c2aed5767c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Computational Architectures of Interaction: A Comprehensive Analysis of Prompt Engineering Best Practices for Large Language Models: </a:t>
            </a:r>
            <a:r>
              <a:rPr lang="en-US" u="sng">
                <a:solidFill>
                  <a:schemeClr val="hlink"/>
                </a:solidFill>
                <a:hlinkClick r:id="rId3"/>
              </a:rPr>
              <a:t>https://arxiv.org/pdf/2402.07927</a:t>
            </a:r>
            <a:endParaRPr/>
          </a:p>
          <a:p>
            <a:pPr indent="0" lvl="0" marL="0" rtl="0" algn="l">
              <a:spcBef>
                <a:spcPts val="1200"/>
              </a:spcBef>
              <a:spcAft>
                <a:spcPts val="0"/>
              </a:spcAft>
              <a:buClr>
                <a:schemeClr val="dk1"/>
              </a:buClr>
              <a:buSzPts val="1100"/>
              <a:buFont typeface="Arial"/>
              <a:buNone/>
            </a:pPr>
            <a:r>
              <a:rPr lang="en-US"/>
              <a:t>IBM Prompt Engineering: </a:t>
            </a:r>
            <a:r>
              <a:rPr lang="en-US" u="sng">
                <a:solidFill>
                  <a:schemeClr val="hlink"/>
                </a:solidFill>
                <a:hlinkClick r:id="rId4"/>
              </a:rPr>
              <a:t>https://www.ibm.com/think/prompt-engineering</a:t>
            </a:r>
            <a:endParaRPr/>
          </a:p>
          <a:p>
            <a:pPr indent="0" lvl="0" marL="0" rtl="0" algn="l">
              <a:spcBef>
                <a:spcPts val="1200"/>
              </a:spcBef>
              <a:spcAft>
                <a:spcPts val="0"/>
              </a:spcAft>
              <a:buClr>
                <a:schemeClr val="dk1"/>
              </a:buClr>
              <a:buSzPts val="1100"/>
              <a:buFont typeface="Arial"/>
              <a:buNone/>
            </a:pPr>
            <a:r>
              <a:rPr lang="en-US"/>
              <a:t>Microsoft</a:t>
            </a:r>
            <a:r>
              <a:rPr lang="en-US"/>
              <a:t> Prompt Engineering: </a:t>
            </a:r>
            <a:r>
              <a:rPr lang="en-US" u="sng">
                <a:solidFill>
                  <a:schemeClr val="hlink"/>
                </a:solidFill>
                <a:hlinkClick r:id="rId5"/>
              </a:rPr>
              <a:t>https://learn.microsoft.com/en-us/azure/ai-foundry/openai/concepts/prompt-engineering?view=foundry-classic</a:t>
            </a:r>
            <a:endParaRPr/>
          </a:p>
          <a:p>
            <a:pPr indent="0" lvl="0" marL="0" rtl="0" algn="l">
              <a:spcBef>
                <a:spcPts val="1200"/>
              </a:spcBef>
              <a:spcAft>
                <a:spcPts val="0"/>
              </a:spcAft>
              <a:buClr>
                <a:schemeClr val="dk1"/>
              </a:buClr>
              <a:buSzPts val="1100"/>
              <a:buFont typeface="Arial"/>
              <a:buNone/>
            </a:pPr>
            <a:r>
              <a:rPr lang="en-US"/>
              <a:t>Claude Prompt Engineering: </a:t>
            </a:r>
            <a:r>
              <a:rPr lang="en-US" u="sng">
                <a:solidFill>
                  <a:schemeClr val="hlink"/>
                </a:solidFill>
                <a:hlinkClick r:id="rId6"/>
              </a:rPr>
              <a:t>https://platform.claude.com/docs/en/build-with-claude/prompt-engineering/overview</a:t>
            </a:r>
            <a:endParaRPr/>
          </a:p>
          <a:p>
            <a:pPr indent="0" lvl="0" marL="0" rtl="0" algn="l">
              <a:spcBef>
                <a:spcPts val="1200"/>
              </a:spcBef>
              <a:spcAft>
                <a:spcPts val="0"/>
              </a:spcAft>
              <a:buClr>
                <a:schemeClr val="dk1"/>
              </a:buClr>
              <a:buSzPts val="1100"/>
              <a:buFont typeface="Arial"/>
              <a:buNone/>
            </a:pPr>
            <a:r>
              <a:rPr lang="en-US"/>
              <a:t>LLM Prompt Library: https://github.com/abilzerian/LLM-Prompt-Library</a:t>
            </a:r>
            <a:endParaRPr/>
          </a:p>
          <a:p>
            <a:pPr indent="0" lvl="0" marL="0" rtl="0" algn="l">
              <a:spcBef>
                <a:spcPts val="1200"/>
              </a:spcBef>
              <a:spcAft>
                <a:spcPts val="0"/>
              </a:spcAft>
              <a:buClr>
                <a:schemeClr val="dk1"/>
              </a:buClr>
              <a:buSzPts val="1100"/>
              <a:buFont typeface="Arial"/>
              <a:buNone/>
            </a:pPr>
            <a:r>
              <a:t/>
            </a:r>
            <a:endParaRPr/>
          </a:p>
        </p:txBody>
      </p:sp>
      <p:sp>
        <p:nvSpPr>
          <p:cNvPr id="148" name="Google Shape;148;g3c2aed5767c_0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2aed5767c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c2aed5767c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Computational Architectures of Interaction: A Comprehensive Analysis of Prompt Engineering Best Practices for Large Language Models: https://arxiv.org/pdf/2402.07927</a:t>
            </a:r>
            <a:endParaRPr/>
          </a:p>
        </p:txBody>
      </p:sp>
      <p:sp>
        <p:nvSpPr>
          <p:cNvPr id="156" name="Google Shape;156;g3c2aed5767c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2aed5767c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c2aed5767c_0_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Computational Architectures of Interaction: A Comprehensive Analysis of Prompt Engineering Best Practices for Large Language Models: https://arxiv.org/pdf/2402.07927</a:t>
            </a:r>
            <a:endParaRPr/>
          </a:p>
        </p:txBody>
      </p:sp>
      <p:sp>
        <p:nvSpPr>
          <p:cNvPr id="164" name="Google Shape;164;g3c2aed5767c_0_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2aed5767c_0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c2aed5767c_0_3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Computational Architectures of Interaction: A Comprehensive Analysis of Prompt Engineering Best Practices for Large Language Models: https://arxiv.org/pdf/2402.07927</a:t>
            </a:r>
            <a:endParaRPr/>
          </a:p>
        </p:txBody>
      </p:sp>
      <p:sp>
        <p:nvSpPr>
          <p:cNvPr id="172" name="Google Shape;172;g3c2aed5767c_0_3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2aed5767c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c2aed5767c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A Systematic Survey of Prompt Engineering in Large Language Models:Techniques and Applications: https://arxiv.org/pdf/2402.07927</a:t>
            </a:r>
            <a:endParaRPr/>
          </a:p>
        </p:txBody>
      </p:sp>
      <p:sp>
        <p:nvSpPr>
          <p:cNvPr id="180" name="Google Shape;180;g3c2aed5767c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2aed5767c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c2aed5767c_0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A Systematic Survey of Prompt Engineering in Large Language Models:Techniques and Applications</a:t>
            </a:r>
            <a:r>
              <a:rPr lang="en-US"/>
              <a:t>: </a:t>
            </a:r>
            <a:r>
              <a:rPr lang="en-US" u="sng">
                <a:solidFill>
                  <a:schemeClr val="hlink"/>
                </a:solidFill>
                <a:hlinkClick r:id="rId3"/>
              </a:rPr>
              <a:t>https://arxiv.org/pdf/2402.07927</a:t>
            </a:r>
            <a:endParaRPr/>
          </a:p>
          <a:p>
            <a:pPr indent="0" lvl="0" marL="0" rtl="0" algn="l">
              <a:spcBef>
                <a:spcPts val="1200"/>
              </a:spcBef>
              <a:spcAft>
                <a:spcPts val="0"/>
              </a:spcAft>
              <a:buClr>
                <a:schemeClr val="dk1"/>
              </a:buClr>
              <a:buSzPts val="1100"/>
              <a:buFont typeface="Arial"/>
              <a:buNone/>
            </a:pPr>
            <a:r>
              <a:rPr lang="en-US"/>
              <a:t>ReAct: Synergizing Reasoning and Acting in Language Models: https://arxiv.org/abs/2210.03629</a:t>
            </a:r>
            <a:endParaRPr/>
          </a:p>
        </p:txBody>
      </p:sp>
      <p:sp>
        <p:nvSpPr>
          <p:cNvPr id="189" name="Google Shape;189;g3c2aed5767c_0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2aed5767c_0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c2aed5767c_0_3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A Systematic Survey of Prompt Engineering in Large Language Models:Techniques and Applications: </a:t>
            </a:r>
            <a:r>
              <a:rPr lang="en-US" u="sng">
                <a:solidFill>
                  <a:schemeClr val="hlink"/>
                </a:solidFill>
                <a:hlinkClick r:id="rId3"/>
              </a:rPr>
              <a:t>https://arxiv.org/pdf/2402.07927</a:t>
            </a:r>
            <a:endParaRPr/>
          </a:p>
          <a:p>
            <a:pPr indent="0" lvl="0" marL="0" rtl="0" algn="l">
              <a:spcBef>
                <a:spcPts val="1200"/>
              </a:spcBef>
              <a:spcAft>
                <a:spcPts val="0"/>
              </a:spcAft>
              <a:buClr>
                <a:schemeClr val="dk1"/>
              </a:buClr>
              <a:buSzPts val="1100"/>
              <a:buFont typeface="Arial"/>
              <a:buNone/>
            </a:pPr>
            <a:r>
              <a:rPr lang="en-US"/>
              <a:t>ReAct: Synergizing Reasoning and Acting in Language Models: https://arxiv.org/abs/2210.03629</a:t>
            </a:r>
            <a:endParaRPr/>
          </a:p>
        </p:txBody>
      </p:sp>
      <p:sp>
        <p:nvSpPr>
          <p:cNvPr id="197" name="Google Shape;197;g3c2aed5767c_0_3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2aed5767c_0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c2aed5767c_0_3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A Systematic Survey of Prompt Engineering in Large Language Models:Techniques and Applications: </a:t>
            </a:r>
            <a:r>
              <a:rPr lang="en-US" u="sng">
                <a:solidFill>
                  <a:schemeClr val="hlink"/>
                </a:solidFill>
                <a:hlinkClick r:id="rId3"/>
              </a:rPr>
              <a:t>https://arxiv.org/pdf/2402.07927</a:t>
            </a:r>
            <a:endParaRPr/>
          </a:p>
          <a:p>
            <a:pPr indent="0" lvl="0" marL="0" rtl="0" algn="l">
              <a:spcBef>
                <a:spcPts val="1200"/>
              </a:spcBef>
              <a:spcAft>
                <a:spcPts val="0"/>
              </a:spcAft>
              <a:buClr>
                <a:schemeClr val="dk1"/>
              </a:buClr>
              <a:buSzPts val="1100"/>
              <a:buFont typeface="Arial"/>
              <a:buNone/>
            </a:pPr>
            <a:r>
              <a:rPr lang="en-US"/>
              <a:t>ReAct: Synergizing Reasoning and Acting in Language Models: https://arxiv.org/abs/2210.03629</a:t>
            </a:r>
            <a:endParaRPr/>
          </a:p>
        </p:txBody>
      </p:sp>
      <p:sp>
        <p:nvSpPr>
          <p:cNvPr id="205" name="Google Shape;205;g3c2aed5767c_0_3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2aed5767c_0_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c2aed5767c_0_3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Google Prompt Engineering: </a:t>
            </a:r>
            <a:r>
              <a:rPr lang="en-US" u="sng">
                <a:solidFill>
                  <a:schemeClr val="hlink"/>
                </a:solidFill>
                <a:hlinkClick r:id="rId2"/>
              </a:rPr>
              <a:t>https://www.kaggle.com/whitepaper-prompt-engineering</a:t>
            </a:r>
            <a:endParaRPr/>
          </a:p>
          <a:p>
            <a:pPr indent="0" lvl="0" marL="0" rtl="0" algn="l">
              <a:spcBef>
                <a:spcPts val="1200"/>
              </a:spcBef>
              <a:spcAft>
                <a:spcPts val="0"/>
              </a:spcAft>
              <a:buClr>
                <a:schemeClr val="dk1"/>
              </a:buClr>
              <a:buSzPts val="1100"/>
              <a:buFont typeface="Arial"/>
              <a:buNone/>
            </a:pPr>
            <a:r>
              <a:rPr lang="en-US"/>
              <a:t>A Systematic Survey of Prompt Engineering in Large Language Models:Techniques and Applications: </a:t>
            </a:r>
            <a:r>
              <a:rPr lang="en-US" u="sng">
                <a:solidFill>
                  <a:schemeClr val="hlink"/>
                </a:solidFill>
                <a:hlinkClick r:id="rId3"/>
              </a:rPr>
              <a:t>https://arxiv.org/pdf/2402.07927</a:t>
            </a:r>
            <a:endParaRPr/>
          </a:p>
          <a:p>
            <a:pPr indent="0" lvl="0" marL="0" rtl="0" algn="l">
              <a:spcBef>
                <a:spcPts val="1200"/>
              </a:spcBef>
              <a:spcAft>
                <a:spcPts val="0"/>
              </a:spcAft>
              <a:buClr>
                <a:schemeClr val="dk1"/>
              </a:buClr>
              <a:buSzPts val="1100"/>
              <a:buFont typeface="Arial"/>
              <a:buNone/>
            </a:pPr>
            <a:r>
              <a:rPr lang="en-US"/>
              <a:t>ReAct: Synergizing Reasoning and Acting in Language Models: https://arxiv.org/abs/2210.03629</a:t>
            </a:r>
            <a:endParaRPr/>
          </a:p>
        </p:txBody>
      </p:sp>
      <p:sp>
        <p:nvSpPr>
          <p:cNvPr id="213" name="Google Shape;213;g3c2aed5767c_0_3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2aed5767c_0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c2aed5767c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Active Prompting with Chain-of-Thought for Large Language Models: https://arxiv.org/html/2302.12246v5</a:t>
            </a:r>
            <a:endParaRPr/>
          </a:p>
        </p:txBody>
      </p:sp>
      <p:sp>
        <p:nvSpPr>
          <p:cNvPr id="221" name="Google Shape;221;g3c2aed5767c_0_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2aed5767c_0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c2aed5767c_0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EmotionPrompt: Leveraging Psychology for Large Language Models Enhancement via Emotional Stimulus: https://arxiv.org/pdf/2307.11760v3</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29" name="Google Shape;229;g3c2aed5767c_0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2aed5767c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c2aed5767c_0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38" name="Google Shape;238;g3c2aed5767c_0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2aed5767c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c2aed5767c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Large </a:t>
            </a:r>
            <a:r>
              <a:rPr lang="en-US"/>
              <a:t>Language</a:t>
            </a:r>
            <a:r>
              <a:rPr lang="en-US"/>
              <a:t> Models as Optimizers: https://arxiv.org/pdf/2309.03409</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47" name="Google Shape;247;g3c2aed5767c_0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2aed5767c_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c2aed5767c_0_2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Large Language Models as Optimizers: https://arxiv.org/pdf/2309.03409</a:t>
            </a:r>
            <a:endParaRPr/>
          </a:p>
          <a:p>
            <a:pPr indent="0" lvl="0" marL="0" rtl="0" algn="l">
              <a:spcBef>
                <a:spcPts val="1200"/>
              </a:spcBef>
              <a:spcAft>
                <a:spcPts val="0"/>
              </a:spcAft>
              <a:buClr>
                <a:schemeClr val="dk1"/>
              </a:buClr>
              <a:buSzPts val="1100"/>
              <a:buFont typeface="Arial"/>
              <a:buNone/>
            </a:pPr>
            <a:r>
              <a:t/>
            </a:r>
            <a:endParaRPr/>
          </a:p>
        </p:txBody>
      </p:sp>
      <p:sp>
        <p:nvSpPr>
          <p:cNvPr id="256" name="Google Shape;256;g3c2aed5767c_0_2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2aed5767c_0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c2aed5767c_0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Rephrase and Respond: Let Large Language Models Ask Better Questions for Themselves: https://arxiv.org/pdf/2311.04205</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64" name="Google Shape;264;g3c2aed5767c_0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2aed5767c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c2aed5767c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Rephrase and Respond: Let Large Language Models Ask Better Questions for Themselves: https://arxiv.org/pdf/2311.04205</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73" name="Google Shape;273;g3c2aed5767c_0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2aed5767c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c2aed5767c_0_2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US"/>
              <a:t>Take a Step Back: Evoking Reasoning via </a:t>
            </a:r>
            <a:r>
              <a:rPr lang="en-US"/>
              <a:t>Abstraction</a:t>
            </a:r>
            <a:r>
              <a:rPr lang="en-US"/>
              <a:t> in Large </a:t>
            </a:r>
            <a:r>
              <a:rPr lang="en-US"/>
              <a:t>Language</a:t>
            </a:r>
            <a:r>
              <a:rPr lang="en-US"/>
              <a:t> Models: </a:t>
            </a:r>
            <a:r>
              <a:rPr lang="en-US" u="sng">
                <a:solidFill>
                  <a:schemeClr val="hlink"/>
                </a:solidFill>
                <a:hlinkClick r:id="rId2"/>
              </a:rPr>
              <a:t>https://arxiv.org/pdf/2310.06117</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p:txBody>
      </p:sp>
      <p:sp>
        <p:nvSpPr>
          <p:cNvPr id="283" name="Google Shape;283;g3c2aed5767c_0_2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2aed5767c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c2aed5767c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t/>
            </a:r>
            <a:endParaRPr/>
          </a:p>
        </p:txBody>
      </p:sp>
      <p:sp>
        <p:nvSpPr>
          <p:cNvPr id="292" name="Google Shape;292;g3c2aed5767c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239000" y="258575"/>
            <a:ext cx="9025200" cy="899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Prompt Engineering</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4468100" y="1723375"/>
            <a:ext cx="6304200" cy="12774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i="1" lang="en-US" sz="1500">
                <a:solidFill>
                  <a:schemeClr val="dk1"/>
                </a:solidFill>
                <a:latin typeface="Avenir"/>
                <a:ea typeface="Avenir"/>
                <a:cs typeface="Avenir"/>
                <a:sym typeface="Avenir"/>
              </a:rPr>
              <a:t>Humans program each other by prompt engineering too, so it's interesting to see that form of programming becoming increasingly prevalent with computers. Programming turns into a kind of applied psychology of neural nets, biological or synthetic.</a:t>
            </a:r>
            <a:endParaRPr b="0" i="0" sz="1600" u="none" cap="none" strike="noStrike">
              <a:solidFill>
                <a:schemeClr val="dk1"/>
              </a:solidFill>
              <a:latin typeface="Avenir"/>
              <a:ea typeface="Avenir"/>
              <a:cs typeface="Avenir"/>
              <a:sym typeface="Avenir"/>
            </a:endParaRPr>
          </a:p>
          <a:p>
            <a:pPr indent="0" lvl="0" marL="0" marR="0" rtl="0" algn="r">
              <a:lnSpc>
                <a:spcPct val="115000"/>
              </a:lnSpc>
              <a:spcBef>
                <a:spcPts val="0"/>
              </a:spcBef>
              <a:spcAft>
                <a:spcPts val="0"/>
              </a:spcAft>
              <a:buClr>
                <a:srgbClr val="000000"/>
              </a:buClr>
              <a:buSzPts val="1700"/>
              <a:buFont typeface="Arial"/>
              <a:buNone/>
            </a:pPr>
            <a:r>
              <a:rPr b="1" i="0" lang="en-US" sz="1700" u="none" cap="none" strike="noStrike">
                <a:solidFill>
                  <a:schemeClr val="dk1"/>
                </a:solidFill>
                <a:latin typeface="Avenir"/>
                <a:ea typeface="Avenir"/>
                <a:cs typeface="Avenir"/>
                <a:sym typeface="Avenir"/>
              </a:rPr>
              <a:t>- </a:t>
            </a:r>
            <a:r>
              <a:rPr b="1" lang="en-US" sz="1700">
                <a:solidFill>
                  <a:schemeClr val="dk1"/>
                </a:solidFill>
                <a:latin typeface="Avenir"/>
                <a:ea typeface="Avenir"/>
                <a:cs typeface="Avenir"/>
                <a:sym typeface="Avenir"/>
              </a:rPr>
              <a:t>ANDREJ KARPATHY </a:t>
            </a:r>
            <a:r>
              <a:rPr b="1" i="0" lang="en-US" sz="1700" u="none" cap="none" strike="noStrike">
                <a:solidFill>
                  <a:schemeClr val="dk1"/>
                </a:solidFill>
                <a:latin typeface="Avenir"/>
                <a:ea typeface="Avenir"/>
                <a:cs typeface="Avenir"/>
                <a:sym typeface="Avenir"/>
              </a:rPr>
              <a:t>(</a:t>
            </a:r>
            <a:r>
              <a:rPr b="1" lang="en-US" sz="1700">
                <a:solidFill>
                  <a:schemeClr val="dk1"/>
                </a:solidFill>
                <a:latin typeface="Avenir"/>
                <a:ea typeface="Avenir"/>
                <a:cs typeface="Avenir"/>
                <a:sym typeface="Avenir"/>
              </a:rPr>
              <a:t>2022</a:t>
            </a:r>
            <a:r>
              <a:rPr b="1" i="0" lang="en-US" sz="1700" u="none" cap="none" strike="noStrike">
                <a:solidFill>
                  <a:schemeClr val="dk1"/>
                </a:solidFill>
                <a:latin typeface="Avenir"/>
                <a:ea typeface="Avenir"/>
                <a:cs typeface="Avenir"/>
                <a:sym typeface="Avenir"/>
              </a:rPr>
              <a:t>)</a:t>
            </a:r>
            <a:endParaRPr b="1"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25530" y="4102008"/>
            <a:ext cx="61023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This lecture introduces prompt engineering as a practical “programming” layer for working with large language models. We survey key prompt techniques and develop a repeatable workflow for writing better prompts through context, iteration, and feedback.</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title="Taxonomy of Prompt Engineering.png"/>
          <p:cNvPicPr preferRelativeResize="0"/>
          <p:nvPr/>
        </p:nvPicPr>
        <p:blipFill rotWithShape="1">
          <a:blip r:embed="rId4">
            <a:alphaModFix/>
          </a:blip>
          <a:srcRect b="6147" l="0" r="0" t="22039"/>
          <a:stretch/>
        </p:blipFill>
        <p:spPr>
          <a:xfrm>
            <a:off x="279213" y="4125250"/>
            <a:ext cx="3028500" cy="14310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c2aed5767c_0_3"/>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Fill in the Blank</a:t>
            </a:r>
            <a:endParaRPr/>
          </a:p>
        </p:txBody>
      </p:sp>
      <p:sp>
        <p:nvSpPr>
          <p:cNvPr id="101" name="Google Shape;101;g3c2aed5767c_0_3"/>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SzPts val="2800"/>
              <a:buFont typeface="Avenir"/>
              <a:buChar char="•"/>
            </a:pPr>
            <a:r>
              <a:rPr lang="en-US">
                <a:latin typeface="Avenir"/>
                <a:ea typeface="Avenir"/>
                <a:cs typeface="Avenir"/>
                <a:sym typeface="Avenir"/>
              </a:rPr>
              <a:t>He lives in ________</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p:txBody>
      </p:sp>
      <p:sp>
        <p:nvSpPr>
          <p:cNvPr id="102" name="Google Shape;102;g3c2aed5767c_0_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g3c2aed5767c_0_1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Fill in the Blank</a:t>
            </a:r>
            <a:endParaRPr/>
          </a:p>
        </p:txBody>
      </p:sp>
      <p:sp>
        <p:nvSpPr>
          <p:cNvPr id="109" name="Google Shape;109;g3c2aed5767c_0_10"/>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100000"/>
              </a:lnSpc>
              <a:spcBef>
                <a:spcPts val="0"/>
              </a:spcBef>
              <a:spcAft>
                <a:spcPts val="0"/>
              </a:spcAft>
              <a:buSzPts val="2800"/>
              <a:buFont typeface="Avenir"/>
              <a:buChar char="•"/>
            </a:pPr>
            <a:r>
              <a:rPr lang="en-US">
                <a:latin typeface="Avenir"/>
                <a:ea typeface="Avenir"/>
                <a:cs typeface="Avenir"/>
                <a:sym typeface="Avenir"/>
              </a:rPr>
              <a:t>He lives in ________</a:t>
            </a:r>
            <a:endParaRPr>
              <a:latin typeface="Avenir"/>
              <a:ea typeface="Avenir"/>
              <a:cs typeface="Avenir"/>
              <a:sym typeface="Avenir"/>
            </a:endParaRPr>
          </a:p>
          <a:p>
            <a:pPr indent="-342900" lvl="1" marL="914400" marR="0" rtl="0" algn="l">
              <a:lnSpc>
                <a:spcPct val="100000"/>
              </a:lnSpc>
              <a:spcBef>
                <a:spcPts val="0"/>
              </a:spcBef>
              <a:spcAft>
                <a:spcPts val="0"/>
              </a:spcAft>
              <a:buSzPts val="1800"/>
              <a:buFont typeface="Avenir"/>
              <a:buChar char="•"/>
            </a:pPr>
            <a:r>
              <a:rPr lang="en-US">
                <a:latin typeface="Avenir"/>
                <a:ea typeface="Avenir"/>
                <a:cs typeface="Avenir"/>
                <a:sym typeface="Avenir"/>
              </a:rPr>
              <a:t>ChatGPT: He lives in Miami, Florida</a:t>
            </a:r>
            <a:endParaRPr>
              <a:latin typeface="Avenir"/>
              <a:ea typeface="Avenir"/>
              <a:cs typeface="Avenir"/>
              <a:sym typeface="Avenir"/>
            </a:endParaRPr>
          </a:p>
          <a:p>
            <a:pPr indent="-342900" lvl="1" marL="914400" marR="0" rtl="0" algn="l">
              <a:lnSpc>
                <a:spcPct val="100000"/>
              </a:lnSpc>
              <a:spcBef>
                <a:spcPts val="0"/>
              </a:spcBef>
              <a:spcAft>
                <a:spcPts val="0"/>
              </a:spcAft>
              <a:buSzPts val="1800"/>
              <a:buFont typeface="Avenir"/>
              <a:buChar char="•"/>
            </a:pPr>
            <a:r>
              <a:rPr lang="en-US">
                <a:latin typeface="Avenir"/>
                <a:ea typeface="Avenir"/>
                <a:cs typeface="Avenir"/>
                <a:sym typeface="Avenir"/>
              </a:rPr>
              <a:t>Gemini: He lives in the past.</a:t>
            </a:r>
            <a:endParaRPr>
              <a:latin typeface="Avenir"/>
              <a:ea typeface="Avenir"/>
              <a:cs typeface="Avenir"/>
              <a:sym typeface="Avenir"/>
            </a:endParaRPr>
          </a:p>
          <a:p>
            <a:pPr indent="-342900" lvl="1" marL="914400" marR="0" rtl="0" algn="l">
              <a:lnSpc>
                <a:spcPct val="100000"/>
              </a:lnSpc>
              <a:spcBef>
                <a:spcPts val="0"/>
              </a:spcBef>
              <a:spcAft>
                <a:spcPts val="0"/>
              </a:spcAft>
              <a:buSzPts val="1800"/>
              <a:buFont typeface="Avenir"/>
              <a:buChar char="•"/>
            </a:pPr>
            <a:r>
              <a:rPr lang="en-US">
                <a:latin typeface="Avenir"/>
                <a:ea typeface="Avenir"/>
                <a:cs typeface="Avenir"/>
                <a:sym typeface="Avenir"/>
              </a:rPr>
              <a:t>Claude: He lives in a house</a:t>
            </a:r>
            <a:endParaRPr>
              <a:latin typeface="Avenir"/>
              <a:ea typeface="Avenir"/>
              <a:cs typeface="Avenir"/>
              <a:sym typeface="Avenir"/>
            </a:endParaRPr>
          </a:p>
          <a:p>
            <a:pPr indent="-342900" lvl="1" marL="914400" marR="0" rtl="0" algn="l">
              <a:lnSpc>
                <a:spcPct val="100000"/>
              </a:lnSpc>
              <a:spcBef>
                <a:spcPts val="0"/>
              </a:spcBef>
              <a:spcAft>
                <a:spcPts val="0"/>
              </a:spcAft>
              <a:buSzPts val="1800"/>
              <a:buFont typeface="Avenir"/>
              <a:buChar char="•"/>
            </a:pPr>
            <a:r>
              <a:rPr lang="en-US">
                <a:latin typeface="Avenir"/>
                <a:ea typeface="Avenir"/>
                <a:cs typeface="Avenir"/>
                <a:sym typeface="Avenir"/>
              </a:rPr>
              <a:t>Perplexity: He lives in a village</a:t>
            </a:r>
            <a:endParaRPr>
              <a:latin typeface="Avenir"/>
              <a:ea typeface="Avenir"/>
              <a:cs typeface="Avenir"/>
              <a:sym typeface="Avenir"/>
            </a:endParaRPr>
          </a:p>
          <a:p>
            <a:pPr indent="0" lvl="0" marL="914400" marR="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Despite all of us seeing the same prompt we got many different answers. (</a:t>
            </a:r>
            <a:r>
              <a:rPr b="1" lang="en-US" u="sng">
                <a:latin typeface="Avenir"/>
                <a:ea typeface="Avenir"/>
                <a:cs typeface="Avenir"/>
                <a:sym typeface="Avenir"/>
              </a:rPr>
              <a:t>Nondeterminism</a:t>
            </a:r>
            <a:r>
              <a:rPr lang="en-US">
                <a:latin typeface="Avenir"/>
                <a:ea typeface="Avenir"/>
                <a:cs typeface="Avenir"/>
                <a:sym typeface="Avenir"/>
              </a:rPr>
              <a: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Each of us had our own ideas for how the sentence might finish based on our own experiences. (</a:t>
            </a:r>
            <a:r>
              <a:rPr b="1" lang="en-US" u="sng">
                <a:latin typeface="Avenir"/>
                <a:ea typeface="Avenir"/>
                <a:cs typeface="Avenir"/>
                <a:sym typeface="Avenir"/>
              </a:rPr>
              <a:t>Bias</a:t>
            </a:r>
            <a:r>
              <a:rPr lang="en-US">
                <a:latin typeface="Avenir"/>
                <a:ea typeface="Avenir"/>
                <a:cs typeface="Avenir"/>
                <a:sym typeface="Avenir"/>
              </a:rPr>
              <a: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We don’t know who “he” is so we made something up to complete the sentence. (</a:t>
            </a:r>
            <a:r>
              <a:rPr b="1" lang="en-US" u="sng">
                <a:latin typeface="Avenir"/>
                <a:ea typeface="Avenir"/>
                <a:cs typeface="Avenir"/>
                <a:sym typeface="Avenir"/>
              </a:rPr>
              <a:t>Hallucination</a:t>
            </a:r>
            <a:r>
              <a:rPr lang="en-US">
                <a:latin typeface="Avenir"/>
                <a:ea typeface="Avenir"/>
                <a:cs typeface="Avenir"/>
                <a:sym typeface="Avenir"/>
              </a:rPr>
              <a:t>)</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p:txBody>
      </p:sp>
      <p:sp>
        <p:nvSpPr>
          <p:cNvPr id="110" name="Google Shape;110;g3c2aed5767c_0_1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5" name="Shape 115"/>
        <p:cNvGrpSpPr/>
        <p:nvPr/>
      </p:nvGrpSpPr>
      <p:grpSpPr>
        <a:xfrm>
          <a:off x="0" y="0"/>
          <a:ext cx="0" cy="0"/>
          <a:chOff x="0" y="0"/>
          <a:chExt cx="0" cy="0"/>
        </a:xfrm>
      </p:grpSpPr>
      <p:sp>
        <p:nvSpPr>
          <p:cNvPr id="116" name="Google Shape;116;g3c2aed5767c_0_17"/>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Fill in the Blank</a:t>
            </a:r>
            <a:endParaRPr/>
          </a:p>
        </p:txBody>
      </p:sp>
      <p:sp>
        <p:nvSpPr>
          <p:cNvPr id="117" name="Google Shape;117;g3c2aed5767c_0_17"/>
          <p:cNvSpPr txBox="1"/>
          <p:nvPr>
            <p:ph idx="1" type="body"/>
          </p:nvPr>
        </p:nvSpPr>
        <p:spPr>
          <a:xfrm>
            <a:off x="382250" y="1825625"/>
            <a:ext cx="11546400" cy="48978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2800"/>
              <a:buFont typeface="Avenir"/>
              <a:buChar char="•"/>
            </a:pPr>
            <a:r>
              <a:rPr lang="en-US">
                <a:latin typeface="Avenir"/>
                <a:ea typeface="Avenir"/>
                <a:cs typeface="Avenir"/>
                <a:sym typeface="Avenir"/>
              </a:rPr>
              <a:t>The king lives in ________</a:t>
            </a:r>
            <a:endParaRPr>
              <a:latin typeface="Avenir"/>
              <a:ea typeface="Avenir"/>
              <a:cs typeface="Avenir"/>
              <a:sym typeface="Avenir"/>
            </a:endParaRPr>
          </a:p>
        </p:txBody>
      </p:sp>
      <p:sp>
        <p:nvSpPr>
          <p:cNvPr id="118" name="Google Shape;118;g3c2aed5767c_0_1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3" name="Shape 123"/>
        <p:cNvGrpSpPr/>
        <p:nvPr/>
      </p:nvGrpSpPr>
      <p:grpSpPr>
        <a:xfrm>
          <a:off x="0" y="0"/>
          <a:ext cx="0" cy="0"/>
          <a:chOff x="0" y="0"/>
          <a:chExt cx="0" cy="0"/>
        </a:xfrm>
      </p:grpSpPr>
      <p:sp>
        <p:nvSpPr>
          <p:cNvPr id="124" name="Google Shape;124;g3c2aed5767c_0_133"/>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Fill in the Blank</a:t>
            </a:r>
            <a:endParaRPr/>
          </a:p>
        </p:txBody>
      </p:sp>
      <p:sp>
        <p:nvSpPr>
          <p:cNvPr id="125" name="Google Shape;125;g3c2aed5767c_0_133"/>
          <p:cNvSpPr txBox="1"/>
          <p:nvPr>
            <p:ph idx="1" type="body"/>
          </p:nvPr>
        </p:nvSpPr>
        <p:spPr>
          <a:xfrm>
            <a:off x="413425" y="1815250"/>
            <a:ext cx="11546400" cy="48978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2800"/>
              <a:buFont typeface="Avenir"/>
              <a:buChar char="•"/>
            </a:pPr>
            <a:r>
              <a:rPr lang="en-US">
                <a:latin typeface="Avenir"/>
                <a:ea typeface="Avenir"/>
                <a:cs typeface="Avenir"/>
                <a:sym typeface="Avenir"/>
              </a:rPr>
              <a:t>The king lives in ________</a:t>
            </a:r>
            <a:endParaRPr>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ChatGPT: The king lives in the castle</a:t>
            </a:r>
            <a:endParaRPr>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Gemini: The king lives in a castle</a:t>
            </a:r>
            <a:endParaRPr>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Claude: The king lives in a castle (or a palace)</a:t>
            </a:r>
            <a:endParaRPr>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Perplexity: The king lives in a castle</a:t>
            </a:r>
            <a:endParaRPr>
              <a:latin typeface="Avenir"/>
              <a:ea typeface="Avenir"/>
              <a:cs typeface="Avenir"/>
              <a:sym typeface="Avenir"/>
            </a:endParaRPr>
          </a:p>
          <a:p>
            <a:pPr indent="0" lvl="0" marL="91440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With more context we are better able to fill in the sentence. (</a:t>
            </a:r>
            <a:r>
              <a:rPr b="1" lang="en-US" u="sng">
                <a:latin typeface="Avenir"/>
                <a:ea typeface="Avenir"/>
                <a:cs typeface="Avenir"/>
                <a:sym typeface="Avenir"/>
              </a:rPr>
              <a:t>Context Window</a:t>
            </a:r>
            <a:r>
              <a:rPr lang="en-US">
                <a:latin typeface="Avenir"/>
                <a:ea typeface="Avenir"/>
                <a:cs typeface="Avenir"/>
                <a:sym typeface="Avenir"/>
              </a:rPr>
              <a:t>)</a:t>
            </a:r>
            <a:endParaRPr>
              <a:latin typeface="Avenir"/>
              <a:ea typeface="Avenir"/>
              <a:cs typeface="Avenir"/>
              <a:sym typeface="Avenir"/>
            </a:endParaRPr>
          </a:p>
        </p:txBody>
      </p:sp>
      <p:sp>
        <p:nvSpPr>
          <p:cNvPr id="126" name="Google Shape;126;g3c2aed5767c_0_133"/>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1" name="Shape 131"/>
        <p:cNvGrpSpPr/>
        <p:nvPr/>
      </p:nvGrpSpPr>
      <p:grpSpPr>
        <a:xfrm>
          <a:off x="0" y="0"/>
          <a:ext cx="0" cy="0"/>
          <a:chOff x="0" y="0"/>
          <a:chExt cx="0" cy="0"/>
        </a:xfrm>
      </p:grpSpPr>
      <p:sp>
        <p:nvSpPr>
          <p:cNvPr id="132" name="Google Shape;132;g3c2aed5767c_0_152"/>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Model Level Controls</a:t>
            </a:r>
            <a:endParaRPr/>
          </a:p>
        </p:txBody>
      </p:sp>
      <p:sp>
        <p:nvSpPr>
          <p:cNvPr id="133" name="Google Shape;133;g3c2aed5767c_0_152"/>
          <p:cNvSpPr txBox="1"/>
          <p:nvPr>
            <p:ph idx="1" type="body"/>
          </p:nvPr>
        </p:nvSpPr>
        <p:spPr>
          <a:xfrm>
            <a:off x="291775" y="1795425"/>
            <a:ext cx="114912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The System Prompt - Tope level instructions to the model </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p:txBody>
      </p:sp>
      <p:sp>
        <p:nvSpPr>
          <p:cNvPr id="134" name="Google Shape;134;g3c2aed5767c_0_15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 name="Google Shape;135;g3c2aed5767c_0_152"/>
          <p:cNvSpPr txBox="1"/>
          <p:nvPr/>
        </p:nvSpPr>
        <p:spPr>
          <a:xfrm>
            <a:off x="161400" y="3314375"/>
            <a:ext cx="120306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&lt;goal&gt; You are Perplexity, a helpful search assistant trained by Perplexity AI. Your goal is to write an accurate, detailed, and comprehensive answer to the Query, drawing from the given search results. You will be provided sources from the internet to help you answer the Query. Your answer should be informed by the provided "Search results". Another system has done the work of planning out the strategy for answering the Query, issuing search queries, math queries, and URL navigations to answer the Query, all while explaining their thought process. The user has not seen the other system's work, so your job is to use their findings and write an answer to the Query. Although you may consider the other system's when answering the Query, you answer must be self-contained and respond fully to the Query. Your answer must be correct, high-quality, well-formatted, and written by an expert using an unbiased and journalistic tone. &lt;/goal&gt;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0" name="Shape 140"/>
        <p:cNvGrpSpPr/>
        <p:nvPr/>
      </p:nvGrpSpPr>
      <p:grpSpPr>
        <a:xfrm>
          <a:off x="0" y="0"/>
          <a:ext cx="0" cy="0"/>
          <a:chOff x="0" y="0"/>
          <a:chExt cx="0" cy="0"/>
        </a:xfrm>
      </p:grpSpPr>
      <p:sp>
        <p:nvSpPr>
          <p:cNvPr id="141" name="Google Shape;141;g3c2aed5767c_0_14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Model Level Controls</a:t>
            </a:r>
            <a:endParaRPr/>
          </a:p>
        </p:txBody>
      </p:sp>
      <p:sp>
        <p:nvSpPr>
          <p:cNvPr id="142" name="Google Shape;142;g3c2aed5767c_0_140"/>
          <p:cNvSpPr txBox="1"/>
          <p:nvPr>
            <p:ph idx="1" type="body"/>
          </p:nvPr>
        </p:nvSpPr>
        <p:spPr>
          <a:xfrm>
            <a:off x="334550" y="1810075"/>
            <a:ext cx="80136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Temperature - How random the model can be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Top K Sampling - Select from only the top k most likely words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Top P Sampling - Select from only the most probable words</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The king lives in ________</a:t>
            </a:r>
            <a:endParaRPr>
              <a:latin typeface="Avenir"/>
              <a:ea typeface="Avenir"/>
              <a:cs typeface="Avenir"/>
              <a:sym typeface="Avenir"/>
            </a:endParaRPr>
          </a:p>
        </p:txBody>
      </p:sp>
      <p:sp>
        <p:nvSpPr>
          <p:cNvPr id="143" name="Google Shape;143;g3c2aed5767c_0_14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144" name="Google Shape;144;g3c2aed5767c_0_140"/>
          <p:cNvGraphicFramePr/>
          <p:nvPr/>
        </p:nvGraphicFramePr>
        <p:xfrm>
          <a:off x="8521300" y="1815300"/>
          <a:ext cx="3000000" cy="3000000"/>
        </p:xfrm>
        <a:graphic>
          <a:graphicData uri="http://schemas.openxmlformats.org/drawingml/2006/table">
            <a:tbl>
              <a:tblPr>
                <a:noFill/>
                <a:tableStyleId>{17504DF6-56D2-4C18-8B58-111B8525DC42}</a:tableStyleId>
              </a:tblPr>
              <a:tblGrid>
                <a:gridCol w="1451725"/>
                <a:gridCol w="1986800"/>
              </a:tblGrid>
              <a:tr h="458425">
                <a:tc>
                  <a:txBody>
                    <a:bodyPr/>
                    <a:lstStyle/>
                    <a:p>
                      <a:pPr indent="0" lvl="0" marL="0" rtl="0" algn="l">
                        <a:lnSpc>
                          <a:spcPct val="115000"/>
                        </a:lnSpc>
                        <a:spcBef>
                          <a:spcPts val="0"/>
                        </a:spcBef>
                        <a:spcAft>
                          <a:spcPts val="0"/>
                        </a:spcAft>
                        <a:buNone/>
                      </a:pPr>
                      <a:r>
                        <a:rPr b="1" lang="en-US" sz="1100"/>
                        <a:t>T</a:t>
                      </a:r>
                      <a:r>
                        <a:rPr b="1" lang="en-US" sz="1100"/>
                        <a:t>oken</a:t>
                      </a:r>
                      <a:endParaRPr b="1" sz="1100"/>
                    </a:p>
                  </a:txBody>
                  <a:tcPr marT="91425" marB="91425" marR="91425" marL="91425"/>
                </a:tc>
                <a:tc>
                  <a:txBody>
                    <a:bodyPr/>
                    <a:lstStyle/>
                    <a:p>
                      <a:pPr indent="0" lvl="0" marL="0" rtl="0" algn="l">
                        <a:lnSpc>
                          <a:spcPct val="115000"/>
                        </a:lnSpc>
                        <a:spcBef>
                          <a:spcPts val="0"/>
                        </a:spcBef>
                        <a:spcAft>
                          <a:spcPts val="0"/>
                        </a:spcAft>
                        <a:buNone/>
                      </a:pPr>
                      <a:r>
                        <a:rPr b="1" lang="en-US" sz="1100"/>
                        <a:t>P</a:t>
                      </a:r>
                      <a:r>
                        <a:rPr b="1" lang="en-US" sz="1100"/>
                        <a:t>rob</a:t>
                      </a:r>
                      <a:endParaRPr b="1" sz="1100"/>
                    </a:p>
                  </a:txBody>
                  <a:tcPr marT="91425" marB="91425" marR="91425" marL="91425"/>
                </a:tc>
              </a:tr>
              <a:tr h="528600">
                <a:tc>
                  <a:txBody>
                    <a:bodyPr/>
                    <a:lstStyle/>
                    <a:p>
                      <a:pPr indent="0" lvl="0" marL="0" rtl="0" algn="l">
                        <a:spcBef>
                          <a:spcPts val="0"/>
                        </a:spcBef>
                        <a:spcAft>
                          <a:spcPts val="0"/>
                        </a:spcAft>
                        <a:buNone/>
                      </a:pPr>
                      <a:r>
                        <a:rPr lang="en-US"/>
                        <a:t>“ the”</a:t>
                      </a:r>
                      <a:endParaRPr/>
                    </a:p>
                  </a:txBody>
                  <a:tcPr marT="91425" marB="91425" marR="91425" marL="91425"/>
                </a:tc>
                <a:tc>
                  <a:txBody>
                    <a:bodyPr/>
                    <a:lstStyle/>
                    <a:p>
                      <a:pPr indent="0" lvl="0" marL="0" rtl="0" algn="l">
                        <a:lnSpc>
                          <a:spcPct val="115000"/>
                        </a:lnSpc>
                        <a:spcBef>
                          <a:spcPts val="0"/>
                        </a:spcBef>
                        <a:spcAft>
                          <a:spcPts val="0"/>
                        </a:spcAft>
                        <a:buNone/>
                      </a:pPr>
                      <a:r>
                        <a:rPr lang="en-US"/>
                        <a:t>0.30</a:t>
                      </a:r>
                      <a:endParaRPr/>
                    </a:p>
                  </a:txBody>
                  <a:tcPr marT="91425" marB="91425" marR="91425" marL="91425"/>
                </a:tc>
              </a:tr>
              <a:tr h="528600">
                <a:tc>
                  <a:txBody>
                    <a:bodyPr/>
                    <a:lstStyle/>
                    <a:p>
                      <a:pPr indent="0" lvl="0" marL="0" rtl="0" algn="l">
                        <a:spcBef>
                          <a:spcPts val="0"/>
                        </a:spcBef>
                        <a:spcAft>
                          <a:spcPts val="0"/>
                        </a:spcAft>
                        <a:buNone/>
                      </a:pPr>
                      <a:r>
                        <a:rPr lang="en-US"/>
                        <a:t>“ castle”</a:t>
                      </a:r>
                      <a:endParaRPr/>
                    </a:p>
                  </a:txBody>
                  <a:tcPr marT="91425" marB="91425" marR="91425" marL="91425"/>
                </a:tc>
                <a:tc>
                  <a:txBody>
                    <a:bodyPr/>
                    <a:lstStyle/>
                    <a:p>
                      <a:pPr indent="0" lvl="0" marL="0" rtl="0" algn="l">
                        <a:lnSpc>
                          <a:spcPct val="115000"/>
                        </a:lnSpc>
                        <a:spcBef>
                          <a:spcPts val="0"/>
                        </a:spcBef>
                        <a:spcAft>
                          <a:spcPts val="0"/>
                        </a:spcAft>
                        <a:buNone/>
                      </a:pPr>
                      <a:r>
                        <a:rPr lang="en-US"/>
                        <a:t>0.25</a:t>
                      </a:r>
                      <a:endParaRPr/>
                    </a:p>
                  </a:txBody>
                  <a:tcPr marT="91425" marB="91425" marR="91425" marL="91425"/>
                </a:tc>
              </a:tr>
              <a:tr h="528600">
                <a:tc>
                  <a:txBody>
                    <a:bodyPr/>
                    <a:lstStyle/>
                    <a:p>
                      <a:pPr indent="0" lvl="0" marL="0" rtl="0" algn="l">
                        <a:spcBef>
                          <a:spcPts val="0"/>
                        </a:spcBef>
                        <a:spcAft>
                          <a:spcPts val="0"/>
                        </a:spcAft>
                        <a:buNone/>
                      </a:pPr>
                      <a:r>
                        <a:rPr lang="en-US"/>
                        <a:t>“ a”</a:t>
                      </a:r>
                      <a:endParaRPr/>
                    </a:p>
                  </a:txBody>
                  <a:tcPr marT="91425" marB="91425" marR="91425" marL="91425"/>
                </a:tc>
                <a:tc>
                  <a:txBody>
                    <a:bodyPr/>
                    <a:lstStyle/>
                    <a:p>
                      <a:pPr indent="0" lvl="0" marL="0" rtl="0" algn="l">
                        <a:lnSpc>
                          <a:spcPct val="115000"/>
                        </a:lnSpc>
                        <a:spcBef>
                          <a:spcPts val="0"/>
                        </a:spcBef>
                        <a:spcAft>
                          <a:spcPts val="0"/>
                        </a:spcAft>
                        <a:buNone/>
                      </a:pPr>
                      <a:r>
                        <a:rPr lang="en-US"/>
                        <a:t>0.15</a:t>
                      </a:r>
                      <a:endParaRPr/>
                    </a:p>
                  </a:txBody>
                  <a:tcPr marT="91425" marB="91425" marR="91425" marL="91425"/>
                </a:tc>
              </a:tr>
              <a:tr h="528600">
                <a:tc>
                  <a:txBody>
                    <a:bodyPr/>
                    <a:lstStyle/>
                    <a:p>
                      <a:pPr indent="0" lvl="0" marL="0" rtl="0" algn="l">
                        <a:spcBef>
                          <a:spcPts val="0"/>
                        </a:spcBef>
                        <a:spcAft>
                          <a:spcPts val="0"/>
                        </a:spcAft>
                        <a:buNone/>
                      </a:pPr>
                      <a:r>
                        <a:rPr lang="en-US"/>
                        <a:t>“ his”</a:t>
                      </a:r>
                      <a:endParaRPr/>
                    </a:p>
                  </a:txBody>
                  <a:tcPr marT="91425" marB="91425" marR="91425" marL="91425"/>
                </a:tc>
                <a:tc>
                  <a:txBody>
                    <a:bodyPr/>
                    <a:lstStyle/>
                    <a:p>
                      <a:pPr indent="0" lvl="0" marL="0" rtl="0" algn="l">
                        <a:lnSpc>
                          <a:spcPct val="115000"/>
                        </a:lnSpc>
                        <a:spcBef>
                          <a:spcPts val="0"/>
                        </a:spcBef>
                        <a:spcAft>
                          <a:spcPts val="0"/>
                        </a:spcAft>
                        <a:buNone/>
                      </a:pPr>
                      <a:r>
                        <a:rPr lang="en-US"/>
                        <a:t>0.12</a:t>
                      </a:r>
                      <a:endParaRPr/>
                    </a:p>
                  </a:txBody>
                  <a:tcPr marT="91425" marB="91425" marR="91425" marL="91425"/>
                </a:tc>
              </a:tr>
              <a:tr h="528600">
                <a:tc>
                  <a:txBody>
                    <a:bodyPr/>
                    <a:lstStyle/>
                    <a:p>
                      <a:pPr indent="0" lvl="0" marL="0" rtl="0" algn="l">
                        <a:spcBef>
                          <a:spcPts val="0"/>
                        </a:spcBef>
                        <a:spcAft>
                          <a:spcPts val="0"/>
                        </a:spcAft>
                        <a:buNone/>
                      </a:pPr>
                      <a:r>
                        <a:rPr lang="en-US"/>
                        <a:t>“ London”</a:t>
                      </a:r>
                      <a:endParaRPr/>
                    </a:p>
                  </a:txBody>
                  <a:tcPr marT="91425" marB="91425" marR="91425" marL="91425"/>
                </a:tc>
                <a:tc>
                  <a:txBody>
                    <a:bodyPr/>
                    <a:lstStyle/>
                    <a:p>
                      <a:pPr indent="0" lvl="0" marL="0" rtl="0" algn="l">
                        <a:lnSpc>
                          <a:spcPct val="115000"/>
                        </a:lnSpc>
                        <a:spcBef>
                          <a:spcPts val="0"/>
                        </a:spcBef>
                        <a:spcAft>
                          <a:spcPts val="0"/>
                        </a:spcAft>
                        <a:buNone/>
                      </a:pPr>
                      <a:r>
                        <a:rPr lang="en-US"/>
                        <a:t>0.09</a:t>
                      </a:r>
                      <a:endParaRPr/>
                    </a:p>
                  </a:txBody>
                  <a:tcPr marT="91425" marB="91425" marR="91425" marL="91425"/>
                </a:tc>
              </a:tr>
              <a:tr h="528600">
                <a:tc>
                  <a:txBody>
                    <a:bodyPr/>
                    <a:lstStyle/>
                    <a:p>
                      <a:pPr indent="0" lvl="0" marL="0" rtl="0" algn="l">
                        <a:spcBef>
                          <a:spcPts val="0"/>
                        </a:spcBef>
                        <a:spcAft>
                          <a:spcPts val="0"/>
                        </a:spcAft>
                        <a:buNone/>
                      </a:pPr>
                      <a:r>
                        <a:rPr lang="en-US"/>
                        <a:t>“ France”</a:t>
                      </a:r>
                      <a:endParaRPr/>
                    </a:p>
                  </a:txBody>
                  <a:tcPr marT="91425" marB="91425" marR="91425" marL="91425"/>
                </a:tc>
                <a:tc>
                  <a:txBody>
                    <a:bodyPr/>
                    <a:lstStyle/>
                    <a:p>
                      <a:pPr indent="0" lvl="0" marL="0" rtl="0" algn="l">
                        <a:lnSpc>
                          <a:spcPct val="115000"/>
                        </a:lnSpc>
                        <a:spcBef>
                          <a:spcPts val="0"/>
                        </a:spcBef>
                        <a:spcAft>
                          <a:spcPts val="0"/>
                        </a:spcAft>
                        <a:buNone/>
                      </a:pPr>
                      <a:r>
                        <a:rPr lang="en-US"/>
                        <a:t>0.03</a:t>
                      </a:r>
                      <a:endParaRPr/>
                    </a:p>
                  </a:txBody>
                  <a:tcPr marT="91425" marB="91425" marR="91425" marL="91425"/>
                </a:tc>
              </a:tr>
              <a:tr h="518200">
                <a:tc>
                  <a:txBody>
                    <a:bodyPr/>
                    <a:lstStyle/>
                    <a:p>
                      <a:pPr indent="0" lvl="0" marL="0" rtl="0" algn="l">
                        <a:spcBef>
                          <a:spcPts val="0"/>
                        </a:spcBef>
                        <a:spcAft>
                          <a:spcPts val="0"/>
                        </a:spcAft>
                        <a:buNone/>
                      </a:pPr>
                      <a:r>
                        <a:rPr lang="en-US"/>
                        <a:t>“ exile”</a:t>
                      </a:r>
                      <a:endParaRPr/>
                    </a:p>
                  </a:txBody>
                  <a:tcPr marT="91425" marB="91425" marR="91425" marL="91425"/>
                </a:tc>
                <a:tc>
                  <a:txBody>
                    <a:bodyPr/>
                    <a:lstStyle/>
                    <a:p>
                      <a:pPr indent="0" lvl="0" marL="0" rtl="0" algn="l">
                        <a:lnSpc>
                          <a:spcPct val="115000"/>
                        </a:lnSpc>
                        <a:spcBef>
                          <a:spcPts val="0"/>
                        </a:spcBef>
                        <a:spcAft>
                          <a:spcPts val="0"/>
                        </a:spcAft>
                        <a:buNone/>
                      </a:pPr>
                      <a:r>
                        <a:rPr lang="en-US"/>
                        <a:t>0.03</a:t>
                      </a:r>
                      <a:endParaRPr/>
                    </a:p>
                  </a:txBody>
                  <a:tcPr marT="91425" marB="91425" marR="91425" marL="91425"/>
                </a:tc>
              </a:tr>
              <a:tr h="739125">
                <a:tc>
                  <a:txBody>
                    <a:bodyPr/>
                    <a:lstStyle/>
                    <a:p>
                      <a:pPr indent="0" lvl="0" marL="0" rtl="0" algn="l">
                        <a:spcBef>
                          <a:spcPts val="0"/>
                        </a:spcBef>
                        <a:spcAft>
                          <a:spcPts val="0"/>
                        </a:spcAft>
                        <a:buNone/>
                      </a:pPr>
                      <a:r>
                        <a:rPr lang="en-US"/>
                        <a:t>(everything else)</a:t>
                      </a:r>
                      <a:endParaRPr/>
                    </a:p>
                  </a:txBody>
                  <a:tcPr marT="91425" marB="91425" marR="91425" marL="91425"/>
                </a:tc>
                <a:tc>
                  <a:txBody>
                    <a:bodyPr/>
                    <a:lstStyle/>
                    <a:p>
                      <a:pPr indent="0" lvl="0" marL="0" rtl="0" algn="l">
                        <a:lnSpc>
                          <a:spcPct val="115000"/>
                        </a:lnSpc>
                        <a:spcBef>
                          <a:spcPts val="0"/>
                        </a:spcBef>
                        <a:spcAft>
                          <a:spcPts val="0"/>
                        </a:spcAft>
                        <a:buNone/>
                      </a:pPr>
                      <a:r>
                        <a:rPr lang="en-US"/>
                        <a:t>0.03</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9" name="Shape 149"/>
        <p:cNvGrpSpPr/>
        <p:nvPr/>
      </p:nvGrpSpPr>
      <p:grpSpPr>
        <a:xfrm>
          <a:off x="0" y="0"/>
          <a:ext cx="0" cy="0"/>
          <a:chOff x="0" y="0"/>
          <a:chExt cx="0" cy="0"/>
        </a:xfrm>
      </p:grpSpPr>
      <p:sp>
        <p:nvSpPr>
          <p:cNvPr id="150" name="Google Shape;150;g3c2aed5767c_0_196"/>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Taxonomy of Prompt Engineering</a:t>
            </a:r>
            <a:endParaRPr/>
          </a:p>
        </p:txBody>
      </p:sp>
      <p:sp>
        <p:nvSpPr>
          <p:cNvPr id="151" name="Google Shape;151;g3c2aed5767c_0_196"/>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New Tasks without Extensive Training</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Reasoning</a:t>
            </a:r>
            <a:r>
              <a:rPr lang="en-US">
                <a:latin typeface="Avenir"/>
                <a:ea typeface="Avenir"/>
                <a:cs typeface="Avenir"/>
                <a:sym typeface="Avenir"/>
              </a:rPr>
              <a:t> and Logic</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Reduce Hallucination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User </a:t>
            </a:r>
            <a:r>
              <a:rPr lang="en-US">
                <a:latin typeface="Avenir"/>
                <a:ea typeface="Avenir"/>
                <a:cs typeface="Avenir"/>
                <a:sym typeface="Avenir"/>
              </a:rPr>
              <a:t>Interaction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Fine </a:t>
            </a:r>
            <a:r>
              <a:rPr lang="en-US">
                <a:latin typeface="Avenir"/>
                <a:ea typeface="Avenir"/>
                <a:cs typeface="Avenir"/>
                <a:sym typeface="Avenir"/>
              </a:rPr>
              <a:t>Tuning</a:t>
            </a:r>
            <a:r>
              <a:rPr lang="en-US">
                <a:latin typeface="Avenir"/>
                <a:ea typeface="Avenir"/>
                <a:cs typeface="Avenir"/>
                <a:sym typeface="Avenir"/>
              </a:rPr>
              <a:t> and Optimization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Knowledge Based Reason and Generation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Improving Constancy and Coherence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Managing</a:t>
            </a:r>
            <a:r>
              <a:rPr lang="en-US">
                <a:latin typeface="Avenir"/>
                <a:ea typeface="Avenir"/>
                <a:cs typeface="Avenir"/>
                <a:sym typeface="Avenir"/>
              </a:rPr>
              <a:t> Emotions and </a:t>
            </a:r>
            <a:r>
              <a:rPr lang="en-US">
                <a:latin typeface="Avenir"/>
                <a:ea typeface="Avenir"/>
                <a:cs typeface="Avenir"/>
                <a:sym typeface="Avenir"/>
              </a:rPr>
              <a:t>Tone</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Code </a:t>
            </a:r>
            <a:r>
              <a:rPr lang="en-US">
                <a:latin typeface="Avenir"/>
                <a:ea typeface="Avenir"/>
                <a:cs typeface="Avenir"/>
                <a:sym typeface="Avenir"/>
              </a:rPr>
              <a:t>Generation</a:t>
            </a:r>
            <a:r>
              <a:rPr lang="en-US">
                <a:latin typeface="Avenir"/>
                <a:ea typeface="Avenir"/>
                <a:cs typeface="Avenir"/>
                <a:sym typeface="Avenir"/>
              </a:rPr>
              <a:t> and Execution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Optimization and </a:t>
            </a:r>
            <a:r>
              <a:rPr lang="en-US">
                <a:latin typeface="Avenir"/>
                <a:ea typeface="Avenir"/>
                <a:cs typeface="Avenir"/>
                <a:sym typeface="Avenir"/>
              </a:rPr>
              <a:t>Efficiency</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Understanding User Intent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Metacognition and Self-Reflection</a:t>
            </a:r>
            <a:endParaRPr>
              <a:latin typeface="Avenir"/>
              <a:ea typeface="Avenir"/>
              <a:cs typeface="Avenir"/>
              <a:sym typeface="Avenir"/>
            </a:endParaRPr>
          </a:p>
        </p:txBody>
      </p:sp>
      <p:sp>
        <p:nvSpPr>
          <p:cNvPr id="152" name="Google Shape;152;g3c2aed5767c_0_19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7" name="Shape 157"/>
        <p:cNvGrpSpPr/>
        <p:nvPr/>
      </p:nvGrpSpPr>
      <p:grpSpPr>
        <a:xfrm>
          <a:off x="0" y="0"/>
          <a:ext cx="0" cy="0"/>
          <a:chOff x="0" y="0"/>
          <a:chExt cx="0" cy="0"/>
        </a:xfrm>
      </p:grpSpPr>
      <p:sp>
        <p:nvSpPr>
          <p:cNvPr id="158" name="Google Shape;158;g3c2aed5767c_0_165"/>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New Tasks without Training</a:t>
            </a:r>
            <a:endParaRPr/>
          </a:p>
        </p:txBody>
      </p:sp>
      <p:sp>
        <p:nvSpPr>
          <p:cNvPr id="159" name="Google Shape;159;g3c2aed5767c_0_165"/>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Zero Shot Prompting - Providing the model with a task but no examples of the output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“Classify the movie reviews as POSITIVE, NEUTRAL, or NEGATIVE. Review: ‘Her’ is a disturbing study revealing the </a:t>
            </a:r>
            <a:r>
              <a:rPr lang="en-US">
                <a:latin typeface="Avenir"/>
                <a:ea typeface="Avenir"/>
                <a:cs typeface="Avenir"/>
                <a:sym typeface="Avenir"/>
              </a:rPr>
              <a:t>direction</a:t>
            </a:r>
            <a:r>
              <a:rPr lang="en-US">
                <a:latin typeface="Avenir"/>
                <a:ea typeface="Avenir"/>
                <a:cs typeface="Avenir"/>
                <a:sym typeface="Avenir"/>
              </a:rPr>
              <a:t> humanity is headed if AI is allowed to keep </a:t>
            </a:r>
            <a:r>
              <a:rPr lang="en-US">
                <a:latin typeface="Avenir"/>
                <a:ea typeface="Avenir"/>
                <a:cs typeface="Avenir"/>
                <a:sym typeface="Avenir"/>
              </a:rPr>
              <a:t>evolving</a:t>
            </a:r>
            <a:r>
              <a:rPr lang="en-US">
                <a:latin typeface="Avenir"/>
                <a:ea typeface="Avenir"/>
                <a:cs typeface="Avenir"/>
                <a:sym typeface="Avenir"/>
              </a:rPr>
              <a:t>, unchecked. I wish there were more movies like this masterpiece.”</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 </a:t>
            </a:r>
            <a:endParaRPr>
              <a:latin typeface="Avenir"/>
              <a:ea typeface="Avenir"/>
              <a:cs typeface="Avenir"/>
              <a:sym typeface="Avenir"/>
            </a:endParaRPr>
          </a:p>
        </p:txBody>
      </p:sp>
      <p:sp>
        <p:nvSpPr>
          <p:cNvPr id="160" name="Google Shape;160;g3c2aed5767c_0_16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5" name="Shape 165"/>
        <p:cNvGrpSpPr/>
        <p:nvPr/>
      </p:nvGrpSpPr>
      <p:grpSpPr>
        <a:xfrm>
          <a:off x="0" y="0"/>
          <a:ext cx="0" cy="0"/>
          <a:chOff x="0" y="0"/>
          <a:chExt cx="0" cy="0"/>
        </a:xfrm>
      </p:grpSpPr>
      <p:sp>
        <p:nvSpPr>
          <p:cNvPr id="166" name="Google Shape;166;g3c2aed5767c_0_187"/>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New Tasks without Training</a:t>
            </a:r>
            <a:endParaRPr/>
          </a:p>
        </p:txBody>
      </p:sp>
      <p:sp>
        <p:nvSpPr>
          <p:cNvPr id="167" name="Google Shape;167;g3c2aed5767c_0_187"/>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Few</a:t>
            </a:r>
            <a:r>
              <a:rPr lang="en-US">
                <a:latin typeface="Avenir"/>
                <a:ea typeface="Avenir"/>
                <a:cs typeface="Avenir"/>
                <a:sym typeface="Avenir"/>
              </a:rPr>
              <a:t> Shot Prompting - Providing the model with a task and a few examples of the output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“Classify the movie reviews as POSITIVE, NEUTRAL, or NEGATIVE.</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Example:</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Review: </a:t>
            </a:r>
            <a:r>
              <a:rPr lang="en-US">
                <a:latin typeface="Avenir"/>
                <a:ea typeface="Avenir"/>
                <a:cs typeface="Avenir"/>
                <a:sym typeface="Avenir"/>
              </a:rPr>
              <a:t>One of the great movie series of all time. An epic film adaptation of a one of the great stories of our age.</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Your </a:t>
            </a:r>
            <a:r>
              <a:rPr lang="en-US">
                <a:latin typeface="Avenir"/>
                <a:ea typeface="Avenir"/>
                <a:cs typeface="Avenir"/>
                <a:sym typeface="Avenir"/>
              </a:rPr>
              <a:t>Response</a:t>
            </a:r>
            <a:r>
              <a:rPr lang="en-US">
                <a:latin typeface="Avenir"/>
                <a:ea typeface="Avenir"/>
                <a:cs typeface="Avenir"/>
                <a:sym typeface="Avenir"/>
              </a:rPr>
              <a:t>: POSITIVE</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Review: Best movie trilogy/franchise ever made. No one will reach the same level ever again, which is bittersweet. Needs nothing else to be said</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Your </a:t>
            </a:r>
            <a:r>
              <a:rPr lang="en-US">
                <a:latin typeface="Avenir"/>
                <a:ea typeface="Avenir"/>
                <a:cs typeface="Avenir"/>
                <a:sym typeface="Avenir"/>
              </a:rPr>
              <a:t>Response</a:t>
            </a:r>
            <a:r>
              <a:rPr lang="en-US">
                <a:latin typeface="Avenir"/>
                <a:ea typeface="Avenir"/>
                <a:cs typeface="Avenir"/>
                <a:sym typeface="Avenir"/>
              </a:rPr>
              <a:t>: </a:t>
            </a:r>
            <a:r>
              <a:rPr lang="en-US">
                <a:latin typeface="Avenir"/>
                <a:ea typeface="Avenir"/>
                <a:cs typeface="Avenir"/>
                <a:sym typeface="Avenir"/>
              </a:rPr>
              <a:t>POSITIVE</a:t>
            </a:r>
            <a:r>
              <a:rPr lang="en-US">
                <a:latin typeface="Avenir"/>
                <a:ea typeface="Avenir"/>
                <a:cs typeface="Avenir"/>
                <a:sym typeface="Avenir"/>
              </a:rPr>
              <a:t>”</a:t>
            </a:r>
            <a:endParaRPr>
              <a:latin typeface="Avenir"/>
              <a:ea typeface="Avenir"/>
              <a:cs typeface="Avenir"/>
              <a:sym typeface="Avenir"/>
            </a:endParaRPr>
          </a:p>
          <a:p>
            <a:pPr indent="0" lvl="0" marL="457200" rtl="0" algn="l">
              <a:lnSpc>
                <a:spcPct val="100000"/>
              </a:lnSpc>
              <a:spcBef>
                <a:spcPts val="0"/>
              </a:spcBef>
              <a:spcAft>
                <a:spcPts val="0"/>
              </a:spcAft>
              <a:buNone/>
            </a:pPr>
            <a:r>
              <a:rPr lang="en-US">
                <a:latin typeface="Avenir"/>
                <a:ea typeface="Avenir"/>
                <a:cs typeface="Avenir"/>
                <a:sym typeface="Avenir"/>
              </a:rPr>
              <a:t> </a:t>
            </a:r>
            <a:endParaRPr>
              <a:latin typeface="Avenir"/>
              <a:ea typeface="Avenir"/>
              <a:cs typeface="Avenir"/>
              <a:sym typeface="Avenir"/>
            </a:endParaRPr>
          </a:p>
        </p:txBody>
      </p:sp>
      <p:sp>
        <p:nvSpPr>
          <p:cNvPr id="168" name="Google Shape;168;g3c2aed5767c_0_18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3" name="Shape 173"/>
        <p:cNvGrpSpPr/>
        <p:nvPr/>
      </p:nvGrpSpPr>
      <p:grpSpPr>
        <a:xfrm>
          <a:off x="0" y="0"/>
          <a:ext cx="0" cy="0"/>
          <a:chOff x="0" y="0"/>
          <a:chExt cx="0" cy="0"/>
        </a:xfrm>
      </p:grpSpPr>
      <p:sp>
        <p:nvSpPr>
          <p:cNvPr id="174" name="Google Shape;174;g3c2aed5767c_0_374"/>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New Tasks without Training</a:t>
            </a:r>
            <a:endParaRPr/>
          </a:p>
        </p:txBody>
      </p:sp>
      <p:sp>
        <p:nvSpPr>
          <p:cNvPr id="175" name="Google Shape;175;g3c2aed5767c_0_374"/>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Role Based Prompting - Tell the model who it to enrich its context</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0" lvl="0" marL="0" rtl="0" algn="l">
              <a:lnSpc>
                <a:spcPct val="100000"/>
              </a:lnSpc>
              <a:spcBef>
                <a:spcPts val="0"/>
              </a:spcBef>
              <a:spcAft>
                <a:spcPts val="0"/>
              </a:spcAft>
              <a:buNone/>
            </a:pPr>
            <a:r>
              <a:rPr lang="en-US">
                <a:latin typeface="Avenir"/>
                <a:ea typeface="Avenir"/>
                <a:cs typeface="Avenir"/>
                <a:sym typeface="Avenir"/>
              </a:rPr>
              <a:t>“You are a tutor for a college Computer Science class explain Role Based Prompting”</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a:p>
            <a:pPr indent="0" lvl="0" marL="0" rtl="0" algn="l">
              <a:lnSpc>
                <a:spcPct val="100000"/>
              </a:lnSpc>
              <a:spcBef>
                <a:spcPts val="0"/>
              </a:spcBef>
              <a:spcAft>
                <a:spcPts val="0"/>
              </a:spcAft>
              <a:buNone/>
            </a:pPr>
            <a:r>
              <a:rPr lang="en-US">
                <a:latin typeface="Avenir"/>
                <a:ea typeface="Avenir"/>
                <a:cs typeface="Avenir"/>
                <a:sym typeface="Avenir"/>
              </a:rPr>
              <a:t>“You are a college writing coach and composition tutor who helps undergraduates produce clear, well-argued academic writing. You specialize in thesis development, paragraph cohesion, transitions, and integrating sources responsibly. You ask 2–4 targeted questions when needed, then provide actionable revisions with examples.”</a:t>
            </a:r>
            <a:endParaRPr>
              <a:latin typeface="Avenir"/>
              <a:ea typeface="Avenir"/>
              <a:cs typeface="Avenir"/>
              <a:sym typeface="Avenir"/>
            </a:endParaRPr>
          </a:p>
        </p:txBody>
      </p:sp>
      <p:sp>
        <p:nvSpPr>
          <p:cNvPr id="176" name="Google Shape;176;g3c2aed5767c_0_374"/>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1" name="Shape 181"/>
        <p:cNvGrpSpPr/>
        <p:nvPr/>
      </p:nvGrpSpPr>
      <p:grpSpPr>
        <a:xfrm>
          <a:off x="0" y="0"/>
          <a:ext cx="0" cy="0"/>
          <a:chOff x="0" y="0"/>
          <a:chExt cx="0" cy="0"/>
        </a:xfrm>
      </p:grpSpPr>
      <p:sp>
        <p:nvSpPr>
          <p:cNvPr id="182" name="Google Shape;182;g3c2aed5767c_0_211"/>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Reasoning and Logic</a:t>
            </a:r>
            <a:endParaRPr/>
          </a:p>
        </p:txBody>
      </p:sp>
      <p:sp>
        <p:nvSpPr>
          <p:cNvPr id="183" name="Google Shape;183;g3c2aed5767c_0_211"/>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Chain of </a:t>
            </a:r>
            <a:r>
              <a:rPr lang="en-US">
                <a:latin typeface="Avenir"/>
                <a:ea typeface="Avenir"/>
                <a:cs typeface="Avenir"/>
                <a:sym typeface="Avenir"/>
              </a:rPr>
              <a:t>Thought (CoT) </a:t>
            </a:r>
            <a:r>
              <a:rPr lang="en-US">
                <a:latin typeface="Avenir"/>
                <a:ea typeface="Avenir"/>
                <a:cs typeface="Avenir"/>
                <a:sym typeface="Avenir"/>
              </a:rPr>
              <a:t>Prompting - The model explains its reasoning as it answers the question</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a:t>
            </a:r>
            <a:r>
              <a:rPr lang="en-US">
                <a:latin typeface="Avenir"/>
                <a:ea typeface="Avenir"/>
                <a:cs typeface="Avenir"/>
                <a:sym typeface="Avenir"/>
              </a:rPr>
              <a:t>Let's</a:t>
            </a:r>
            <a:r>
              <a:rPr lang="en-US">
                <a:latin typeface="Avenir"/>
                <a:ea typeface="Avenir"/>
                <a:cs typeface="Avenir"/>
                <a:sym typeface="Avenir"/>
              </a:rPr>
              <a:t> think step by step”</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p:txBody>
      </p:sp>
      <p:sp>
        <p:nvSpPr>
          <p:cNvPr id="184" name="Google Shape;184;g3c2aed5767c_0_21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85" name="Google Shape;185;g3c2aed5767c_0_211"/>
          <p:cNvPicPr preferRelativeResize="0"/>
          <p:nvPr/>
        </p:nvPicPr>
        <p:blipFill>
          <a:blip r:embed="rId3">
            <a:alphaModFix/>
          </a:blip>
          <a:stretch>
            <a:fillRect/>
          </a:stretch>
        </p:blipFill>
        <p:spPr>
          <a:xfrm>
            <a:off x="5353270" y="2844045"/>
            <a:ext cx="6086825" cy="3863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0" name="Shape 190"/>
        <p:cNvGrpSpPr/>
        <p:nvPr/>
      </p:nvGrpSpPr>
      <p:grpSpPr>
        <a:xfrm>
          <a:off x="0" y="0"/>
          <a:ext cx="0" cy="0"/>
          <a:chOff x="0" y="0"/>
          <a:chExt cx="0" cy="0"/>
        </a:xfrm>
      </p:grpSpPr>
      <p:sp>
        <p:nvSpPr>
          <p:cNvPr id="191" name="Google Shape;191;g3c2aed5767c_0_221"/>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Reduce Hallucination</a:t>
            </a:r>
            <a:endParaRPr/>
          </a:p>
        </p:txBody>
      </p:sp>
      <p:sp>
        <p:nvSpPr>
          <p:cNvPr id="192" name="Google Shape;192;g3c2aed5767c_0_221"/>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Retrieval Augmented Generation (RAG) - Finds parts of documents similar to the prompt and adds them to the context window</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ReAct Prompting - Combining Reasoning with Action models</a:t>
            </a:r>
            <a:endParaRPr>
              <a:latin typeface="Avenir"/>
              <a:ea typeface="Avenir"/>
              <a:cs typeface="Avenir"/>
              <a:sym typeface="Avenir"/>
            </a:endParaRPr>
          </a:p>
          <a:p>
            <a:pPr indent="0" lvl="0" marL="0" rtl="0" algn="l">
              <a:lnSpc>
                <a:spcPct val="100000"/>
              </a:lnSpc>
              <a:spcBef>
                <a:spcPts val="0"/>
              </a:spcBef>
              <a:spcAft>
                <a:spcPts val="0"/>
              </a:spcAft>
              <a:buNone/>
            </a:pPr>
            <a:r>
              <a:t/>
            </a:r>
            <a:endParaRPr>
              <a:latin typeface="Avenir"/>
              <a:ea typeface="Avenir"/>
              <a:cs typeface="Avenir"/>
              <a:sym typeface="Avenir"/>
            </a:endParaRPr>
          </a:p>
        </p:txBody>
      </p:sp>
      <p:sp>
        <p:nvSpPr>
          <p:cNvPr id="193" name="Google Shape;193;g3c2aed5767c_0_22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8" name="Shape 198"/>
        <p:cNvGrpSpPr/>
        <p:nvPr/>
      </p:nvGrpSpPr>
      <p:grpSpPr>
        <a:xfrm>
          <a:off x="0" y="0"/>
          <a:ext cx="0" cy="0"/>
          <a:chOff x="0" y="0"/>
          <a:chExt cx="0" cy="0"/>
        </a:xfrm>
      </p:grpSpPr>
      <p:sp>
        <p:nvSpPr>
          <p:cNvPr id="199" name="Google Shape;199;g3c2aed5767c_0_348"/>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Reduce Hallucination</a:t>
            </a:r>
            <a:endParaRPr/>
          </a:p>
        </p:txBody>
      </p:sp>
      <p:sp>
        <p:nvSpPr>
          <p:cNvPr id="200" name="Google Shape;200;g3c2aed5767c_0_34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01" name="Google Shape;201;g3c2aed5767c_0_348"/>
          <p:cNvPicPr preferRelativeResize="0"/>
          <p:nvPr/>
        </p:nvPicPr>
        <p:blipFill>
          <a:blip r:embed="rId3">
            <a:alphaModFix/>
          </a:blip>
          <a:stretch>
            <a:fillRect/>
          </a:stretch>
        </p:blipFill>
        <p:spPr>
          <a:xfrm>
            <a:off x="3039425" y="1763850"/>
            <a:ext cx="5521582" cy="48831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6" name="Shape 206"/>
        <p:cNvGrpSpPr/>
        <p:nvPr/>
      </p:nvGrpSpPr>
      <p:grpSpPr>
        <a:xfrm>
          <a:off x="0" y="0"/>
          <a:ext cx="0" cy="0"/>
          <a:chOff x="0" y="0"/>
          <a:chExt cx="0" cy="0"/>
        </a:xfrm>
      </p:grpSpPr>
      <p:sp>
        <p:nvSpPr>
          <p:cNvPr id="207" name="Google Shape;207;g3c2aed5767c_0_339"/>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Reduce Hallucination</a:t>
            </a:r>
            <a:endParaRPr/>
          </a:p>
        </p:txBody>
      </p:sp>
      <p:sp>
        <p:nvSpPr>
          <p:cNvPr id="208" name="Google Shape;208;g3c2aed5767c_0_33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09" name="Google Shape;209;g3c2aed5767c_0_339"/>
          <p:cNvPicPr preferRelativeResize="0"/>
          <p:nvPr/>
        </p:nvPicPr>
        <p:blipFill>
          <a:blip r:embed="rId3">
            <a:alphaModFix/>
          </a:blip>
          <a:stretch>
            <a:fillRect/>
          </a:stretch>
        </p:blipFill>
        <p:spPr>
          <a:xfrm>
            <a:off x="333475" y="1446100"/>
            <a:ext cx="11697326" cy="5247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4" name="Shape 214"/>
        <p:cNvGrpSpPr/>
        <p:nvPr/>
      </p:nvGrpSpPr>
      <p:grpSpPr>
        <a:xfrm>
          <a:off x="0" y="0"/>
          <a:ext cx="0" cy="0"/>
          <a:chOff x="0" y="0"/>
          <a:chExt cx="0" cy="0"/>
        </a:xfrm>
      </p:grpSpPr>
      <p:sp>
        <p:nvSpPr>
          <p:cNvPr id="215" name="Google Shape;215;g3c2aed5767c_0_366"/>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Reduce Hallucination</a:t>
            </a:r>
            <a:endParaRPr/>
          </a:p>
        </p:txBody>
      </p:sp>
      <p:sp>
        <p:nvSpPr>
          <p:cNvPr id="216" name="Google Shape;216;g3c2aed5767c_0_36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17" name="Google Shape;217;g3c2aed5767c_0_366"/>
          <p:cNvPicPr preferRelativeResize="0"/>
          <p:nvPr/>
        </p:nvPicPr>
        <p:blipFill>
          <a:blip r:embed="rId3">
            <a:alphaModFix/>
          </a:blip>
          <a:stretch>
            <a:fillRect/>
          </a:stretch>
        </p:blipFill>
        <p:spPr>
          <a:xfrm>
            <a:off x="658100" y="1538151"/>
            <a:ext cx="10612062" cy="4959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2" name="Shape 222"/>
        <p:cNvGrpSpPr/>
        <p:nvPr/>
      </p:nvGrpSpPr>
      <p:grpSpPr>
        <a:xfrm>
          <a:off x="0" y="0"/>
          <a:ext cx="0" cy="0"/>
          <a:chOff x="0" y="0"/>
          <a:chExt cx="0" cy="0"/>
        </a:xfrm>
      </p:grpSpPr>
      <p:sp>
        <p:nvSpPr>
          <p:cNvPr id="223" name="Google Shape;223;g3c2aed5767c_0_229"/>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User Interactions</a:t>
            </a:r>
            <a:endParaRPr/>
          </a:p>
        </p:txBody>
      </p:sp>
      <p:sp>
        <p:nvSpPr>
          <p:cNvPr id="224" name="Google Shape;224;g3c2aed5767c_0_229"/>
          <p:cNvSpPr txBox="1"/>
          <p:nvPr>
            <p:ph idx="1" type="body"/>
          </p:nvPr>
        </p:nvSpPr>
        <p:spPr>
          <a:xfrm>
            <a:off x="465375" y="1810075"/>
            <a:ext cx="11257800" cy="4897800"/>
          </a:xfrm>
          <a:prstGeom prst="rect">
            <a:avLst/>
          </a:prstGeom>
          <a:noFill/>
          <a:ln>
            <a:noFill/>
          </a:ln>
        </p:spPr>
        <p:txBody>
          <a:bodyPr anchorCtr="0" anchor="t" bIns="45700" lIns="91425" spcFirstLastPara="1" rIns="91425" wrap="square" tIns="45700">
            <a:normAutofit lnSpcReduction="2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Active-Prompt: Have the user help a CoT model</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a:latin typeface="Avenir"/>
                <a:ea typeface="Avenir"/>
                <a:cs typeface="Avenir"/>
                <a:sym typeface="Avenir"/>
              </a:rPr>
              <a:t>Uncertainty estimation</a:t>
            </a:r>
            <a:endParaRPr b="1">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For each candidate training question, query the LLM k times (often with CoT style, e.g., “Let’s think step by step” or with some initial exemplars) to produce k predicted answers (and intermediate reasoning).</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a:latin typeface="Avenir"/>
                <a:ea typeface="Avenir"/>
                <a:cs typeface="Avenir"/>
                <a:sym typeface="Avenir"/>
              </a:rPr>
              <a:t>Selection</a:t>
            </a:r>
            <a:endParaRPr b="1">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Compute an uncertainty score per question from those k answers, then rank questions by uncertainty and select the top n most uncertain ones.</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a:latin typeface="Avenir"/>
                <a:ea typeface="Avenir"/>
                <a:cs typeface="Avenir"/>
                <a:sym typeface="Avenir"/>
              </a:rPr>
              <a:t>Human annotation</a:t>
            </a:r>
            <a:endParaRPr b="1">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Have humans write CoT rationales + final answers for only those selected questions, forming a new exemplar set.</a:t>
            </a:r>
            <a:endParaRPr>
              <a:latin typeface="Avenir"/>
              <a:ea typeface="Avenir"/>
              <a:cs typeface="Avenir"/>
              <a:sym typeface="Avenir"/>
            </a:endParaRPr>
          </a:p>
          <a:p>
            <a:pPr indent="-342900" lvl="0" marL="457200" rtl="0" algn="l">
              <a:lnSpc>
                <a:spcPct val="100000"/>
              </a:lnSpc>
              <a:spcBef>
                <a:spcPts val="0"/>
              </a:spcBef>
              <a:spcAft>
                <a:spcPts val="0"/>
              </a:spcAft>
              <a:buSzPts val="1800"/>
              <a:buFont typeface="Avenir"/>
              <a:buChar char="●"/>
            </a:pPr>
            <a:r>
              <a:rPr b="1" lang="en-US">
                <a:latin typeface="Avenir"/>
                <a:ea typeface="Avenir"/>
                <a:cs typeface="Avenir"/>
                <a:sym typeface="Avenir"/>
              </a:rPr>
              <a:t>Inference</a:t>
            </a:r>
            <a:endParaRPr b="1">
              <a:latin typeface="Avenir"/>
              <a:ea typeface="Avenir"/>
              <a:cs typeface="Avenir"/>
              <a:sym typeface="Avenir"/>
            </a:endParaRPr>
          </a:p>
          <a:p>
            <a:pPr indent="-342900" lvl="1" marL="914400" rtl="0" algn="l">
              <a:lnSpc>
                <a:spcPct val="100000"/>
              </a:lnSpc>
              <a:spcBef>
                <a:spcPts val="0"/>
              </a:spcBef>
              <a:spcAft>
                <a:spcPts val="0"/>
              </a:spcAft>
              <a:buSzPts val="1800"/>
              <a:buFont typeface="Avenir"/>
              <a:buChar char="○"/>
            </a:pPr>
            <a:r>
              <a:rPr lang="en-US">
                <a:latin typeface="Avenir"/>
                <a:ea typeface="Avenir"/>
                <a:cs typeface="Avenir"/>
                <a:sym typeface="Avenir"/>
              </a:rPr>
              <a:t>Use the newly annotated exemplars as the few-shot CoT prompt for the test questions; they also apply self-consistency at inference (sample multiple completions and vote).</a:t>
            </a:r>
            <a:endParaRPr>
              <a:latin typeface="Avenir"/>
              <a:ea typeface="Avenir"/>
              <a:cs typeface="Avenir"/>
              <a:sym typeface="Avenir"/>
            </a:endParaRPr>
          </a:p>
        </p:txBody>
      </p:sp>
      <p:sp>
        <p:nvSpPr>
          <p:cNvPr id="225" name="Google Shape;225;g3c2aed5767c_0_22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g3c2aed5767c_0_24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Managing Emotions and Tone</a:t>
            </a:r>
            <a:endParaRPr/>
          </a:p>
        </p:txBody>
      </p:sp>
      <p:sp>
        <p:nvSpPr>
          <p:cNvPr id="232" name="Google Shape;232;g3c2aed5767c_0_240"/>
          <p:cNvSpPr txBox="1"/>
          <p:nvPr>
            <p:ph idx="1" type="body"/>
          </p:nvPr>
        </p:nvSpPr>
        <p:spPr>
          <a:xfrm>
            <a:off x="465375" y="1810075"/>
            <a:ext cx="49650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Emotion Prompting - </a:t>
            </a:r>
            <a:r>
              <a:rPr lang="en-US">
                <a:latin typeface="Avenir"/>
                <a:ea typeface="Avenir"/>
                <a:cs typeface="Avenir"/>
                <a:sym typeface="Avenir"/>
              </a:rPr>
              <a:t>Incorporating</a:t>
            </a:r>
            <a:r>
              <a:rPr lang="en-US">
                <a:latin typeface="Avenir"/>
                <a:ea typeface="Avenir"/>
                <a:cs typeface="Avenir"/>
                <a:sym typeface="Avenir"/>
              </a:rPr>
              <a:t> Emotional stimulus into LLM prompts</a:t>
            </a:r>
            <a:endParaRPr>
              <a:latin typeface="Avenir"/>
              <a:ea typeface="Avenir"/>
              <a:cs typeface="Avenir"/>
              <a:sym typeface="Avenir"/>
            </a:endParaRPr>
          </a:p>
        </p:txBody>
      </p:sp>
      <p:sp>
        <p:nvSpPr>
          <p:cNvPr id="233" name="Google Shape;233;g3c2aed5767c_0_24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34" name="Google Shape;234;g3c2aed5767c_0_240"/>
          <p:cNvPicPr preferRelativeResize="0"/>
          <p:nvPr/>
        </p:nvPicPr>
        <p:blipFill>
          <a:blip r:embed="rId3">
            <a:alphaModFix/>
          </a:blip>
          <a:stretch>
            <a:fillRect/>
          </a:stretch>
        </p:blipFill>
        <p:spPr>
          <a:xfrm>
            <a:off x="5430298" y="1729150"/>
            <a:ext cx="6190200" cy="473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9" name="Shape 239"/>
        <p:cNvGrpSpPr/>
        <p:nvPr/>
      </p:nvGrpSpPr>
      <p:grpSpPr>
        <a:xfrm>
          <a:off x="0" y="0"/>
          <a:ext cx="0" cy="0"/>
          <a:chOff x="0" y="0"/>
          <a:chExt cx="0" cy="0"/>
        </a:xfrm>
      </p:grpSpPr>
      <p:sp>
        <p:nvSpPr>
          <p:cNvPr id="240" name="Google Shape;240;g3c2aed5767c_0_250"/>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Code </a:t>
            </a:r>
            <a:r>
              <a:rPr lang="en-US">
                <a:latin typeface="Avenir"/>
                <a:ea typeface="Avenir"/>
                <a:cs typeface="Avenir"/>
                <a:sym typeface="Avenir"/>
              </a:rPr>
              <a:t>Generation</a:t>
            </a:r>
            <a:r>
              <a:rPr lang="en-US">
                <a:latin typeface="Avenir"/>
                <a:ea typeface="Avenir"/>
                <a:cs typeface="Avenir"/>
                <a:sym typeface="Avenir"/>
              </a:rPr>
              <a:t> and Execution</a:t>
            </a:r>
            <a:endParaRPr/>
          </a:p>
        </p:txBody>
      </p:sp>
      <p:sp>
        <p:nvSpPr>
          <p:cNvPr id="241" name="Google Shape;241;g3c2aed5767c_0_250"/>
          <p:cNvSpPr txBox="1"/>
          <p:nvPr>
            <p:ph idx="1" type="body"/>
          </p:nvPr>
        </p:nvSpPr>
        <p:spPr>
          <a:xfrm>
            <a:off x="465375" y="1810075"/>
            <a:ext cx="55572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Allowing the model to execute code as part of its process for answering your query</a:t>
            </a:r>
            <a:endParaRPr>
              <a:latin typeface="Avenir"/>
              <a:ea typeface="Avenir"/>
              <a:cs typeface="Avenir"/>
              <a:sym typeface="Avenir"/>
            </a:endParaRPr>
          </a:p>
        </p:txBody>
      </p:sp>
      <p:sp>
        <p:nvSpPr>
          <p:cNvPr id="242" name="Google Shape;242;g3c2aed5767c_0_25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43" name="Google Shape;243;g3c2aed5767c_0_250"/>
          <p:cNvPicPr preferRelativeResize="0"/>
          <p:nvPr/>
        </p:nvPicPr>
        <p:blipFill>
          <a:blip r:embed="rId3">
            <a:alphaModFix/>
          </a:blip>
          <a:stretch>
            <a:fillRect/>
          </a:stretch>
        </p:blipFill>
        <p:spPr>
          <a:xfrm>
            <a:off x="6152625" y="1377750"/>
            <a:ext cx="6039374" cy="5330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8" name="Shape 248"/>
        <p:cNvGrpSpPr/>
        <p:nvPr/>
      </p:nvGrpSpPr>
      <p:grpSpPr>
        <a:xfrm>
          <a:off x="0" y="0"/>
          <a:ext cx="0" cy="0"/>
          <a:chOff x="0" y="0"/>
          <a:chExt cx="0" cy="0"/>
        </a:xfrm>
      </p:grpSpPr>
      <p:sp>
        <p:nvSpPr>
          <p:cNvPr id="249" name="Google Shape;249;g3c2aed5767c_0_258"/>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Optimization and </a:t>
            </a:r>
            <a:r>
              <a:rPr lang="en-US">
                <a:latin typeface="Avenir"/>
                <a:ea typeface="Avenir"/>
                <a:cs typeface="Avenir"/>
                <a:sym typeface="Avenir"/>
              </a:rPr>
              <a:t>Efficiency</a:t>
            </a:r>
            <a:endParaRPr/>
          </a:p>
        </p:txBody>
      </p:sp>
      <p:sp>
        <p:nvSpPr>
          <p:cNvPr id="250" name="Google Shape;250;g3c2aed5767c_0_258"/>
          <p:cNvSpPr txBox="1"/>
          <p:nvPr>
            <p:ph idx="1" type="body"/>
          </p:nvPr>
        </p:nvSpPr>
        <p:spPr>
          <a:xfrm>
            <a:off x="465375" y="1810075"/>
            <a:ext cx="5695500" cy="48978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Optimization by PROmpting (OPRO) the optimization task is described in natural language. In each optimization step, the LLM generates new solutions from the prompt that contains previously generated solutions with their values, then the new solutions are evaluated and added to the prompt for the next optimization step.</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251" name="Google Shape;251;g3c2aed5767c_0_25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52" name="Google Shape;252;g3c2aed5767c_0_258"/>
          <p:cNvPicPr preferRelativeResize="0"/>
          <p:nvPr/>
        </p:nvPicPr>
        <p:blipFill>
          <a:blip r:embed="rId3">
            <a:alphaModFix/>
          </a:blip>
          <a:stretch>
            <a:fillRect/>
          </a:stretch>
        </p:blipFill>
        <p:spPr>
          <a:xfrm>
            <a:off x="6292960" y="1670050"/>
            <a:ext cx="5695365" cy="4897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7" name="Shape 257"/>
        <p:cNvGrpSpPr/>
        <p:nvPr/>
      </p:nvGrpSpPr>
      <p:grpSpPr>
        <a:xfrm>
          <a:off x="0" y="0"/>
          <a:ext cx="0" cy="0"/>
          <a:chOff x="0" y="0"/>
          <a:chExt cx="0" cy="0"/>
        </a:xfrm>
      </p:grpSpPr>
      <p:sp>
        <p:nvSpPr>
          <p:cNvPr id="258" name="Google Shape;258;g3c2aed5767c_0_282"/>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Optimization and Efficiency</a:t>
            </a:r>
            <a:endParaRPr/>
          </a:p>
        </p:txBody>
      </p:sp>
      <p:sp>
        <p:nvSpPr>
          <p:cNvPr id="259" name="Google Shape;259;g3c2aed5767c_0_28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0" name="Google Shape;260;g3c2aed5767c_0_282"/>
          <p:cNvPicPr preferRelativeResize="0"/>
          <p:nvPr/>
        </p:nvPicPr>
        <p:blipFill>
          <a:blip r:embed="rId3">
            <a:alphaModFix/>
          </a:blip>
          <a:stretch>
            <a:fillRect/>
          </a:stretch>
        </p:blipFill>
        <p:spPr>
          <a:xfrm>
            <a:off x="3410050" y="1486100"/>
            <a:ext cx="5371900" cy="5371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5" name="Shape 265"/>
        <p:cNvGrpSpPr/>
        <p:nvPr/>
      </p:nvGrpSpPr>
      <p:grpSpPr>
        <a:xfrm>
          <a:off x="0" y="0"/>
          <a:ext cx="0" cy="0"/>
          <a:chOff x="0" y="0"/>
          <a:chExt cx="0" cy="0"/>
        </a:xfrm>
      </p:grpSpPr>
      <p:sp>
        <p:nvSpPr>
          <p:cNvPr id="266" name="Google Shape;266;g3c2aed5767c_0_265"/>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Understanding User Intent</a:t>
            </a:r>
            <a:endParaRPr/>
          </a:p>
        </p:txBody>
      </p:sp>
      <p:sp>
        <p:nvSpPr>
          <p:cNvPr id="267" name="Google Shape;267;g3c2aed5767c_0_265"/>
          <p:cNvSpPr txBox="1"/>
          <p:nvPr>
            <p:ph idx="1" type="body"/>
          </p:nvPr>
        </p:nvSpPr>
        <p:spPr>
          <a:xfrm>
            <a:off x="465375" y="1810075"/>
            <a:ext cx="100269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Rephrase</a:t>
            </a:r>
            <a:r>
              <a:rPr lang="en-US">
                <a:latin typeface="Avenir"/>
                <a:ea typeface="Avenir"/>
                <a:cs typeface="Avenir"/>
                <a:sym typeface="Avenir"/>
              </a:rPr>
              <a:t> and Respond (RaR) prompting </a:t>
            </a:r>
            <a:endParaRPr>
              <a:latin typeface="Avenir"/>
              <a:ea typeface="Avenir"/>
              <a:cs typeface="Avenir"/>
              <a:sym typeface="Avenir"/>
            </a:endParaRPr>
          </a:p>
        </p:txBody>
      </p:sp>
      <p:sp>
        <p:nvSpPr>
          <p:cNvPr id="268" name="Google Shape;268;g3c2aed5767c_0_26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9" name="Google Shape;269;g3c2aed5767c_0_265"/>
          <p:cNvPicPr preferRelativeResize="0"/>
          <p:nvPr/>
        </p:nvPicPr>
        <p:blipFill>
          <a:blip r:embed="rId3">
            <a:alphaModFix/>
          </a:blip>
          <a:stretch>
            <a:fillRect/>
          </a:stretch>
        </p:blipFill>
        <p:spPr>
          <a:xfrm>
            <a:off x="727949" y="2396299"/>
            <a:ext cx="10321075" cy="4311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g3c2aed5767c_0_297"/>
          <p:cNvSpPr txBox="1"/>
          <p:nvPr>
            <p:ph type="title"/>
          </p:nvPr>
        </p:nvSpPr>
        <p:spPr>
          <a:xfrm>
            <a:off x="465387" y="34435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Understanding User Intent</a:t>
            </a:r>
            <a:endParaRPr/>
          </a:p>
        </p:txBody>
      </p:sp>
      <p:sp>
        <p:nvSpPr>
          <p:cNvPr id="276" name="Google Shape;276;g3c2aed5767c_0_297"/>
          <p:cNvSpPr txBox="1"/>
          <p:nvPr>
            <p:ph idx="1" type="body"/>
          </p:nvPr>
        </p:nvSpPr>
        <p:spPr>
          <a:xfrm>
            <a:off x="465375" y="1810075"/>
            <a:ext cx="100269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Rephrase and Respond (RaR) prompting -  Rephrase and expand the question, and respond.</a:t>
            </a:r>
            <a:endParaRPr>
              <a:latin typeface="Avenir"/>
              <a:ea typeface="Avenir"/>
              <a:cs typeface="Avenir"/>
              <a:sym typeface="Avenir"/>
            </a:endParaRPr>
          </a:p>
          <a:p>
            <a:pPr indent="0" lvl="0" marL="457200" rtl="0" algn="l">
              <a:lnSpc>
                <a:spcPct val="100000"/>
              </a:lnSpc>
              <a:spcBef>
                <a:spcPts val="0"/>
              </a:spcBef>
              <a:spcAft>
                <a:spcPts val="0"/>
              </a:spcAft>
              <a:buNone/>
            </a:pPr>
            <a:r>
              <a:t/>
            </a:r>
            <a:endParaRPr>
              <a:latin typeface="Avenir"/>
              <a:ea typeface="Avenir"/>
              <a:cs typeface="Avenir"/>
              <a:sym typeface="Avenir"/>
            </a:endParaRPr>
          </a:p>
        </p:txBody>
      </p:sp>
      <p:sp>
        <p:nvSpPr>
          <p:cNvPr id="277" name="Google Shape;277;g3c2aed5767c_0_297"/>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78" name="Google Shape;278;g3c2aed5767c_0_297"/>
          <p:cNvPicPr preferRelativeResize="0"/>
          <p:nvPr/>
        </p:nvPicPr>
        <p:blipFill>
          <a:blip r:embed="rId3">
            <a:alphaModFix/>
          </a:blip>
          <a:stretch>
            <a:fillRect/>
          </a:stretch>
        </p:blipFill>
        <p:spPr>
          <a:xfrm>
            <a:off x="619125" y="4781550"/>
            <a:ext cx="10953750" cy="1866900"/>
          </a:xfrm>
          <a:prstGeom prst="rect">
            <a:avLst/>
          </a:prstGeom>
          <a:noFill/>
          <a:ln>
            <a:noFill/>
          </a:ln>
        </p:spPr>
      </p:pic>
      <p:pic>
        <p:nvPicPr>
          <p:cNvPr id="279" name="Google Shape;279;g3c2aed5767c_0_297"/>
          <p:cNvPicPr preferRelativeResize="0"/>
          <p:nvPr/>
        </p:nvPicPr>
        <p:blipFill>
          <a:blip r:embed="rId4">
            <a:alphaModFix/>
          </a:blip>
          <a:stretch>
            <a:fillRect/>
          </a:stretch>
        </p:blipFill>
        <p:spPr>
          <a:xfrm>
            <a:off x="774450" y="3429338"/>
            <a:ext cx="10420350" cy="714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4" name="Shape 284"/>
        <p:cNvGrpSpPr/>
        <p:nvPr/>
      </p:nvGrpSpPr>
      <p:grpSpPr>
        <a:xfrm>
          <a:off x="0" y="0"/>
          <a:ext cx="0" cy="0"/>
          <a:chOff x="0" y="0"/>
          <a:chExt cx="0" cy="0"/>
        </a:xfrm>
      </p:grpSpPr>
      <p:sp>
        <p:nvSpPr>
          <p:cNvPr id="285" name="Google Shape;285;g3c2aed5767c_0_272"/>
          <p:cNvSpPr txBox="1"/>
          <p:nvPr>
            <p:ph type="title"/>
          </p:nvPr>
        </p:nvSpPr>
        <p:spPr>
          <a:xfrm>
            <a:off x="465373" y="344350"/>
            <a:ext cx="9777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Metacognition and Self Reflection</a:t>
            </a:r>
            <a:endParaRPr/>
          </a:p>
        </p:txBody>
      </p:sp>
      <p:sp>
        <p:nvSpPr>
          <p:cNvPr id="286" name="Google Shape;286;g3c2aed5767c_0_272"/>
          <p:cNvSpPr txBox="1"/>
          <p:nvPr>
            <p:ph idx="1" type="body"/>
          </p:nvPr>
        </p:nvSpPr>
        <p:spPr>
          <a:xfrm>
            <a:off x="406750" y="1839375"/>
            <a:ext cx="10026900" cy="48978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Font typeface="Avenir"/>
              <a:buChar char="●"/>
            </a:pPr>
            <a:r>
              <a:rPr lang="en-US">
                <a:latin typeface="Avenir"/>
                <a:ea typeface="Avenir"/>
                <a:cs typeface="Avenir"/>
                <a:sym typeface="Avenir"/>
              </a:rPr>
              <a:t>Take a Step Back Prompting</a:t>
            </a:r>
            <a:endParaRPr>
              <a:latin typeface="Avenir"/>
              <a:ea typeface="Avenir"/>
              <a:cs typeface="Avenir"/>
              <a:sym typeface="Avenir"/>
            </a:endParaRPr>
          </a:p>
        </p:txBody>
      </p:sp>
      <p:sp>
        <p:nvSpPr>
          <p:cNvPr id="287" name="Google Shape;287;g3c2aed5767c_0_27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88" name="Google Shape;288;g3c2aed5767c_0_272"/>
          <p:cNvPicPr preferRelativeResize="0"/>
          <p:nvPr/>
        </p:nvPicPr>
        <p:blipFill>
          <a:blip r:embed="rId3">
            <a:alphaModFix/>
          </a:blip>
          <a:stretch>
            <a:fillRect/>
          </a:stretch>
        </p:blipFill>
        <p:spPr>
          <a:xfrm>
            <a:off x="798638" y="2512050"/>
            <a:ext cx="10594724" cy="4345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g3c2aed5767c_0_115"/>
          <p:cNvSpPr txBox="1"/>
          <p:nvPr>
            <p:ph type="title"/>
          </p:nvPr>
        </p:nvSpPr>
        <p:spPr>
          <a:xfrm>
            <a:off x="267962" y="0"/>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The Intern Method</a:t>
            </a:r>
            <a:endParaRPr/>
          </a:p>
        </p:txBody>
      </p:sp>
      <p:sp>
        <p:nvSpPr>
          <p:cNvPr id="295" name="Google Shape;295;g3c2aed5767c_0_115"/>
          <p:cNvSpPr txBox="1"/>
          <p:nvPr>
            <p:ph idx="1" type="body"/>
          </p:nvPr>
        </p:nvSpPr>
        <p:spPr>
          <a:xfrm>
            <a:off x="205600" y="1153400"/>
            <a:ext cx="4368300" cy="5559600"/>
          </a:xfrm>
          <a:prstGeom prst="rect">
            <a:avLst/>
          </a:prstGeom>
          <a:noFill/>
          <a:ln>
            <a:noFill/>
          </a:ln>
        </p:spPr>
        <p:txBody>
          <a:bodyPr anchorCtr="0" anchor="t" bIns="45700" lIns="91425" spcFirstLastPara="1" rIns="91425" wrap="square" tIns="45700">
            <a:normAutofit fontScale="62500"/>
          </a:bodyPr>
          <a:lstStyle/>
          <a:p>
            <a:pPr indent="0" lvl="0" marL="0" rtl="0" algn="l">
              <a:lnSpc>
                <a:spcPct val="100000"/>
              </a:lnSpc>
              <a:spcBef>
                <a:spcPts val="0"/>
              </a:spcBef>
              <a:spcAft>
                <a:spcPts val="0"/>
              </a:spcAft>
              <a:buNone/>
            </a:pPr>
            <a:r>
              <a:rPr b="1" lang="en-US" u="sng">
                <a:latin typeface="Avenir"/>
                <a:ea typeface="Avenir"/>
                <a:cs typeface="Avenir"/>
                <a:sym typeface="Avenir"/>
              </a:rPr>
              <a:t>1) Define a Role and Task Clearly​</a:t>
            </a:r>
            <a:endParaRPr b="1" u="sng">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Assign a role to the LLM to tailor its</a:t>
            </a:r>
            <a:endParaRPr>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response ​</a:t>
            </a:r>
            <a:endParaRPr>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State the task with specificity​</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2) Provide Context from External Sources​</a:t>
            </a:r>
            <a:endParaRPr b="1" u="sng">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Add relevant industry knowledge,statistics, or examples to guide the model.​</a:t>
            </a:r>
            <a:endParaRPr>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Have it search the internet for relevant sources​</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3) Provide Context from Internal Sources​</a:t>
            </a:r>
            <a:endParaRPr b="1" u="sng">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If applicable, give the model company- specific information, constraints, or guidelines. ​</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4) Ask the Model for Clarification or Feedback on the Task​</a:t>
            </a:r>
            <a:endParaRPr b="1" u="sng">
              <a:latin typeface="Avenir"/>
              <a:ea typeface="Avenir"/>
              <a:cs typeface="Avenir"/>
              <a:sym typeface="Avenir"/>
            </a:endParaRPr>
          </a:p>
          <a:p>
            <a:pPr indent="-300037"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Before proceeding, ask the model if it needs more information or if your prompt could be refined.</a:t>
            </a:r>
            <a:endParaRPr>
              <a:latin typeface="Avenir"/>
              <a:ea typeface="Avenir"/>
              <a:cs typeface="Avenir"/>
              <a:sym typeface="Avenir"/>
            </a:endParaRPr>
          </a:p>
        </p:txBody>
      </p:sp>
      <p:sp>
        <p:nvSpPr>
          <p:cNvPr id="296" name="Google Shape;296;g3c2aed5767c_0_11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7" name="Google Shape;297;g3c2aed5767c_0_115"/>
          <p:cNvSpPr txBox="1"/>
          <p:nvPr>
            <p:ph idx="1" type="body"/>
          </p:nvPr>
        </p:nvSpPr>
        <p:spPr>
          <a:xfrm>
            <a:off x="4573900" y="1097975"/>
            <a:ext cx="4248000" cy="55596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None/>
            </a:pPr>
            <a:r>
              <a:rPr b="1" lang="en-US" u="sng">
                <a:latin typeface="Avenir"/>
                <a:ea typeface="Avenir"/>
                <a:cs typeface="Avenir"/>
                <a:sym typeface="Avenir"/>
              </a:rPr>
              <a:t>5) Generate an Outline or Plan Before Execution​</a:t>
            </a:r>
            <a:endParaRPr b="1" u="sng">
              <a:latin typeface="Avenir"/>
              <a:ea typeface="Avenir"/>
              <a:cs typeface="Avenir"/>
              <a:sym typeface="Avenir"/>
            </a:endParaRPr>
          </a:p>
          <a:p>
            <a:pPr indent="-308610"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Have the model create an outline before fully completing the task. ​</a:t>
            </a:r>
            <a:endParaRPr>
              <a:latin typeface="Avenir"/>
              <a:ea typeface="Avenir"/>
              <a:cs typeface="Avenir"/>
              <a:sym typeface="Avenir"/>
            </a:endParaRPr>
          </a:p>
          <a:p>
            <a:pPr indent="-308610"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This helps avoid wasted iterations and allows for early course correction.​</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6) Iterate Step-by-Step Instead of All at Once​</a:t>
            </a:r>
            <a:endParaRPr b="1" u="sng">
              <a:latin typeface="Avenir"/>
              <a:ea typeface="Avenir"/>
              <a:cs typeface="Avenir"/>
              <a:sym typeface="Avenir"/>
            </a:endParaRPr>
          </a:p>
          <a:p>
            <a:pPr indent="-308610"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Rather than asking for the entire solution upfront, complete the task in stages. ​</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7) Review &amp; Provide Feedback</a:t>
            </a:r>
            <a:r>
              <a:rPr lang="en-US">
                <a:latin typeface="Avenir"/>
                <a:ea typeface="Avenir"/>
                <a:cs typeface="Avenir"/>
                <a:sym typeface="Avenir"/>
              </a:rPr>
              <a:t>​</a:t>
            </a:r>
            <a:endParaRPr>
              <a:latin typeface="Avenir"/>
              <a:ea typeface="Avenir"/>
              <a:cs typeface="Avenir"/>
              <a:sym typeface="Avenir"/>
            </a:endParaRPr>
          </a:p>
          <a:p>
            <a:pPr indent="-308610"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Ask for refinements based on accuracy, clarity, tone, or missing elements. ​</a:t>
            </a:r>
            <a:endParaRPr>
              <a:latin typeface="Avenir"/>
              <a:ea typeface="Avenir"/>
              <a:cs typeface="Avenir"/>
              <a:sym typeface="Avenir"/>
            </a:endParaRPr>
          </a:p>
          <a:p>
            <a:pPr indent="0" lvl="0" marL="0" rtl="0" algn="l">
              <a:lnSpc>
                <a:spcPct val="100000"/>
              </a:lnSpc>
              <a:spcBef>
                <a:spcPts val="0"/>
              </a:spcBef>
              <a:spcAft>
                <a:spcPts val="0"/>
              </a:spcAft>
              <a:buNone/>
            </a:pPr>
            <a:r>
              <a:rPr b="1" lang="en-US" u="sng">
                <a:latin typeface="Avenir"/>
                <a:ea typeface="Avenir"/>
                <a:cs typeface="Avenir"/>
                <a:sym typeface="Avenir"/>
              </a:rPr>
              <a:t>8) Final Refinements &amp; Edge Case Handling​</a:t>
            </a:r>
            <a:endParaRPr b="1" u="sng">
              <a:latin typeface="Avenir"/>
              <a:ea typeface="Avenir"/>
              <a:cs typeface="Avenir"/>
              <a:sym typeface="Avenir"/>
            </a:endParaRPr>
          </a:p>
          <a:p>
            <a:pPr indent="-308610"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Once the response is near completion, probe for weaknesses.</a:t>
            </a:r>
            <a:endParaRPr b="1" u="sng">
              <a:latin typeface="Avenir"/>
              <a:ea typeface="Avenir"/>
              <a:cs typeface="Avenir"/>
              <a:sym typeface="Avenir"/>
            </a:endParaRPr>
          </a:p>
        </p:txBody>
      </p:sp>
      <p:pic>
        <p:nvPicPr>
          <p:cNvPr descr="A screenshot of a computer screen&#10;&#10;AI-generated content may be incorrect." id="298" name="Google Shape;298;g3c2aed5767c_0_115"/>
          <p:cNvPicPr preferRelativeResize="0"/>
          <p:nvPr/>
        </p:nvPicPr>
        <p:blipFill>
          <a:blip r:embed="rId3">
            <a:alphaModFix/>
          </a:blip>
          <a:stretch>
            <a:fillRect/>
          </a:stretch>
        </p:blipFill>
        <p:spPr>
          <a:xfrm>
            <a:off x="8896350" y="0"/>
            <a:ext cx="3295650" cy="6772275"/>
          </a:xfrm>
          <a:prstGeom prst="rect">
            <a:avLst/>
          </a:prstGeom>
          <a:noFill/>
          <a:ln>
            <a:noFill/>
          </a:ln>
        </p:spPr>
      </p:pic>
      <p:sp>
        <p:nvSpPr>
          <p:cNvPr id="299" name="Google Shape;299;g3c2aed5767c_0_115"/>
          <p:cNvSpPr txBox="1"/>
          <p:nvPr/>
        </p:nvSpPr>
        <p:spPr>
          <a:xfrm>
            <a:off x="904875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