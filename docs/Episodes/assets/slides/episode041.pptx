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J6/llxjY2LRBv1yeboG3wNxpH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2010.11929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laude.ai/public/artifacts/0ecdfb83-807b-4481-8456-8605d48a356c" TargetMode="External"/><Relationship Id="rId3" Type="http://schemas.openxmlformats.org/officeDocument/2006/relationships/hyperlink" Target="https://en.wikipedia.org/wiki/List_of_large_language_models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latform.openai.com/tokenizer" TargetMode="External"/><Relationship Id="rId3" Type="http://schemas.openxmlformats.org/officeDocument/2006/relationships/hyperlink" Target="https://emaggiori.com/chatgpt-all-tokens/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rojector.tensorflow.org/" TargetMode="External"/><Relationship Id="rId3" Type="http://schemas.openxmlformats.org/officeDocument/2006/relationships/hyperlink" Target="https://dugas.ch/artificial_curiosity/GPT_architecture.html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a9d3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a9d3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6d4ca9d3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d6b0fb7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dd6b0fb7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g3bdd6b0fb7c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316fd8c9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9316fd8c9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2014: https://arxiv.org/abs/1409.0473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2017 Attention is all you Need: https://arxiv.org/abs/1706.03762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2018 BERT: https://arxiv.org/abs/1810.04805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2020 VIT: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https://arxiv.org/abs/2010.11929</a:t>
            </a:r>
            <a:r>
              <a:rPr lang="en-US"/>
              <a:t> </a:t>
            </a:r>
            <a:endParaRPr/>
          </a:p>
        </p:txBody>
      </p:sp>
      <p:sp>
        <p:nvSpPr>
          <p:cNvPr id="107" name="Google Shape;107;g39316fd8c9d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e4a20049a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be4a20049a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" name="Google Shape;117;g3be4a20049a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e4a20049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be4a20049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https://claude.ai/public/artifacts/0ecdfb83-807b-4481-8456-8605d48a356c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https://en.wikipedia.org/wiki/List_of_large_language_models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" name="Google Shape;132;g3be4a20049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316fd8c9d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9316fd8c9d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0" name="Google Shape;140;g39316fd8c9d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4a20049a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be4a20049a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https://platform.openai.com/tokenizer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https://emaggiori.com/chatgpt-all-tokens/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g3be4a20049a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e4a20049a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be4a20049a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https://projector.tensorflow.org/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https://dugas.ch/artificial_curiosity/GPT_architecture.html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g3be4a20049a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4a20049a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be4a20049a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4" name="Google Shape;164;g3be4a20049a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e4a20049a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be4a20049a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g3be4a20049a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e4a20049a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be4a20049a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0" name="Google Shape;180;g3be4a20049a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316fd8c9d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316fd8c9d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g39316fd8c9d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jpg"/><Relationship Id="rId9" Type="http://schemas.openxmlformats.org/officeDocument/2006/relationships/image" Target="../media/image11.png"/><Relationship Id="rId5" Type="http://schemas.openxmlformats.org/officeDocument/2006/relationships/image" Target="../media/image16.jp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a9d3d1_0_26"/>
          <p:cNvSpPr txBox="1"/>
          <p:nvPr>
            <p:ph type="ctrTitle"/>
          </p:nvPr>
        </p:nvSpPr>
        <p:spPr>
          <a:xfrm>
            <a:off x="161400" y="289750"/>
            <a:ext cx="98340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Large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Language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Model</a:t>
            </a:r>
            <a:endParaRPr/>
          </a:p>
        </p:txBody>
      </p:sp>
      <p:sp>
        <p:nvSpPr>
          <p:cNvPr id="90" name="Google Shape;90;g36d4ca9d3d1_0_2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a9d3d1_0_26"/>
          <p:cNvSpPr txBox="1"/>
          <p:nvPr/>
        </p:nvSpPr>
        <p:spPr>
          <a:xfrm>
            <a:off x="5153900" y="1723375"/>
            <a:ext cx="56187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ChatGPT and similar programs are, by design, unlimited in what they can “learn” (which is to say, memorize); they are incapable of distinguishing the possible from the impossible. 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NOAM CHOMPSKY (2023)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" name="Google Shape;92;g36d4ca9d3d1_0_26"/>
          <p:cNvSpPr txBox="1"/>
          <p:nvPr/>
        </p:nvSpPr>
        <p:spPr>
          <a:xfrm>
            <a:off x="3425530" y="4102008"/>
            <a:ext cx="6102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explores the foundational concepts behind large language models. We will examine how text is transformed into tokens, how those tokens are represented as embeddings, and how a model uses a context window to reason over sequences of language.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6d4ca9d3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d4ca9d3d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3651525"/>
            <a:ext cx="2853900" cy="2261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dd6b0fb7c_0_39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Fill in the Blank Game</a:t>
            </a:r>
            <a:endParaRPr/>
          </a:p>
        </p:txBody>
      </p:sp>
      <p:sp>
        <p:nvSpPr>
          <p:cNvPr id="101" name="Google Shape;101;g3bdd6b0fb7c_0_39"/>
          <p:cNvSpPr txBox="1"/>
          <p:nvPr>
            <p:ph idx="1" type="body"/>
          </p:nvPr>
        </p:nvSpPr>
        <p:spPr>
          <a:xfrm>
            <a:off x="382250" y="1825625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Based on everything that was said before you guess what the next word in the story might be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Once upon a time … 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g3bdd6b0fb7c_0_39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dd6b0fb7c_0_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316fd8c9d_0_3"/>
          <p:cNvSpPr txBox="1"/>
          <p:nvPr>
            <p:ph type="title"/>
          </p:nvPr>
        </p:nvSpPr>
        <p:spPr>
          <a:xfrm>
            <a:off x="3051312" y="365125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Transformer – Late 2010’s</a:t>
            </a:r>
            <a:endParaRPr/>
          </a:p>
        </p:txBody>
      </p:sp>
      <p:sp>
        <p:nvSpPr>
          <p:cNvPr id="110" name="Google Shape;110;g39316fd8c9d_0_3"/>
          <p:cNvSpPr txBox="1"/>
          <p:nvPr>
            <p:ph idx="1" type="body"/>
          </p:nvPr>
        </p:nvSpPr>
        <p:spPr>
          <a:xfrm>
            <a:off x="828250" y="1872150"/>
            <a:ext cx="6981600" cy="4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“Neural Machine Translation by Jointly Learning to Align and Translate” (2014)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Attention Mechanism focuses on important parts of the input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“Attention is All You Need” (2017)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transformer allows for parallel attention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Titan Transformer (2025)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1" name="Google Shape;111;g39316fd8c9d_0_3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9316fd8c9d_0_3"/>
          <p:cNvPicPr preferRelativeResize="0"/>
          <p:nvPr/>
        </p:nvPicPr>
        <p:blipFill rotWithShape="1">
          <a:blip r:embed="rId3">
            <a:alphaModFix/>
          </a:blip>
          <a:srcRect b="0" l="0" r="8366" t="0"/>
          <a:stretch/>
        </p:blipFill>
        <p:spPr>
          <a:xfrm>
            <a:off x="7809800" y="2231476"/>
            <a:ext cx="4224300" cy="349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13" name="Google Shape;113;g39316fd8c9d_0_3"/>
          <p:cNvPicPr preferRelativeResize="0"/>
          <p:nvPr/>
        </p:nvPicPr>
        <p:blipFill rotWithShape="1">
          <a:blip r:embed="rId4">
            <a:alphaModFix/>
          </a:blip>
          <a:srcRect b="0" l="-1776" r="4689" t="0"/>
          <a:stretch/>
        </p:blipFill>
        <p:spPr>
          <a:xfrm>
            <a:off x="1196375" y="451825"/>
            <a:ext cx="1491600" cy="11523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4a20049a_0_79"/>
          <p:cNvSpPr txBox="1"/>
          <p:nvPr>
            <p:ph type="title"/>
          </p:nvPr>
        </p:nvSpPr>
        <p:spPr>
          <a:xfrm>
            <a:off x="3051312" y="365125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Large Language Model – 2020’s</a:t>
            </a:r>
            <a:endParaRPr/>
          </a:p>
        </p:txBody>
      </p:sp>
      <p:sp>
        <p:nvSpPr>
          <p:cNvPr id="120" name="Google Shape;120;g3be4a20049a_0_79"/>
          <p:cNvSpPr txBox="1"/>
          <p:nvPr>
            <p:ph idx="1" type="body"/>
          </p:nvPr>
        </p:nvSpPr>
        <p:spPr>
          <a:xfrm>
            <a:off x="828261" y="187214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 Large Language Model (LLM) is a type of AI trained on huge amounts of text to generate and understand human-like language.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It learns to predict the next word in a sentence, enabling it to answer questions, write stories, translate, and more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0027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GPT-1 (2018)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0027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GPT-2 (2019)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0027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GPT-3 (2020)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0027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GPT-3.5 (2022)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20027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ChatGPT, Copilot, Gemini, Grok, Claude, Llama, Deepseek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1" name="Google Shape;121;g3be4a20049a_0_79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be4a20049a_0_79"/>
          <p:cNvSpPr/>
          <p:nvPr/>
        </p:nvSpPr>
        <p:spPr>
          <a:xfrm>
            <a:off x="1092676" y="391977"/>
            <a:ext cx="1541100" cy="127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be4a20049a_0_79"/>
          <p:cNvSpPr/>
          <p:nvPr/>
        </p:nvSpPr>
        <p:spPr>
          <a:xfrm>
            <a:off x="8896672" y="3502340"/>
            <a:ext cx="1209900" cy="10908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be4a20049a_0_79"/>
          <p:cNvSpPr/>
          <p:nvPr/>
        </p:nvSpPr>
        <p:spPr>
          <a:xfrm>
            <a:off x="8896664" y="1801661"/>
            <a:ext cx="1209900" cy="11748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3be4a20049a_0_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6180" y="1275833"/>
            <a:ext cx="1209900" cy="1209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126" name="Google Shape;126;g3be4a20049a_0_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20525" y="5119038"/>
            <a:ext cx="1209900" cy="11043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127" name="Google Shape;127;g3be4a20049a_0_79"/>
          <p:cNvPicPr preferRelativeResize="0"/>
          <p:nvPr/>
        </p:nvPicPr>
        <p:blipFill rotWithShape="1">
          <a:blip r:embed="rId8">
            <a:alphaModFix/>
          </a:blip>
          <a:srcRect b="40910" l="26441" r="61581" t="40540"/>
          <a:stretch/>
        </p:blipFill>
        <p:spPr>
          <a:xfrm>
            <a:off x="10467425" y="4475000"/>
            <a:ext cx="1209900" cy="1053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128" name="Google Shape;128;g3be4a20049a_0_7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76175" y="2838774"/>
            <a:ext cx="1209900" cy="1053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4a20049a_0_1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What is a Large 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Language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Model</a:t>
            </a:r>
            <a:endParaRPr/>
          </a:p>
        </p:txBody>
      </p:sp>
      <p:sp>
        <p:nvSpPr>
          <p:cNvPr id="135" name="Google Shape;135;g3be4a20049a_0_1"/>
          <p:cNvSpPr txBox="1"/>
          <p:nvPr>
            <p:ph idx="1" type="body"/>
          </p:nvPr>
        </p:nvSpPr>
        <p:spPr>
          <a:xfrm>
            <a:off x="382250" y="1825625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Number of Parameters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GPT-3: 175B (2020)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LLAMA4: 400B (2025)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Gemini Nano: 3.25B (2023)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DeepSeekR1: 671B (2025)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Grok: 314B (2023)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Training Size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GPT-3: 300B Tokens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LLAMA4: 40T Tokens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○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Claude: 400B Tokens 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6" name="Google Shape;136;g3be4a20049a_0_1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316fd8c9d_0_99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GPT3</a:t>
            </a:r>
            <a:endParaRPr/>
          </a:p>
        </p:txBody>
      </p:sp>
      <p:sp>
        <p:nvSpPr>
          <p:cNvPr id="143" name="Google Shape;143;g39316fd8c9d_0_99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9316fd8c9d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2071850"/>
            <a:ext cx="93154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e4a20049a_0_31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Tokens</a:t>
            </a:r>
            <a:endParaRPr/>
          </a:p>
        </p:txBody>
      </p:sp>
      <p:sp>
        <p:nvSpPr>
          <p:cNvPr id="151" name="Google Shape;151;g3be4a20049a_0_31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be4a20049a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00" y="1756125"/>
            <a:ext cx="10549025" cy="41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e4a20049a_0_15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Embedding</a:t>
            </a:r>
            <a:endParaRPr/>
          </a:p>
        </p:txBody>
      </p:sp>
      <p:sp>
        <p:nvSpPr>
          <p:cNvPr id="159" name="Google Shape;159;g3be4a20049a_0_15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be4a20049a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350" y="1543875"/>
            <a:ext cx="5391224" cy="48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e4a20049a_0_203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Embedding</a:t>
            </a:r>
            <a:endParaRPr/>
          </a:p>
        </p:txBody>
      </p:sp>
      <p:sp>
        <p:nvSpPr>
          <p:cNvPr id="167" name="Google Shape;167;g3be4a20049a_0_203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be4a20049a_0_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351" y="1543875"/>
            <a:ext cx="5391225" cy="4559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e4a20049a_0_191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Embedding</a:t>
            </a:r>
            <a:endParaRPr/>
          </a:p>
        </p:txBody>
      </p:sp>
      <p:sp>
        <p:nvSpPr>
          <p:cNvPr id="175" name="Google Shape;175;g3be4a20049a_0_191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3be4a20049a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500" y="1670050"/>
            <a:ext cx="6576993" cy="48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e4a20049a_0_52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Multi Head Attention</a:t>
            </a:r>
            <a:endParaRPr/>
          </a:p>
        </p:txBody>
      </p:sp>
      <p:sp>
        <p:nvSpPr>
          <p:cNvPr id="183" name="Google Shape;183;g3be4a20049a_0_52"/>
          <p:cNvSpPr txBox="1"/>
          <p:nvPr>
            <p:ph idx="1" type="body"/>
          </p:nvPr>
        </p:nvSpPr>
        <p:spPr>
          <a:xfrm>
            <a:off x="382250" y="1825625"/>
            <a:ext cx="48132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</a:t>
            </a:r>
            <a:r>
              <a:rPr lang="en-US">
                <a:highlight>
                  <a:schemeClr val="accent1"/>
                </a:highlight>
                <a:latin typeface="Avenir"/>
                <a:ea typeface="Avenir"/>
                <a:cs typeface="Avenir"/>
                <a:sym typeface="Avenir"/>
              </a:rPr>
              <a:t>quick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>
                <a:highlight>
                  <a:schemeClr val="accent1"/>
                </a:highlight>
                <a:latin typeface="Avenir"/>
                <a:ea typeface="Avenir"/>
                <a:cs typeface="Avenir"/>
                <a:sym typeface="Avenir"/>
              </a:rPr>
              <a:t>brown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>
                <a:highlight>
                  <a:schemeClr val="accent3"/>
                </a:highlight>
                <a:latin typeface="Avenir"/>
                <a:ea typeface="Avenir"/>
                <a:cs typeface="Avenir"/>
                <a:sym typeface="Avenir"/>
              </a:rPr>
              <a:t>fox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>
                <a:highlight>
                  <a:schemeClr val="accent2"/>
                </a:highlight>
                <a:latin typeface="Avenir"/>
                <a:ea typeface="Avenir"/>
                <a:cs typeface="Avenir"/>
                <a:sym typeface="Avenir"/>
              </a:rPr>
              <a:t>jumps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>
                <a:highlight>
                  <a:schemeClr val="accent4"/>
                </a:highlight>
                <a:latin typeface="Avenir"/>
                <a:ea typeface="Avenir"/>
                <a:cs typeface="Avenir"/>
                <a:sym typeface="Avenir"/>
              </a:rPr>
              <a:t>over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the </a:t>
            </a:r>
            <a:r>
              <a:rPr lang="en-US">
                <a:highlight>
                  <a:schemeClr val="accent1"/>
                </a:highlight>
                <a:latin typeface="Avenir"/>
                <a:ea typeface="Avenir"/>
                <a:cs typeface="Avenir"/>
                <a:sym typeface="Avenir"/>
              </a:rPr>
              <a:t>lazy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>
                <a:highlight>
                  <a:schemeClr val="accent3"/>
                </a:highlight>
                <a:latin typeface="Avenir"/>
                <a:ea typeface="Avenir"/>
                <a:cs typeface="Avenir"/>
                <a:sym typeface="Avenir"/>
              </a:rPr>
              <a:t>dog</a:t>
            </a:r>
            <a:endParaRPr>
              <a:highlight>
                <a:schemeClr val="accent3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4" name="Google Shape;184;g3be4a20049a_0_52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be4a20049a_0_52"/>
          <p:cNvPicPr preferRelativeResize="0"/>
          <p:nvPr/>
        </p:nvPicPr>
        <p:blipFill rotWithShape="1">
          <a:blip r:embed="rId3">
            <a:alphaModFix/>
          </a:blip>
          <a:srcRect b="0" l="8908" r="0" t="5159"/>
          <a:stretch/>
        </p:blipFill>
        <p:spPr>
          <a:xfrm>
            <a:off x="5725400" y="1473125"/>
            <a:ext cx="5846539" cy="518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316fd8c9d_0_89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GPT3</a:t>
            </a:r>
            <a:endParaRPr/>
          </a:p>
        </p:txBody>
      </p:sp>
      <p:sp>
        <p:nvSpPr>
          <p:cNvPr id="192" name="Google Shape;192;g39316fd8c9d_0_89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9316fd8c9d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2071850"/>
            <a:ext cx="93154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