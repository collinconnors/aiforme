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Play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BprMbv5B/w8iL/HcfozVJC5sq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15B453-4DE4-4B44-9B63-D1D8D7DACEB6}">
  <a:tblStyle styleId="{8115B453-4DE4-4B44-9B63-D1D8D7DACEB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lay-bold.fntdata"/><Relationship Id="rId23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d4ca9d3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6d4ca9d3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 the Origin of Species: https://en.wikipedia.org/wiki/On_the_Origin_of_Species</a:t>
            </a:r>
            <a:endParaRPr/>
          </a:p>
        </p:txBody>
      </p:sp>
      <p:sp>
        <p:nvSpPr>
          <p:cNvPr id="87" name="Google Shape;87;g36d4ca9d3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2c1b04a4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92c1b04a4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8" name="Google Shape;98;g392c1b04a4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b8d30b041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9b8d30b041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9" name="Google Shape;109;g39b8d30b041_0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2ca3d802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b12ca3d802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1" name="Google Shape;121;g3b12ca3d802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8d30b041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9b8d30b041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3" name="Google Shape;133;g39b8d30b041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2ca3d802_0_1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b12ca3d802_0_1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1" name="Google Shape;141;g3b12ca3d802_0_1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12ca3d802_0_1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b12ca3d802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9" name="Google Shape;149;g3b12ca3d802_0_1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12ca3d802_0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b12ca3d802_0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57" name="Google Shape;157;g3b12ca3d802_0_1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12ca3d802_0_1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b12ca3d802_0_1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65" name="Google Shape;165;g3b12ca3d802_0_1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12ca3d802_0_1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b12ca3d802_0_1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4" name="Google Shape;174;g3b12ca3d802_0_1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12ca3d802_0_2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g3b12ca3d802_0_2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4" name="Google Shape;184;g3b12ca3d802_0_2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12ca3d802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b12ca3d802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2" name="Google Shape;192;g3b12ca3d802_0_1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12ca3d802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b12ca3d802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1" name="Google Shape;201;g3b12ca3d802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12ca3d802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b12ca3d802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0.0, 0.0]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0.0, 0.0]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0.0, 0.0]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[0.1, 0.1,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1 — Total Error: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1, Actual: 0, Error: 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0.1,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1, Actual: 0, Error: 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0.1, 0.0]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0.1, 0.0]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2 — Total Error: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[0.0,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1, Actual: 0, Error: 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1, Actual: 0, Error: 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0.1, 0.0]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3 — Total Error: 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4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1, Actual: 0, Error: 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0.1,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0, Actual: 1, Error: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0.2]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4 — Total Error: 2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5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[-0.1, 0.2, 0.2]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1, Actual: 0, Error: -1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1, Actual: 1,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5 — Total Error: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6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[0, 1],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0], Predicted: 0, Actual: 0,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Inputs: [1, 1], Predicted: 1, Actual: 1,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Updated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Epoch 6 — Total Error: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Final predictions: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[0, 0] -&gt;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[0, 1] -&gt;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[1, 0] -&gt; 0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[1, 1] -&gt;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Final weights: [-0.2, 0.2, 0.1]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9" name="Google Shape;209;g3b12ca3d802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12ca3d802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b12ca3d802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7" name="Google Shape;217;g3b12ca3d802_0_2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b12ca3d802_0_2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b12ca3d802_0_2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https://en.wikipedia.org/wiki/Activation_function</a:t>
            </a:r>
            <a:endParaRPr/>
          </a:p>
        </p:txBody>
      </p:sp>
      <p:sp>
        <p:nvSpPr>
          <p:cNvPr id="225" name="Google Shape;225;g3b12ca3d802_0_2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2c1b04a4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92c1b04a4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3" name="Google Shape;233;g392c1b04a4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d4ca9d3d1_0_26"/>
          <p:cNvSpPr txBox="1"/>
          <p:nvPr>
            <p:ph type="ctrTitle"/>
          </p:nvPr>
        </p:nvSpPr>
        <p:spPr>
          <a:xfrm>
            <a:off x="-133450" y="341700"/>
            <a:ext cx="98340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On the Origin of Perceptrons</a:t>
            </a:r>
            <a:endParaRPr/>
          </a:p>
        </p:txBody>
      </p:sp>
      <p:sp>
        <p:nvSpPr>
          <p:cNvPr id="90" name="Google Shape;90;g36d4ca9d3d1_0_26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6d4ca9d3d1_0_26"/>
          <p:cNvSpPr txBox="1"/>
          <p:nvPr/>
        </p:nvSpPr>
        <p:spPr>
          <a:xfrm>
            <a:off x="3906975" y="1723375"/>
            <a:ext cx="68655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i="1" lang="en-US" sz="1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If we are eventually to understand the capability of higher organisms for perceptual recognition, generalization, recall, and thinking, we must first have answers to three fundamental questions: (1) how is information about the physical world sensed, or detected, by the biological system; (2) in what form is information stored, or remembered; and (3) how does information contained in storage, or in memory, influence recognition and behavior?</a:t>
            </a:r>
            <a:endParaRPr b="0" i="0" sz="16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- 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FRANK ROSENBLATT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(195</a:t>
            </a:r>
            <a:r>
              <a:rPr b="1" lang="en-US" sz="17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7</a:t>
            </a:r>
            <a:r>
              <a:rPr b="1" i="0" lang="en-US" sz="17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)</a:t>
            </a:r>
            <a:endParaRPr b="1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6d4ca9d3d1_0_26"/>
          <p:cNvSpPr txBox="1"/>
          <p:nvPr/>
        </p:nvSpPr>
        <p:spPr>
          <a:xfrm>
            <a:off x="3425530" y="4102008"/>
            <a:ext cx="6102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This lecture explores the core principles of </a:t>
            </a:r>
            <a:r>
              <a:rPr lang="en-US" sz="1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the perceptron. We will understand the basic structure of the perceptron and cover a simple example to understand how machines learn.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g36d4ca9d3d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30750" y="6020300"/>
            <a:ext cx="675450" cy="53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g36d4ca9d3d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2500" y="4061432"/>
            <a:ext cx="2931000" cy="1281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2c1b04a4f_0_0"/>
          <p:cNvSpPr txBox="1"/>
          <p:nvPr>
            <p:ph type="title"/>
          </p:nvPr>
        </p:nvSpPr>
        <p:spPr>
          <a:xfrm>
            <a:off x="3051312" y="365125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Rosenblatt and The Perceptron – 1957</a:t>
            </a:r>
            <a:endParaRPr/>
          </a:p>
        </p:txBody>
      </p:sp>
      <p:sp>
        <p:nvSpPr>
          <p:cNvPr id="101" name="Google Shape;101;g392c1b04a4f_0_0"/>
          <p:cNvSpPr txBox="1"/>
          <p:nvPr>
            <p:ph idx="1" type="body"/>
          </p:nvPr>
        </p:nvSpPr>
        <p:spPr>
          <a:xfrm>
            <a:off x="465375" y="1825625"/>
            <a:ext cx="63579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Based on work by McCulloch and Pitts “Artificial Neuron”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Three Components: 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-2921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 sz="2800">
                <a:latin typeface="Avenir"/>
                <a:ea typeface="Avenir"/>
                <a:cs typeface="Avenir"/>
                <a:sym typeface="Avenir"/>
              </a:rPr>
              <a:t>Sensory units - receive optical input</a:t>
            </a:r>
            <a:endParaRPr sz="2800">
              <a:latin typeface="Avenir"/>
              <a:ea typeface="Avenir"/>
              <a:cs typeface="Avenir"/>
              <a:sym typeface="Avenir"/>
            </a:endParaRPr>
          </a:p>
          <a:p>
            <a:pPr indent="-2921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 sz="2800">
                <a:latin typeface="Avenir"/>
                <a:ea typeface="Avenir"/>
                <a:cs typeface="Avenir"/>
                <a:sym typeface="Avenir"/>
              </a:rPr>
              <a:t>Association units - fire based on input from the sensory units</a:t>
            </a:r>
            <a:endParaRPr sz="2800">
              <a:latin typeface="Avenir"/>
              <a:ea typeface="Avenir"/>
              <a:cs typeface="Avenir"/>
              <a:sym typeface="Avenir"/>
            </a:endParaRPr>
          </a:p>
          <a:p>
            <a:pPr indent="-292100" lvl="1" marL="685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 sz="2800">
                <a:latin typeface="Avenir"/>
                <a:ea typeface="Avenir"/>
                <a:cs typeface="Avenir"/>
                <a:sym typeface="Avenir"/>
              </a:rPr>
              <a:t>Response units-  fire based on input from association units</a:t>
            </a:r>
            <a:endParaRPr sz="2800"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4200">
              <a:latin typeface="Avenir"/>
              <a:ea typeface="Avenir"/>
              <a:cs typeface="Avenir"/>
              <a:sym typeface="Avenir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2" name="Google Shape;102;g392c1b04a4f_0_0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392c1b04a4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7250" y="1342113"/>
            <a:ext cx="4618800" cy="22068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pic>
        <p:nvPicPr>
          <p:cNvPr id="104" name="Google Shape;104;g392c1b04a4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68425" y="3687913"/>
            <a:ext cx="2381400" cy="292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05" name="Google Shape;105;g392c1b04a4f_0_0"/>
          <p:cNvPicPr preferRelativeResize="0"/>
          <p:nvPr/>
        </p:nvPicPr>
        <p:blipFill rotWithShape="1">
          <a:blip r:embed="rId5">
            <a:alphaModFix/>
          </a:blip>
          <a:srcRect b="0" l="17525" r="0" t="0"/>
          <a:stretch/>
        </p:blipFill>
        <p:spPr>
          <a:xfrm>
            <a:off x="1249200" y="365125"/>
            <a:ext cx="1394400" cy="13257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b8d30b041_0_22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</a:t>
            </a:r>
            <a:endParaRPr/>
          </a:p>
        </p:txBody>
      </p:sp>
      <p:sp>
        <p:nvSpPr>
          <p:cNvPr id="112" name="Google Shape;112;g39b8d30b041_0_22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g39b8d30b041_0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4875" y="1655200"/>
            <a:ext cx="8639600" cy="459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9b8d30b041_0_22"/>
          <p:cNvSpPr txBox="1"/>
          <p:nvPr/>
        </p:nvSpPr>
        <p:spPr>
          <a:xfrm>
            <a:off x="2337950" y="2545800"/>
            <a:ext cx="9768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Input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15" name="Google Shape;115;g39b8d30b041_0_22"/>
          <p:cNvSpPr txBox="1"/>
          <p:nvPr/>
        </p:nvSpPr>
        <p:spPr>
          <a:xfrm>
            <a:off x="3761525" y="1655200"/>
            <a:ext cx="22029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Weights</a:t>
            </a:r>
            <a:r>
              <a:rPr lang="en-US" sz="2800">
                <a:solidFill>
                  <a:schemeClr val="lt1"/>
                </a:solidFill>
              </a:rPr>
              <a:t> &amp; Bias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16" name="Google Shape;116;g39b8d30b041_0_22"/>
          <p:cNvSpPr txBox="1"/>
          <p:nvPr/>
        </p:nvSpPr>
        <p:spPr>
          <a:xfrm>
            <a:off x="7325575" y="2732825"/>
            <a:ext cx="1749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Activation Function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17" name="Google Shape;117;g39b8d30b041_0_22"/>
          <p:cNvSpPr txBox="1"/>
          <p:nvPr/>
        </p:nvSpPr>
        <p:spPr>
          <a:xfrm>
            <a:off x="9074875" y="2805500"/>
            <a:ext cx="1378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Output Layer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2ca3d802_0_123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</a:t>
            </a:r>
            <a:endParaRPr/>
          </a:p>
        </p:txBody>
      </p:sp>
      <p:sp>
        <p:nvSpPr>
          <p:cNvPr id="124" name="Google Shape;124;g3b12ca3d802_0_123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g3b12ca3d802_0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8863" y="2158500"/>
            <a:ext cx="6573224" cy="348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b12ca3d802_0_123"/>
          <p:cNvSpPr txBox="1"/>
          <p:nvPr/>
        </p:nvSpPr>
        <p:spPr>
          <a:xfrm>
            <a:off x="3148475" y="2065000"/>
            <a:ext cx="9768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Input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27" name="Google Shape;127;g3b12ca3d802_0_123"/>
          <p:cNvSpPr txBox="1"/>
          <p:nvPr/>
        </p:nvSpPr>
        <p:spPr>
          <a:xfrm>
            <a:off x="4333000" y="2268250"/>
            <a:ext cx="15897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Weights &amp; Bias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28" name="Google Shape;128;g3b12ca3d802_0_123"/>
          <p:cNvSpPr txBox="1"/>
          <p:nvPr/>
        </p:nvSpPr>
        <p:spPr>
          <a:xfrm>
            <a:off x="6078675" y="4509675"/>
            <a:ext cx="17493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Activation Function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29" name="Google Shape;129;g3b12ca3d802_0_123"/>
          <p:cNvSpPr txBox="1"/>
          <p:nvPr/>
        </p:nvSpPr>
        <p:spPr>
          <a:xfrm>
            <a:off x="7038275" y="2400250"/>
            <a:ext cx="13785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Output Layer</a:t>
            </a:r>
            <a:endParaRPr sz="2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b8d30b041_0_29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36" name="Google Shape;136;g39b8d30b041_0_29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7" name="Google Shape;137;g39b8d30b041_0_29"/>
          <p:cNvGraphicFramePr/>
          <p:nvPr/>
        </p:nvGraphicFramePr>
        <p:xfrm>
          <a:off x="1361888" y="205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{8115B453-4DE4-4B44-9B63-D1D8D7DACEB6}</a:tableStyleId>
              </a:tblPr>
              <a:tblGrid>
                <a:gridCol w="3156075"/>
                <a:gridCol w="3156075"/>
                <a:gridCol w="3156075"/>
              </a:tblGrid>
              <a:tr h="136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t/>
                      </a:r>
                      <a:endParaRPr sz="26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A is </a:t>
                      </a:r>
                      <a:r>
                        <a:rPr b="1" lang="en-US" sz="2600" u="none" cap="none" strike="noStrike">
                          <a:solidFill>
                            <a:schemeClr val="accent3"/>
                          </a:solidFill>
                        </a:rPr>
                        <a:t>TRUE</a:t>
                      </a:r>
                      <a:endParaRPr b="1"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A is </a:t>
                      </a:r>
                      <a:r>
                        <a:rPr b="1" lang="en-US" sz="2600" u="none" cap="none" strike="noStrike">
                          <a:solidFill>
                            <a:srgbClr val="FF0000"/>
                          </a:solidFill>
                        </a:rPr>
                        <a:t>FALSE</a:t>
                      </a:r>
                      <a:endParaRPr b="1"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B is </a:t>
                      </a:r>
                      <a:r>
                        <a:rPr b="1" lang="en-US" sz="2600" u="none" cap="none" strike="noStrike">
                          <a:solidFill>
                            <a:schemeClr val="accent3"/>
                          </a:solidFill>
                        </a:rPr>
                        <a:t>TRUE</a:t>
                      </a:r>
                      <a:endParaRPr b="1"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accent3"/>
                          </a:solidFill>
                        </a:rPr>
                        <a:t>TRUE</a:t>
                      </a:r>
                      <a:endParaRPr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FALSE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B is </a:t>
                      </a:r>
                      <a:r>
                        <a:rPr b="1" lang="en-US" sz="2600" u="none" cap="none" strike="noStrike">
                          <a:solidFill>
                            <a:srgbClr val="FF0000"/>
                          </a:solidFill>
                        </a:rPr>
                        <a:t>FALSE</a:t>
                      </a:r>
                      <a:endParaRPr b="1"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FALSE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FALSE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12ca3d802_0_132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44" name="Google Shape;144;g3b12ca3d802_0_132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5" name="Google Shape;145;g3b12ca3d802_0_132"/>
          <p:cNvGraphicFramePr/>
          <p:nvPr/>
        </p:nvGraphicFramePr>
        <p:xfrm>
          <a:off x="1361888" y="205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{8115B453-4DE4-4B44-9B63-D1D8D7DACEB6}</a:tableStyleId>
              </a:tblPr>
              <a:tblGrid>
                <a:gridCol w="3156075"/>
                <a:gridCol w="3156075"/>
                <a:gridCol w="3156075"/>
              </a:tblGrid>
              <a:tr h="136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t/>
                      </a:r>
                      <a:endParaRPr sz="26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A is </a:t>
                      </a:r>
                      <a:r>
                        <a:rPr b="1" lang="en-US" sz="2600" u="none" cap="none" strike="noStrike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A is </a:t>
                      </a:r>
                      <a:r>
                        <a:rPr b="1"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b="1"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B is </a:t>
                      </a:r>
                      <a:r>
                        <a:rPr b="1" lang="en-US" sz="2600" u="none" cap="none" strike="noStrike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1365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/>
                        <a:t>B is </a:t>
                      </a:r>
                      <a:r>
                        <a:rPr b="1"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b="1"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12ca3d802_0_139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52" name="Google Shape;152;g3b12ca3d802_0_139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3" name="Google Shape;153;g3b12ca3d802_0_139"/>
          <p:cNvGraphicFramePr/>
          <p:nvPr/>
        </p:nvGraphicFramePr>
        <p:xfrm>
          <a:off x="2078675" y="165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{8115B453-4DE4-4B44-9B63-D1D8D7DACEB6}</a:tableStyleId>
              </a:tblPr>
              <a:tblGrid>
                <a:gridCol w="2348400"/>
                <a:gridCol w="2348400"/>
                <a:gridCol w="2348400"/>
              </a:tblGrid>
              <a:tr h="97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A</a:t>
                      </a:r>
                      <a:endParaRPr b="1" sz="2600" u="none" cap="none" strike="noStrike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B</a:t>
                      </a:r>
                      <a:endParaRPr b="1"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b="1" lang="en-US" sz="2600" u="none" cap="none" strike="noStrike"/>
                        <a:t>A AND B</a:t>
                      </a:r>
                      <a:endParaRPr b="1"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accent3"/>
                          </a:solidFill>
                        </a:rPr>
                        <a:t>1</a:t>
                      </a:r>
                      <a:endParaRPr sz="2600" u="none" cap="none" strike="noStrike">
                        <a:solidFill>
                          <a:schemeClr val="accent3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t/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chemeClr val="accent3"/>
                          </a:solidFill>
                        </a:rPr>
                        <a:t>1</a:t>
                      </a:r>
                      <a:endParaRPr b="1" sz="2600" u="none" cap="none" strike="noStrike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  <a:tr h="977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600"/>
                        <a:buFont typeface="Arial"/>
                        <a:buNone/>
                      </a:pPr>
                      <a:r>
                        <a:rPr lang="en-US" sz="26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26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12ca3d802_0_160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60" name="Google Shape;160;g3b12ca3d802_0_16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g3b12ca3d802_0_1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988" y="1807600"/>
            <a:ext cx="9676026" cy="435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12ca3d802_0_168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68" name="Google Shape;168;g3b12ca3d802_0_168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b12ca3d802_0_1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900" y="1655200"/>
            <a:ext cx="8820775" cy="44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b12ca3d802_0_168"/>
          <p:cNvSpPr/>
          <p:nvPr/>
        </p:nvSpPr>
        <p:spPr>
          <a:xfrm>
            <a:off x="8497125" y="2906250"/>
            <a:ext cx="2055300" cy="2105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g3b12ca3d802_0_1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900" y="1655200"/>
            <a:ext cx="8820775" cy="44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12ca3d802_0_177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78" name="Google Shape;178;g3b12ca3d802_0_17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g3b12ca3d802_0_1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9900" y="1655203"/>
            <a:ext cx="9135453" cy="449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b12ca3d802_0_177"/>
          <p:cNvSpPr/>
          <p:nvPr/>
        </p:nvSpPr>
        <p:spPr>
          <a:xfrm>
            <a:off x="8689525" y="2941100"/>
            <a:ext cx="2055300" cy="2105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12ca3d802_0_206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87" name="Google Shape;187;g3b12ca3d802_0_206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g3b12ca3d802_0_2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902" y="1655200"/>
            <a:ext cx="8363046" cy="44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12ca3d802_0_187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195" name="Google Shape;195;g3b12ca3d802_0_18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g3b12ca3d802_0_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9902" y="1655200"/>
            <a:ext cx="8363046" cy="44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b12ca3d802_0_1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9902" y="1655202"/>
            <a:ext cx="8363050" cy="477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12ca3d802_0_214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204" name="Google Shape;204;g3b12ca3d802_0_214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g3b12ca3d802_0_2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251" y="1504825"/>
            <a:ext cx="9177524" cy="49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b12ca3d802_0_250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 Perceptron - Logical AND</a:t>
            </a:r>
            <a:endParaRPr/>
          </a:p>
        </p:txBody>
      </p:sp>
      <p:sp>
        <p:nvSpPr>
          <p:cNvPr id="212" name="Google Shape;212;g3b12ca3d802_0_25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g3b12ca3d802_0_2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251" y="1504825"/>
            <a:ext cx="9177524" cy="495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12ca3d802_0_237"/>
          <p:cNvSpPr txBox="1"/>
          <p:nvPr>
            <p:ph type="title"/>
          </p:nvPr>
        </p:nvSpPr>
        <p:spPr>
          <a:xfrm>
            <a:off x="1074062" y="329500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Things we choose</a:t>
            </a:r>
            <a:endParaRPr/>
          </a:p>
        </p:txBody>
      </p:sp>
      <p:sp>
        <p:nvSpPr>
          <p:cNvPr id="220" name="Google Shape;220;g3b12ca3d802_0_237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b12ca3d802_0_2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8300" y="1655200"/>
            <a:ext cx="8639600" cy="45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12ca3d802_0_260"/>
          <p:cNvSpPr txBox="1"/>
          <p:nvPr>
            <p:ph type="title"/>
          </p:nvPr>
        </p:nvSpPr>
        <p:spPr>
          <a:xfrm>
            <a:off x="1197999" y="329500"/>
            <a:ext cx="8978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Activation Function </a:t>
            </a:r>
            <a:endParaRPr/>
          </a:p>
        </p:txBody>
      </p:sp>
      <p:sp>
        <p:nvSpPr>
          <p:cNvPr id="228" name="Google Shape;228;g3b12ca3d802_0_260"/>
          <p:cNvSpPr/>
          <p:nvPr/>
        </p:nvSpPr>
        <p:spPr>
          <a:xfrm>
            <a:off x="0" y="0"/>
            <a:ext cx="4155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g3b12ca3d802_0_2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8213" y="1339700"/>
            <a:ext cx="7675568" cy="551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2c1b04a4f_0_10"/>
          <p:cNvSpPr txBox="1"/>
          <p:nvPr>
            <p:ph type="title"/>
          </p:nvPr>
        </p:nvSpPr>
        <p:spPr>
          <a:xfrm>
            <a:off x="3051312" y="365125"/>
            <a:ext cx="83025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venir"/>
              <a:buNone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Minsky and The Perceptron – 1969</a:t>
            </a:r>
            <a:endParaRPr/>
          </a:p>
        </p:txBody>
      </p:sp>
      <p:sp>
        <p:nvSpPr>
          <p:cNvPr id="236" name="Google Shape;236;g392c1b04a4f_0_10"/>
          <p:cNvSpPr txBox="1"/>
          <p:nvPr>
            <p:ph idx="1" type="body"/>
          </p:nvPr>
        </p:nvSpPr>
        <p:spPr>
          <a:xfrm>
            <a:off x="465375" y="1825625"/>
            <a:ext cx="6357900" cy="4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 sz="2800">
                <a:latin typeface="Avenir"/>
                <a:ea typeface="Avenir"/>
                <a:cs typeface="Avenir"/>
                <a:sym typeface="Avenir"/>
              </a:rPr>
              <a:t>“</a:t>
            </a:r>
            <a:r>
              <a:rPr lang="en-US">
                <a:latin typeface="Avenir"/>
                <a:ea typeface="Avenir"/>
                <a:cs typeface="Avenir"/>
                <a:sym typeface="Avenir"/>
              </a:rPr>
              <a:t>Perceptron” Marvin Minsky and Seymour Papert Perceptron (1969)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They showed that the Perceptron had significant weaknesses (XOR Problem)</a:t>
            </a:r>
            <a:endParaRPr>
              <a:latin typeface="Avenir"/>
              <a:ea typeface="Avenir"/>
              <a:cs typeface="Avenir"/>
              <a:sym typeface="Avenir"/>
            </a:endParaRPr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Avenir"/>
              <a:ea typeface="Avenir"/>
              <a:cs typeface="Avenir"/>
              <a:sym typeface="Avenir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venir"/>
              <a:buChar char="•"/>
            </a:pPr>
            <a:r>
              <a:rPr lang="en-US">
                <a:latin typeface="Avenir"/>
                <a:ea typeface="Avenir"/>
                <a:cs typeface="Avenir"/>
                <a:sym typeface="Avenir"/>
              </a:rPr>
              <a:t>Training the Perceptron was impractical for many real problems</a:t>
            </a:r>
            <a:endParaRPr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37" name="Google Shape;237;g392c1b04a4f_0_10"/>
          <p:cNvSpPr/>
          <p:nvPr/>
        </p:nvSpPr>
        <p:spPr>
          <a:xfrm>
            <a:off x="971613" y="364988"/>
            <a:ext cx="1523700" cy="13257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92c1b04a4f_0_10"/>
          <p:cNvSpPr/>
          <p:nvPr/>
        </p:nvSpPr>
        <p:spPr>
          <a:xfrm>
            <a:off x="0" y="0"/>
            <a:ext cx="161400" cy="6858000"/>
          </a:xfrm>
          <a:prstGeom prst="rect">
            <a:avLst/>
          </a:prstGeom>
          <a:gradFill>
            <a:gsLst>
              <a:gs pos="0">
                <a:srgbClr val="F47321"/>
              </a:gs>
              <a:gs pos="87000">
                <a:srgbClr val="005030"/>
              </a:gs>
              <a:gs pos="100000">
                <a:srgbClr val="005030"/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g392c1b04a4f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36900" y="1690688"/>
            <a:ext cx="4862400" cy="4862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pic>
      <p:sp>
        <p:nvSpPr>
          <p:cNvPr id="240" name="Google Shape;240;g392c1b04a4f_0_10"/>
          <p:cNvSpPr/>
          <p:nvPr/>
        </p:nvSpPr>
        <p:spPr>
          <a:xfrm>
            <a:off x="7633125" y="3959225"/>
            <a:ext cx="483000" cy="6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92c1b04a4f_0_10"/>
          <p:cNvSpPr/>
          <p:nvPr/>
        </p:nvSpPr>
        <p:spPr>
          <a:xfrm>
            <a:off x="8558200" y="5687200"/>
            <a:ext cx="1819800" cy="63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92c1b04a4f_0_10"/>
          <p:cNvSpPr/>
          <p:nvPr/>
        </p:nvSpPr>
        <p:spPr>
          <a:xfrm>
            <a:off x="8230064" y="3261071"/>
            <a:ext cx="2621725" cy="2320950"/>
          </a:xfrm>
          <a:custGeom>
            <a:rect b="b" l="l" r="r" t="t"/>
            <a:pathLst>
              <a:path extrusionOk="0" h="92838" w="104869">
                <a:moveTo>
                  <a:pt x="98623" y="6441"/>
                </a:moveTo>
                <a:cubicBezTo>
                  <a:pt x="95201" y="6441"/>
                  <a:pt x="92952" y="2507"/>
                  <a:pt x="89775" y="1236"/>
                </a:cubicBezTo>
                <a:cubicBezTo>
                  <a:pt x="85101" y="-634"/>
                  <a:pt x="79665" y="2"/>
                  <a:pt x="74681" y="715"/>
                </a:cubicBezTo>
                <a:cubicBezTo>
                  <a:pt x="64718" y="2139"/>
                  <a:pt x="55009" y="15309"/>
                  <a:pt x="56985" y="25177"/>
                </a:cubicBezTo>
                <a:cubicBezTo>
                  <a:pt x="59294" y="36711"/>
                  <a:pt x="75906" y="39168"/>
                  <a:pt x="85091" y="46517"/>
                </a:cubicBezTo>
                <a:cubicBezTo>
                  <a:pt x="93598" y="53324"/>
                  <a:pt x="104869" y="61645"/>
                  <a:pt x="104869" y="72540"/>
                </a:cubicBezTo>
                <a:cubicBezTo>
                  <a:pt x="104869" y="76439"/>
                  <a:pt x="101867" y="80266"/>
                  <a:pt x="98623" y="82429"/>
                </a:cubicBezTo>
                <a:cubicBezTo>
                  <a:pt x="88804" y="88977"/>
                  <a:pt x="73350" y="87463"/>
                  <a:pt x="63231" y="81388"/>
                </a:cubicBezTo>
                <a:cubicBezTo>
                  <a:pt x="55003" y="76448"/>
                  <a:pt x="52480" y="64850"/>
                  <a:pt x="44494" y="59528"/>
                </a:cubicBezTo>
                <a:cubicBezTo>
                  <a:pt x="37953" y="55169"/>
                  <a:pt x="30342" y="52223"/>
                  <a:pt x="22634" y="50680"/>
                </a:cubicBezTo>
                <a:cubicBezTo>
                  <a:pt x="7755" y="47701"/>
                  <a:pt x="-8631" y="87206"/>
                  <a:pt x="5459" y="92838"/>
                </a:cubicBezTo>
              </a:path>
            </a:pathLst>
          </a:custGeom>
          <a:noFill/>
          <a:ln cap="flat" cmpd="sng" w="762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2025-07-05T12:48:20Z</dcterms:created>
  <dc:creator>Connors, Collin Dey</dc:creator>
</cp:coreProperties>
</file>