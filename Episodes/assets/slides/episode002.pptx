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92000"/>
  <p:notesSz cx="6858000" cy="9144000"/>
  <p:embeddedFontLst>
    <p:embeddedFont>
      <p:font typeface="Play"/>
      <p:regular r:id="rId13"/>
      <p:bold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iO7AcZVHRsS8ZXV6tfpZ65KOmt1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Play-regular.fntdata"/><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customschemas.google.com/relationships/presentationmetadata" Target="metadata"/><Relationship Id="rId14" Type="http://schemas.openxmlformats.org/officeDocument/2006/relationships/font" Target="fonts/Play-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i.it.miami.edu/ai-tools/index.html#known-ai-tools"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i.it.miami.edu/ai-tools/index.html#known-ai-tools"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i.it.miami.edu/ai-tools/index.html#known-ai-tools" TargetMode="External"/><Relationship Id="rId3" Type="http://schemas.openxmlformats.org/officeDocument/2006/relationships/hyperlink" Target="http://otter.ai"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pilot.microsoft.com/"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emini.google.com/"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emini.google.com/"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d4ca9d3d1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36d4ca9d3d1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t>Athens Innovation Summit 2025 - </a:t>
            </a:r>
            <a:r>
              <a:rPr lang="en-US"/>
              <a:t>https://www.youtube.com/watch?v=RmZlMYmWlJU</a:t>
            </a:r>
            <a:endParaRPr/>
          </a:p>
          <a:p>
            <a:pPr indent="0" lvl="0" marL="0" rtl="0" algn="l">
              <a:lnSpc>
                <a:spcPct val="100000"/>
              </a:lnSpc>
              <a:spcBef>
                <a:spcPts val="0"/>
              </a:spcBef>
              <a:spcAft>
                <a:spcPts val="0"/>
              </a:spcAft>
              <a:buClr>
                <a:schemeClr val="dk1"/>
              </a:buClr>
              <a:buSzPts val="1400"/>
              <a:buFont typeface="Arial"/>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87" name="Google Shape;87;g36d4ca9d3d1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63ac02c75a_1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g363ac02c75a_1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UM AI Tools: </a:t>
            </a:r>
            <a:r>
              <a:rPr lang="en-US" u="sng">
                <a:solidFill>
                  <a:schemeClr val="hlink"/>
                </a:solidFill>
                <a:hlinkClick r:id="rId2"/>
              </a:rPr>
              <a:t>https://ai.it.miami.edu/ai-tools/index.html#known-ai-tools</a:t>
            </a:r>
            <a:endParaRPr/>
          </a:p>
          <a:p>
            <a:pPr indent="-317500" lvl="0" marL="457200" rtl="0" algn="l">
              <a:lnSpc>
                <a:spcPct val="100000"/>
              </a:lnSpc>
              <a:spcBef>
                <a:spcPts val="1200"/>
              </a:spcBef>
              <a:spcAft>
                <a:spcPts val="0"/>
              </a:spcAft>
              <a:buSzPts val="1400"/>
              <a:buChar char="●"/>
            </a:pPr>
            <a:r>
              <a:rPr lang="en-US"/>
              <a:t>Copilot on the Web</a:t>
            </a:r>
            <a:endParaRPr/>
          </a:p>
          <a:p>
            <a:pPr indent="-317500" lvl="0" marL="457200" rtl="0" algn="l">
              <a:lnSpc>
                <a:spcPct val="100000"/>
              </a:lnSpc>
              <a:spcBef>
                <a:spcPts val="0"/>
              </a:spcBef>
              <a:spcAft>
                <a:spcPts val="0"/>
              </a:spcAft>
              <a:buSzPts val="1400"/>
              <a:buChar char="●"/>
            </a:pPr>
            <a:r>
              <a:rPr lang="en-US"/>
              <a:t>Copilot for Microsoft 365</a:t>
            </a:r>
            <a:endParaRPr/>
          </a:p>
          <a:p>
            <a:pPr indent="-317500" lvl="0" marL="457200" rtl="0" algn="l">
              <a:lnSpc>
                <a:spcPct val="100000"/>
              </a:lnSpc>
              <a:spcBef>
                <a:spcPts val="0"/>
              </a:spcBef>
              <a:spcAft>
                <a:spcPts val="0"/>
              </a:spcAft>
              <a:buSzPts val="1400"/>
              <a:buChar char="●"/>
            </a:pPr>
            <a:r>
              <a:rPr lang="en-US"/>
              <a:t>Gemini</a:t>
            </a:r>
            <a:endParaRPr/>
          </a:p>
          <a:p>
            <a:pPr indent="-317500" lvl="0" marL="457200" rtl="0" algn="l">
              <a:lnSpc>
                <a:spcPct val="100000"/>
              </a:lnSpc>
              <a:spcBef>
                <a:spcPts val="0"/>
              </a:spcBef>
              <a:spcAft>
                <a:spcPts val="0"/>
              </a:spcAft>
              <a:buSzPts val="1400"/>
              <a:buChar char="●"/>
            </a:pPr>
            <a:r>
              <a:rPr lang="en-US"/>
              <a:t>Adobe Firefly</a:t>
            </a:r>
            <a:endParaRPr/>
          </a:p>
          <a:p>
            <a:pPr indent="-317500" lvl="0" marL="457200" rtl="0" algn="l">
              <a:lnSpc>
                <a:spcPct val="100000"/>
              </a:lnSpc>
              <a:spcBef>
                <a:spcPts val="0"/>
              </a:spcBef>
              <a:spcAft>
                <a:spcPts val="0"/>
              </a:spcAft>
              <a:buSzPts val="1400"/>
              <a:buChar char="●"/>
            </a:pPr>
            <a:r>
              <a:rPr lang="en-US"/>
              <a:t>Apple Intelligence on Mac</a:t>
            </a:r>
            <a:endParaRPr/>
          </a:p>
          <a:p>
            <a:pPr indent="-317500" lvl="0" marL="457200" rtl="0" algn="l">
              <a:lnSpc>
                <a:spcPct val="100000"/>
              </a:lnSpc>
              <a:spcBef>
                <a:spcPts val="0"/>
              </a:spcBef>
              <a:spcAft>
                <a:spcPts val="0"/>
              </a:spcAft>
              <a:buSzPts val="1400"/>
              <a:buChar char="●"/>
            </a:pPr>
            <a:r>
              <a:rPr lang="en-US"/>
              <a:t>Help Me Write</a:t>
            </a:r>
            <a:endParaRPr/>
          </a:p>
        </p:txBody>
      </p:sp>
      <p:sp>
        <p:nvSpPr>
          <p:cNvPr id="98" name="Google Shape;98;g363ac02c75a_1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9f5473f643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g39f5473f643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UM AI Tools: </a:t>
            </a:r>
            <a:r>
              <a:rPr lang="en-US" u="sng">
                <a:solidFill>
                  <a:schemeClr val="hlink"/>
                </a:solidFill>
                <a:hlinkClick r:id="rId2"/>
              </a:rPr>
              <a:t>https://ai.it.miami.edu/ai-tools/index.html#known-ai-tools</a:t>
            </a:r>
            <a:endParaRPr/>
          </a:p>
          <a:p>
            <a:pPr indent="-317500" lvl="0" marL="457200" rtl="0" algn="l">
              <a:lnSpc>
                <a:spcPct val="100000"/>
              </a:lnSpc>
              <a:spcBef>
                <a:spcPts val="1200"/>
              </a:spcBef>
              <a:spcAft>
                <a:spcPts val="0"/>
              </a:spcAft>
              <a:buSzPts val="1400"/>
              <a:buChar char="●"/>
            </a:pPr>
            <a:r>
              <a:rPr lang="en-US"/>
              <a:t>ChatGPT</a:t>
            </a:r>
            <a:endParaRPr/>
          </a:p>
          <a:p>
            <a:pPr indent="-317500" lvl="0" marL="457200" rtl="0" algn="l">
              <a:lnSpc>
                <a:spcPct val="100000"/>
              </a:lnSpc>
              <a:spcBef>
                <a:spcPts val="0"/>
              </a:spcBef>
              <a:spcAft>
                <a:spcPts val="0"/>
              </a:spcAft>
              <a:buSzPts val="1400"/>
              <a:buChar char="●"/>
            </a:pPr>
            <a:r>
              <a:rPr lang="en-US"/>
              <a:t>Claude</a:t>
            </a:r>
            <a:endParaRPr/>
          </a:p>
          <a:p>
            <a:pPr indent="-317500" lvl="0" marL="457200" rtl="0" algn="l">
              <a:lnSpc>
                <a:spcPct val="100000"/>
              </a:lnSpc>
              <a:spcBef>
                <a:spcPts val="0"/>
              </a:spcBef>
              <a:spcAft>
                <a:spcPts val="0"/>
              </a:spcAft>
              <a:buSzPts val="1400"/>
              <a:buChar char="●"/>
            </a:pPr>
            <a:r>
              <a:rPr lang="en-US"/>
              <a:t>Elicit</a:t>
            </a:r>
            <a:endParaRPr/>
          </a:p>
          <a:p>
            <a:pPr indent="-317500" lvl="0" marL="457200" rtl="0" algn="l">
              <a:lnSpc>
                <a:spcPct val="100000"/>
              </a:lnSpc>
              <a:spcBef>
                <a:spcPts val="0"/>
              </a:spcBef>
              <a:spcAft>
                <a:spcPts val="0"/>
              </a:spcAft>
              <a:buSzPts val="1400"/>
              <a:buChar char="●"/>
            </a:pPr>
            <a:r>
              <a:rPr lang="en-US"/>
              <a:t>Sora</a:t>
            </a:r>
            <a:endParaRPr/>
          </a:p>
          <a:p>
            <a:pPr indent="-317500" lvl="0" marL="457200" rtl="0" algn="l">
              <a:lnSpc>
                <a:spcPct val="100000"/>
              </a:lnSpc>
              <a:spcBef>
                <a:spcPts val="0"/>
              </a:spcBef>
              <a:spcAft>
                <a:spcPts val="0"/>
              </a:spcAft>
              <a:buSzPts val="1400"/>
              <a:buChar char="●"/>
            </a:pPr>
            <a:r>
              <a:rPr lang="en-US"/>
              <a:t>Wordtune Spices</a:t>
            </a:r>
            <a:endParaRPr/>
          </a:p>
          <a:p>
            <a:pPr indent="-317500" lvl="0" marL="457200" rtl="0" algn="l">
              <a:lnSpc>
                <a:spcPct val="100000"/>
              </a:lnSpc>
              <a:spcBef>
                <a:spcPts val="0"/>
              </a:spcBef>
              <a:spcAft>
                <a:spcPts val="0"/>
              </a:spcAft>
              <a:buSzPts val="1400"/>
              <a:buChar char="●"/>
            </a:pPr>
            <a:r>
              <a:rPr lang="en-US"/>
              <a:t>Scite</a:t>
            </a:r>
            <a:endParaRPr/>
          </a:p>
        </p:txBody>
      </p:sp>
      <p:sp>
        <p:nvSpPr>
          <p:cNvPr id="111" name="Google Shape;111;g39f5473f643_0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9f5473f643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g39f5473f643_0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UM AI Tools: </a:t>
            </a:r>
            <a:r>
              <a:rPr lang="en-US" u="sng">
                <a:solidFill>
                  <a:schemeClr val="hlink"/>
                </a:solidFill>
                <a:hlinkClick r:id="rId2"/>
              </a:rPr>
              <a:t>https://ai.it.miami.edu/ai-tools/index.html#known-ai-tools</a:t>
            </a:r>
            <a:endParaRPr/>
          </a:p>
          <a:p>
            <a:pPr indent="-317500" lvl="0" marL="457200" rtl="0" algn="l">
              <a:lnSpc>
                <a:spcPct val="100000"/>
              </a:lnSpc>
              <a:spcBef>
                <a:spcPts val="1200"/>
              </a:spcBef>
              <a:spcAft>
                <a:spcPts val="0"/>
              </a:spcAft>
              <a:buSzPts val="1400"/>
              <a:buChar char="●"/>
            </a:pPr>
            <a:r>
              <a:rPr lang="en-US"/>
              <a:t>Deepseek</a:t>
            </a:r>
            <a:endParaRPr/>
          </a:p>
          <a:p>
            <a:pPr indent="-317500" lvl="0" marL="457200" rtl="0" algn="l">
              <a:lnSpc>
                <a:spcPct val="100000"/>
              </a:lnSpc>
              <a:spcBef>
                <a:spcPts val="0"/>
              </a:spcBef>
              <a:spcAft>
                <a:spcPts val="0"/>
              </a:spcAft>
              <a:buSzPts val="1400"/>
              <a:buChar char="●"/>
            </a:pPr>
            <a:r>
              <a:rPr lang="en-US" u="sng">
                <a:solidFill>
                  <a:schemeClr val="hlink"/>
                </a:solidFill>
                <a:hlinkClick r:id="rId3"/>
              </a:rPr>
              <a:t>Otter.ai</a:t>
            </a:r>
            <a:endParaRPr/>
          </a:p>
          <a:p>
            <a:pPr indent="-317500" lvl="0" marL="457200" rtl="0" algn="l">
              <a:lnSpc>
                <a:spcPct val="100000"/>
              </a:lnSpc>
              <a:spcBef>
                <a:spcPts val="0"/>
              </a:spcBef>
              <a:spcAft>
                <a:spcPts val="0"/>
              </a:spcAft>
              <a:buSzPts val="1400"/>
              <a:buChar char="●"/>
            </a:pPr>
            <a:r>
              <a:rPr lang="en-US"/>
              <a:t>DeepfaceLab</a:t>
            </a:r>
            <a:endParaRPr/>
          </a:p>
          <a:p>
            <a:pPr indent="-317500" lvl="0" marL="457200" rtl="0" algn="l">
              <a:lnSpc>
                <a:spcPct val="100000"/>
              </a:lnSpc>
              <a:spcBef>
                <a:spcPts val="0"/>
              </a:spcBef>
              <a:spcAft>
                <a:spcPts val="0"/>
              </a:spcAft>
              <a:buSzPts val="1400"/>
              <a:buChar char="●"/>
            </a:pPr>
            <a:r>
              <a:rPr lang="en-US"/>
              <a:t>QuillBot</a:t>
            </a:r>
            <a:endParaRPr/>
          </a:p>
          <a:p>
            <a:pPr indent="-317500" lvl="0" marL="457200" rtl="0" algn="l">
              <a:lnSpc>
                <a:spcPct val="100000"/>
              </a:lnSpc>
              <a:spcBef>
                <a:spcPts val="0"/>
              </a:spcBef>
              <a:spcAft>
                <a:spcPts val="0"/>
              </a:spcAft>
              <a:buSzPts val="1400"/>
              <a:buChar char="●"/>
            </a:pPr>
            <a:r>
              <a:rPr lang="en-US"/>
              <a:t>Fireflies.ai</a:t>
            </a:r>
            <a:endParaRPr/>
          </a:p>
          <a:p>
            <a:pPr indent="0" lvl="0" marL="457200" rtl="0" algn="l">
              <a:lnSpc>
                <a:spcPct val="100000"/>
              </a:lnSpc>
              <a:spcBef>
                <a:spcPts val="1200"/>
              </a:spcBef>
              <a:spcAft>
                <a:spcPts val="0"/>
              </a:spcAft>
              <a:buSzPts val="1400"/>
              <a:buNone/>
            </a:pPr>
            <a:r>
              <a:t/>
            </a:r>
            <a:endParaRPr/>
          </a:p>
        </p:txBody>
      </p:sp>
      <p:sp>
        <p:nvSpPr>
          <p:cNvPr id="124" name="Google Shape;124;g39f5473f643_0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2d5fccfe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g3a2d5fccfe7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en-US" u="sng">
                <a:solidFill>
                  <a:schemeClr val="hlink"/>
                </a:solidFill>
                <a:hlinkClick r:id="rId2"/>
              </a:rPr>
              <a:t>https://copilot.microsoft.com/</a:t>
            </a:r>
            <a:endParaRPr/>
          </a:p>
          <a:p>
            <a:pPr indent="0" lvl="0" marL="0" rtl="0" algn="l">
              <a:lnSpc>
                <a:spcPct val="90000"/>
              </a:lnSpc>
              <a:spcBef>
                <a:spcPts val="0"/>
              </a:spcBef>
              <a:spcAft>
                <a:spcPts val="0"/>
              </a:spcAft>
              <a:buSzPts val="1400"/>
              <a:buNone/>
            </a:pPr>
            <a:r>
              <a:t/>
            </a:r>
            <a:endParaRPr/>
          </a:p>
        </p:txBody>
      </p:sp>
      <p:sp>
        <p:nvSpPr>
          <p:cNvPr id="137" name="Google Shape;137;g3a2d5fccfe7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a2d5fccfe7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g3a2d5fccfe7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en-US" u="sng">
                <a:solidFill>
                  <a:schemeClr val="hlink"/>
                </a:solidFill>
                <a:hlinkClick r:id="rId2"/>
              </a:rPr>
              <a:t>https://gemini.google.com/</a:t>
            </a:r>
            <a:endParaRPr/>
          </a:p>
          <a:p>
            <a:pPr indent="0" lvl="0" marL="0" rtl="0" algn="l">
              <a:lnSpc>
                <a:spcPct val="90000"/>
              </a:lnSpc>
              <a:spcBef>
                <a:spcPts val="0"/>
              </a:spcBef>
              <a:spcAft>
                <a:spcPts val="0"/>
              </a:spcAft>
              <a:buSzPts val="1400"/>
              <a:buNone/>
            </a:pPr>
            <a:r>
              <a:t/>
            </a:r>
            <a:endParaRPr/>
          </a:p>
        </p:txBody>
      </p:sp>
      <p:sp>
        <p:nvSpPr>
          <p:cNvPr id="145" name="Google Shape;145;g3a2d5fccfe7_0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b0d4288693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g3b0d4288693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en-US" u="sng">
                <a:solidFill>
                  <a:schemeClr val="hlink"/>
                </a:solidFill>
                <a:hlinkClick r:id="rId2"/>
              </a:rPr>
              <a:t>https://gemini.google.com/</a:t>
            </a:r>
            <a:endParaRPr/>
          </a:p>
          <a:p>
            <a:pPr indent="0" lvl="0" marL="0" rtl="0" algn="l">
              <a:lnSpc>
                <a:spcPct val="90000"/>
              </a:lnSpc>
              <a:spcBef>
                <a:spcPts val="0"/>
              </a:spcBef>
              <a:spcAft>
                <a:spcPts val="0"/>
              </a:spcAft>
              <a:buSzPts val="1400"/>
              <a:buNone/>
            </a:pPr>
            <a:r>
              <a:t/>
            </a:r>
            <a:endParaRPr/>
          </a:p>
        </p:txBody>
      </p:sp>
      <p:sp>
        <p:nvSpPr>
          <p:cNvPr id="153" name="Google Shape;153;g3b0d4288693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a2d5fccfe7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g3a2d5fccfe7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en-US"/>
              <a:t>firefly.adobe.com</a:t>
            </a:r>
            <a:endParaRPr/>
          </a:p>
        </p:txBody>
      </p:sp>
      <p:sp>
        <p:nvSpPr>
          <p:cNvPr id="161" name="Google Shape;161;g3a2d5fccfe7_0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6"/>
          <p:cNvSpPr/>
          <p:nvPr>
            <p:ph idx="2" type="pic"/>
          </p:nvPr>
        </p:nvSpPr>
        <p:spPr>
          <a:xfrm>
            <a:off x="5183188" y="987425"/>
            <a:ext cx="6172200" cy="4873625"/>
          </a:xfrm>
          <a:prstGeom prst="rect">
            <a:avLst/>
          </a:prstGeom>
          <a:noFill/>
          <a:ln>
            <a:noFill/>
          </a:ln>
        </p:spPr>
      </p:sp>
      <p:sp>
        <p:nvSpPr>
          <p:cNvPr id="68" name="Google Shape;68;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jpg"/><Relationship Id="rId4" Type="http://schemas.openxmlformats.org/officeDocument/2006/relationships/image" Target="../media/image16.jpg"/><Relationship Id="rId5" Type="http://schemas.openxmlformats.org/officeDocument/2006/relationships/image" Target="../media/image3.png"/><Relationship Id="rId6" Type="http://schemas.openxmlformats.org/officeDocument/2006/relationships/image" Target="../media/image14.png"/><Relationship Id="rId7"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17.png"/><Relationship Id="rId6" Type="http://schemas.openxmlformats.org/officeDocument/2006/relationships/image" Target="../media/image8.png"/><Relationship Id="rId7"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15.png"/><Relationship Id="rId7"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8" name="Shape 88"/>
        <p:cNvGrpSpPr/>
        <p:nvPr/>
      </p:nvGrpSpPr>
      <p:grpSpPr>
        <a:xfrm>
          <a:off x="0" y="0"/>
          <a:ext cx="0" cy="0"/>
          <a:chOff x="0" y="0"/>
          <a:chExt cx="0" cy="0"/>
        </a:xfrm>
      </p:grpSpPr>
      <p:sp>
        <p:nvSpPr>
          <p:cNvPr id="89" name="Google Shape;89;g36d4ca9d3d1_0_26"/>
          <p:cNvSpPr txBox="1"/>
          <p:nvPr>
            <p:ph type="ctrTitle"/>
          </p:nvPr>
        </p:nvSpPr>
        <p:spPr>
          <a:xfrm>
            <a:off x="-69825" y="325750"/>
            <a:ext cx="4164000" cy="8997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Avenir"/>
              <a:buNone/>
            </a:pPr>
            <a:r>
              <a:rPr lang="en-US">
                <a:latin typeface="Avenir"/>
                <a:ea typeface="Avenir"/>
                <a:cs typeface="Avenir"/>
                <a:sym typeface="Avenir"/>
              </a:rPr>
              <a:t>AI at UM</a:t>
            </a:r>
            <a:endParaRPr/>
          </a:p>
        </p:txBody>
      </p:sp>
      <p:sp>
        <p:nvSpPr>
          <p:cNvPr id="90" name="Google Shape;90;g36d4ca9d3d1_0_26"/>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 name="Google Shape;91;g36d4ca9d3d1_0_26"/>
          <p:cNvSpPr txBox="1"/>
          <p:nvPr/>
        </p:nvSpPr>
        <p:spPr>
          <a:xfrm>
            <a:off x="5756575" y="2158225"/>
            <a:ext cx="5227500" cy="11391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700"/>
              <a:buFont typeface="Arial"/>
              <a:buNone/>
            </a:pPr>
            <a:r>
              <a:rPr b="0" i="1" lang="en-US" sz="1700" u="none" cap="none" strike="noStrike">
                <a:solidFill>
                  <a:schemeClr val="dk1"/>
                </a:solidFill>
                <a:latin typeface="Avenir"/>
                <a:ea typeface="Avenir"/>
                <a:cs typeface="Avenir"/>
                <a:sym typeface="Avenir"/>
              </a:rPr>
              <a:t>“"It's very hard to predict the future, like 10 years from now, in normal cases. It's even harder today, given how fast AI is changing, even week by week” </a:t>
            </a:r>
            <a:endParaRPr b="0" i="1" sz="1700" u="none" cap="none" strike="noStrike">
              <a:solidFill>
                <a:schemeClr val="dk1"/>
              </a:solidFill>
              <a:latin typeface="Avenir"/>
              <a:ea typeface="Avenir"/>
              <a:cs typeface="Avenir"/>
              <a:sym typeface="Avenir"/>
            </a:endParaRPr>
          </a:p>
          <a:p>
            <a:pPr indent="0" lvl="0" marL="0" marR="0" rtl="0" algn="r">
              <a:lnSpc>
                <a:spcPct val="100000"/>
              </a:lnSpc>
              <a:spcBef>
                <a:spcPts val="0"/>
              </a:spcBef>
              <a:spcAft>
                <a:spcPts val="0"/>
              </a:spcAft>
              <a:buClr>
                <a:srgbClr val="000000"/>
              </a:buClr>
              <a:buSzPts val="1700"/>
              <a:buFont typeface="Arial"/>
              <a:buNone/>
            </a:pPr>
            <a:r>
              <a:rPr b="0" i="0" lang="en-US" sz="1700" u="none" cap="none" strike="noStrike">
                <a:solidFill>
                  <a:schemeClr val="dk1"/>
                </a:solidFill>
                <a:latin typeface="Avenir"/>
                <a:ea typeface="Avenir"/>
                <a:cs typeface="Avenir"/>
                <a:sym typeface="Avenir"/>
              </a:rPr>
              <a:t>- DEMIS HASSABIS  (</a:t>
            </a:r>
            <a:r>
              <a:rPr lang="en-US" sz="1700">
                <a:solidFill>
                  <a:schemeClr val="dk1"/>
                </a:solidFill>
                <a:latin typeface="Avenir"/>
                <a:ea typeface="Avenir"/>
                <a:cs typeface="Avenir"/>
                <a:sym typeface="Avenir"/>
              </a:rPr>
              <a:t>2025</a:t>
            </a:r>
            <a:r>
              <a:rPr b="0" i="0" lang="en-US" sz="1700" u="none" cap="none" strike="noStrike">
                <a:solidFill>
                  <a:schemeClr val="dk1"/>
                </a:solidFill>
                <a:latin typeface="Avenir"/>
                <a:ea typeface="Avenir"/>
                <a:cs typeface="Avenir"/>
                <a:sym typeface="Avenir"/>
              </a:rPr>
              <a:t>)</a:t>
            </a:r>
            <a:endParaRPr b="0" i="0" sz="1300" u="none" cap="none" strike="noStrike">
              <a:solidFill>
                <a:srgbClr val="000000"/>
              </a:solidFill>
              <a:latin typeface="Arial"/>
              <a:ea typeface="Arial"/>
              <a:cs typeface="Arial"/>
              <a:sym typeface="Arial"/>
            </a:endParaRPr>
          </a:p>
        </p:txBody>
      </p:sp>
      <p:sp>
        <p:nvSpPr>
          <p:cNvPr id="92" name="Google Shape;92;g36d4ca9d3d1_0_26"/>
          <p:cNvSpPr txBox="1"/>
          <p:nvPr/>
        </p:nvSpPr>
        <p:spPr>
          <a:xfrm>
            <a:off x="3425530" y="4102008"/>
            <a:ext cx="6102300" cy="923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venir"/>
                <a:ea typeface="Avenir"/>
                <a:cs typeface="Avenir"/>
                <a:sym typeface="Avenir"/>
              </a:rPr>
              <a:t>This lecture introduces students to the AI resources at the University of Miami including how to access Microsoft CoPilot, Google Gemini, and Adobe Firefly</a:t>
            </a:r>
            <a:endParaRPr b="0" i="0" sz="1400" u="none" cap="none" strike="noStrike">
              <a:solidFill>
                <a:srgbClr val="000000"/>
              </a:solidFill>
              <a:latin typeface="Arial"/>
              <a:ea typeface="Arial"/>
              <a:cs typeface="Arial"/>
              <a:sym typeface="Arial"/>
            </a:endParaRPr>
          </a:p>
        </p:txBody>
      </p:sp>
      <p:pic>
        <p:nvPicPr>
          <p:cNvPr id="93" name="Google Shape;93;g36d4ca9d3d1_0_26"/>
          <p:cNvPicPr preferRelativeResize="0"/>
          <p:nvPr/>
        </p:nvPicPr>
        <p:blipFill rotWithShape="1">
          <a:blip r:embed="rId3">
            <a:alphaModFix/>
          </a:blip>
          <a:srcRect b="0" l="0" r="0" t="0"/>
          <a:stretch/>
        </p:blipFill>
        <p:spPr>
          <a:xfrm>
            <a:off x="10830750" y="6020300"/>
            <a:ext cx="675450" cy="532900"/>
          </a:xfrm>
          <a:prstGeom prst="rect">
            <a:avLst/>
          </a:prstGeom>
          <a:noFill/>
          <a:ln>
            <a:noFill/>
          </a:ln>
        </p:spPr>
      </p:pic>
      <p:pic>
        <p:nvPicPr>
          <p:cNvPr id="94" name="Google Shape;94;g36d4ca9d3d1_0_26"/>
          <p:cNvPicPr preferRelativeResize="0"/>
          <p:nvPr/>
        </p:nvPicPr>
        <p:blipFill>
          <a:blip r:embed="rId4">
            <a:alphaModFix/>
          </a:blip>
          <a:stretch>
            <a:fillRect/>
          </a:stretch>
        </p:blipFill>
        <p:spPr>
          <a:xfrm>
            <a:off x="297725" y="3898475"/>
            <a:ext cx="3127800" cy="1526700"/>
          </a:xfrm>
          <a:prstGeom prst="roundRect">
            <a:avLst>
              <a:gd fmla="val 16667" name="adj"/>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9" name="Shape 99"/>
        <p:cNvGrpSpPr/>
        <p:nvPr/>
      </p:nvGrpSpPr>
      <p:grpSpPr>
        <a:xfrm>
          <a:off x="0" y="0"/>
          <a:ext cx="0" cy="0"/>
          <a:chOff x="0" y="0"/>
          <a:chExt cx="0" cy="0"/>
        </a:xfrm>
      </p:grpSpPr>
      <p:sp>
        <p:nvSpPr>
          <p:cNvPr id="100" name="Google Shape;100;g363ac02c75a_1_5"/>
          <p:cNvSpPr txBox="1"/>
          <p:nvPr>
            <p:ph type="title"/>
          </p:nvPr>
        </p:nvSpPr>
        <p:spPr>
          <a:xfrm>
            <a:off x="696037" y="401075"/>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Categories of AI at UM</a:t>
            </a:r>
            <a:endParaRPr/>
          </a:p>
        </p:txBody>
      </p:sp>
      <p:sp>
        <p:nvSpPr>
          <p:cNvPr id="101" name="Google Shape;101;g363ac02c75a_1_5"/>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2" name="Google Shape;102;g363ac02c75a_1_5"/>
          <p:cNvSpPr txBox="1"/>
          <p:nvPr>
            <p:ph idx="1" type="body"/>
          </p:nvPr>
        </p:nvSpPr>
        <p:spPr>
          <a:xfrm>
            <a:off x="540600" y="2182675"/>
            <a:ext cx="5529900" cy="4222200"/>
          </a:xfrm>
          <a:prstGeom prst="rect">
            <a:avLst/>
          </a:prstGeom>
          <a:noFill/>
          <a:ln>
            <a:noFill/>
          </a:ln>
        </p:spPr>
        <p:txBody>
          <a:bodyPr anchorCtr="0" anchor="t" bIns="45700" lIns="91425" spcFirstLastPara="1" rIns="91425" wrap="square" tIns="45700">
            <a:normAutofit lnSpcReduction="10000"/>
          </a:bodyPr>
          <a:lstStyle/>
          <a:p>
            <a:pPr indent="-342900" lvl="0" marL="457200" rtl="0" algn="l">
              <a:lnSpc>
                <a:spcPct val="90000"/>
              </a:lnSpc>
              <a:spcBef>
                <a:spcPts val="0"/>
              </a:spcBef>
              <a:spcAft>
                <a:spcPts val="0"/>
              </a:spcAft>
              <a:buSzPts val="1800"/>
              <a:buFont typeface="Avenir"/>
              <a:buChar char="●"/>
            </a:pPr>
            <a:r>
              <a:rPr lang="en-US">
                <a:highlight>
                  <a:srgbClr val="00FF00"/>
                </a:highlight>
                <a:latin typeface="Avenir"/>
                <a:ea typeface="Avenir"/>
                <a:cs typeface="Avenir"/>
                <a:sym typeface="Avenir"/>
              </a:rPr>
              <a:t>Green:</a:t>
            </a:r>
            <a:r>
              <a:rPr lang="en-US">
                <a:latin typeface="Avenir"/>
                <a:ea typeface="Avenir"/>
                <a:cs typeface="Avenir"/>
                <a:sym typeface="Avenir"/>
              </a:rPr>
              <a:t> Only use the University of Miami enterprise version of the tool. Must be logged into UM account to use with sensitive or private data. Never use for confidential or regulated data without first working with IT. To start working with IT for confidential data use, contact the IT Service Desk.</a:t>
            </a:r>
            <a:endParaRPr>
              <a:highlight>
                <a:srgbClr val="00FF00"/>
              </a:highlight>
              <a:latin typeface="Avenir"/>
              <a:ea typeface="Avenir"/>
              <a:cs typeface="Avenir"/>
              <a:sym typeface="Avenir"/>
            </a:endParaRPr>
          </a:p>
          <a:p>
            <a:pPr indent="0" lvl="0" marL="457200" rtl="0" algn="l">
              <a:lnSpc>
                <a:spcPct val="90000"/>
              </a:lnSpc>
              <a:spcBef>
                <a:spcPts val="0"/>
              </a:spcBef>
              <a:spcAft>
                <a:spcPts val="0"/>
              </a:spcAft>
              <a:buSzPts val="1800"/>
              <a:buNone/>
            </a:pPr>
            <a:r>
              <a:t/>
            </a:r>
            <a:endParaRPr>
              <a:latin typeface="Avenir"/>
              <a:ea typeface="Avenir"/>
              <a:cs typeface="Avenir"/>
              <a:sym typeface="Avenir"/>
            </a:endParaRPr>
          </a:p>
        </p:txBody>
      </p:sp>
      <p:sp>
        <p:nvSpPr>
          <p:cNvPr id="103" name="Google Shape;103;g363ac02c75a_1_5"/>
          <p:cNvSpPr/>
          <p:nvPr/>
        </p:nvSpPr>
        <p:spPr>
          <a:xfrm>
            <a:off x="7056926" y="1410076"/>
            <a:ext cx="1209900" cy="1174800"/>
          </a:xfrm>
          <a:prstGeom prst="ellipse">
            <a:avLst/>
          </a:prstGeom>
          <a:blipFill rotWithShape="1">
            <a:blip r:embed="rId3">
              <a:alphaModFix/>
            </a:blip>
            <a:stretch>
              <a:fillRect b="0" l="0" r="0" t="0"/>
            </a:stretch>
          </a:blipFill>
          <a:ln>
            <a:noFill/>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04" name="Google Shape;104;g363ac02c75a_1_5"/>
          <p:cNvSpPr/>
          <p:nvPr/>
        </p:nvSpPr>
        <p:spPr>
          <a:xfrm>
            <a:off x="8998534" y="2182680"/>
            <a:ext cx="1209900" cy="1090800"/>
          </a:xfrm>
          <a:prstGeom prst="ellipse">
            <a:avLst/>
          </a:prstGeom>
          <a:blipFill rotWithShape="1">
            <a:blip r:embed="rId4">
              <a:alphaModFix/>
            </a:blip>
            <a:stretch>
              <a:fillRect b="0" l="0" r="0" t="0"/>
            </a:stretch>
          </a:blipFill>
          <a:ln>
            <a:noFill/>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id="105" name="Google Shape;105;g363ac02c75a_1_5"/>
          <p:cNvPicPr preferRelativeResize="0"/>
          <p:nvPr/>
        </p:nvPicPr>
        <p:blipFill rotWithShape="1">
          <a:blip r:embed="rId5">
            <a:alphaModFix/>
          </a:blip>
          <a:srcRect b="0" l="0" r="0" t="0"/>
          <a:stretch/>
        </p:blipFill>
        <p:spPr>
          <a:xfrm>
            <a:off x="7001187" y="3273478"/>
            <a:ext cx="1090800" cy="1090800"/>
          </a:xfrm>
          <a:prstGeom prst="rect">
            <a:avLst/>
          </a:prstGeom>
          <a:noFill/>
          <a:ln>
            <a:noFill/>
          </a:ln>
        </p:spPr>
      </p:pic>
      <p:pic>
        <p:nvPicPr>
          <p:cNvPr id="106" name="Google Shape;106;g363ac02c75a_1_5"/>
          <p:cNvPicPr preferRelativeResize="0"/>
          <p:nvPr/>
        </p:nvPicPr>
        <p:blipFill rotWithShape="1">
          <a:blip r:embed="rId6">
            <a:alphaModFix/>
          </a:blip>
          <a:srcRect b="63238" l="10762" r="78451" t="10578"/>
          <a:stretch/>
        </p:blipFill>
        <p:spPr>
          <a:xfrm>
            <a:off x="7105225" y="5230075"/>
            <a:ext cx="1161600" cy="1174800"/>
          </a:xfrm>
          <a:prstGeom prst="ellipse">
            <a:avLst/>
          </a:prstGeom>
          <a:noFill/>
          <a:ln>
            <a:noFill/>
          </a:ln>
          <a:effectLst>
            <a:outerShdw blurRad="57150" rotWithShape="0" algn="bl" dir="5400000" dist="19050">
              <a:srgbClr val="000000">
                <a:alpha val="49411"/>
              </a:srgbClr>
            </a:outerShdw>
          </a:effectLst>
        </p:spPr>
      </p:pic>
      <p:pic>
        <p:nvPicPr>
          <p:cNvPr id="107" name="Google Shape;107;g363ac02c75a_1_5"/>
          <p:cNvPicPr preferRelativeResize="0"/>
          <p:nvPr/>
        </p:nvPicPr>
        <p:blipFill rotWithShape="1">
          <a:blip r:embed="rId7">
            <a:alphaModFix/>
          </a:blip>
          <a:srcRect b="0" l="0" r="0" t="0"/>
          <a:stretch/>
        </p:blipFill>
        <p:spPr>
          <a:xfrm>
            <a:off x="9022676" y="4155275"/>
            <a:ext cx="1161600" cy="1161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2" name="Shape 112"/>
        <p:cNvGrpSpPr/>
        <p:nvPr/>
      </p:nvGrpSpPr>
      <p:grpSpPr>
        <a:xfrm>
          <a:off x="0" y="0"/>
          <a:ext cx="0" cy="0"/>
          <a:chOff x="0" y="0"/>
          <a:chExt cx="0" cy="0"/>
        </a:xfrm>
      </p:grpSpPr>
      <p:sp>
        <p:nvSpPr>
          <p:cNvPr id="113" name="Google Shape;113;g39f5473f643_0_20"/>
          <p:cNvSpPr txBox="1"/>
          <p:nvPr>
            <p:ph type="title"/>
          </p:nvPr>
        </p:nvSpPr>
        <p:spPr>
          <a:xfrm>
            <a:off x="696037" y="401075"/>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Categories of AI at UM</a:t>
            </a:r>
            <a:endParaRPr/>
          </a:p>
        </p:txBody>
      </p:sp>
      <p:sp>
        <p:nvSpPr>
          <p:cNvPr id="114" name="Google Shape;114;g39f5473f643_0_20"/>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5" name="Google Shape;115;g39f5473f643_0_20"/>
          <p:cNvSpPr txBox="1"/>
          <p:nvPr>
            <p:ph idx="1" type="body"/>
          </p:nvPr>
        </p:nvSpPr>
        <p:spPr>
          <a:xfrm>
            <a:off x="540600" y="2182675"/>
            <a:ext cx="5541000" cy="42222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0"/>
              </a:spcBef>
              <a:spcAft>
                <a:spcPts val="0"/>
              </a:spcAft>
              <a:buSzPts val="1800"/>
              <a:buFont typeface="Avenir"/>
              <a:buChar char="●"/>
            </a:pPr>
            <a:r>
              <a:rPr lang="en-US">
                <a:highlight>
                  <a:srgbClr val="FFFF00"/>
                </a:highlight>
                <a:latin typeface="Avenir"/>
                <a:ea typeface="Avenir"/>
                <a:cs typeface="Avenir"/>
                <a:sym typeface="Avenir"/>
              </a:rPr>
              <a:t>Yellow: </a:t>
            </a:r>
            <a:r>
              <a:rPr lang="en-US">
                <a:latin typeface="Avenir"/>
                <a:ea typeface="Avenir"/>
                <a:cs typeface="Avenir"/>
                <a:sym typeface="Avenir"/>
              </a:rPr>
              <a:t>Public data use only. Use with caution as many free tools collect your data such as browser history and IP address. Recommend using in an incognito/private browser.</a:t>
            </a:r>
            <a:endParaRPr>
              <a:latin typeface="Avenir"/>
              <a:ea typeface="Avenir"/>
              <a:cs typeface="Avenir"/>
              <a:sym typeface="Avenir"/>
            </a:endParaRPr>
          </a:p>
          <a:p>
            <a:pPr indent="0" lvl="0" marL="457200" rtl="0" algn="l">
              <a:lnSpc>
                <a:spcPct val="90000"/>
              </a:lnSpc>
              <a:spcBef>
                <a:spcPts val="0"/>
              </a:spcBef>
              <a:spcAft>
                <a:spcPts val="0"/>
              </a:spcAft>
              <a:buSzPts val="1800"/>
              <a:buNone/>
            </a:pPr>
            <a:r>
              <a:t/>
            </a:r>
            <a:endParaRPr>
              <a:latin typeface="Avenir"/>
              <a:ea typeface="Avenir"/>
              <a:cs typeface="Avenir"/>
              <a:sym typeface="Avenir"/>
            </a:endParaRPr>
          </a:p>
        </p:txBody>
      </p:sp>
      <p:sp>
        <p:nvSpPr>
          <p:cNvPr id="116" name="Google Shape;116;g39f5473f643_0_20"/>
          <p:cNvSpPr/>
          <p:nvPr/>
        </p:nvSpPr>
        <p:spPr>
          <a:xfrm>
            <a:off x="9434846" y="1518478"/>
            <a:ext cx="1209900" cy="1074600"/>
          </a:xfrm>
          <a:prstGeom prst="ellipse">
            <a:avLst/>
          </a:prstGeom>
          <a:blipFill rotWithShape="1">
            <a:blip r:embed="rId3">
              <a:alphaModFix/>
            </a:blip>
            <a:stretch>
              <a:fillRect b="0" l="0" r="0" t="0"/>
            </a:stretch>
          </a:blipFill>
          <a:ln>
            <a:noFill/>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id="117" name="Google Shape;117;g39f5473f643_0_20"/>
          <p:cNvPicPr preferRelativeResize="0"/>
          <p:nvPr/>
        </p:nvPicPr>
        <p:blipFill rotWithShape="1">
          <a:blip r:embed="rId4">
            <a:alphaModFix/>
          </a:blip>
          <a:srcRect b="35760" l="24917" r="22754" t="14433"/>
          <a:stretch/>
        </p:blipFill>
        <p:spPr>
          <a:xfrm>
            <a:off x="7370850" y="2593075"/>
            <a:ext cx="1209900" cy="1151400"/>
          </a:xfrm>
          <a:prstGeom prst="ellipse">
            <a:avLst/>
          </a:prstGeom>
          <a:noFill/>
          <a:ln>
            <a:noFill/>
          </a:ln>
          <a:effectLst>
            <a:outerShdw blurRad="57150" rotWithShape="0" algn="bl" dir="5400000" dist="19050">
              <a:srgbClr val="000000">
                <a:alpha val="49411"/>
              </a:srgbClr>
            </a:outerShdw>
          </a:effectLst>
        </p:spPr>
      </p:pic>
      <p:pic>
        <p:nvPicPr>
          <p:cNvPr id="118" name="Google Shape;118;g39f5473f643_0_20"/>
          <p:cNvPicPr preferRelativeResize="0"/>
          <p:nvPr/>
        </p:nvPicPr>
        <p:blipFill rotWithShape="1">
          <a:blip r:embed="rId5">
            <a:alphaModFix/>
          </a:blip>
          <a:srcRect b="41056" l="10415" r="66607" t="15410"/>
          <a:stretch/>
        </p:blipFill>
        <p:spPr>
          <a:xfrm>
            <a:off x="9377875" y="3495250"/>
            <a:ext cx="1157700" cy="1151400"/>
          </a:xfrm>
          <a:prstGeom prst="ellipse">
            <a:avLst/>
          </a:prstGeom>
          <a:noFill/>
          <a:ln>
            <a:noFill/>
          </a:ln>
          <a:effectLst>
            <a:outerShdw blurRad="57150" rotWithShape="0" algn="bl" dir="5400000" dist="19050">
              <a:srgbClr val="000000">
                <a:alpha val="49411"/>
              </a:srgbClr>
            </a:outerShdw>
          </a:effectLst>
        </p:spPr>
      </p:pic>
      <p:pic>
        <p:nvPicPr>
          <p:cNvPr id="119" name="Google Shape;119;g39f5473f643_0_20"/>
          <p:cNvPicPr preferRelativeResize="0"/>
          <p:nvPr/>
        </p:nvPicPr>
        <p:blipFill rotWithShape="1">
          <a:blip r:embed="rId6">
            <a:alphaModFix/>
          </a:blip>
          <a:srcRect b="52440" l="8024" r="79111" t="20745"/>
          <a:stretch/>
        </p:blipFill>
        <p:spPr>
          <a:xfrm>
            <a:off x="7495225" y="4610775"/>
            <a:ext cx="1157700" cy="1149300"/>
          </a:xfrm>
          <a:prstGeom prst="ellipse">
            <a:avLst/>
          </a:prstGeom>
          <a:noFill/>
          <a:ln>
            <a:noFill/>
          </a:ln>
        </p:spPr>
      </p:pic>
      <p:pic>
        <p:nvPicPr>
          <p:cNvPr id="120" name="Google Shape;120;g39f5473f643_0_20"/>
          <p:cNvPicPr preferRelativeResize="0"/>
          <p:nvPr/>
        </p:nvPicPr>
        <p:blipFill rotWithShape="1">
          <a:blip r:embed="rId7">
            <a:alphaModFix/>
          </a:blip>
          <a:srcRect b="0" l="0" r="0" t="0"/>
          <a:stretch/>
        </p:blipFill>
        <p:spPr>
          <a:xfrm>
            <a:off x="9351775" y="5315100"/>
            <a:ext cx="1209900" cy="1209900"/>
          </a:xfrm>
          <a:prstGeom prst="ellipse">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25" name="Shape 125"/>
        <p:cNvGrpSpPr/>
        <p:nvPr/>
      </p:nvGrpSpPr>
      <p:grpSpPr>
        <a:xfrm>
          <a:off x="0" y="0"/>
          <a:ext cx="0" cy="0"/>
          <a:chOff x="0" y="0"/>
          <a:chExt cx="0" cy="0"/>
        </a:xfrm>
      </p:grpSpPr>
      <p:sp>
        <p:nvSpPr>
          <p:cNvPr id="126" name="Google Shape;126;g39f5473f643_0_39"/>
          <p:cNvSpPr txBox="1"/>
          <p:nvPr>
            <p:ph type="title"/>
          </p:nvPr>
        </p:nvSpPr>
        <p:spPr>
          <a:xfrm>
            <a:off x="696037" y="401075"/>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Categories of AI at UM</a:t>
            </a:r>
            <a:endParaRPr/>
          </a:p>
        </p:txBody>
      </p:sp>
      <p:sp>
        <p:nvSpPr>
          <p:cNvPr id="127" name="Google Shape;127;g39f5473f643_0_39"/>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8" name="Google Shape;128;g39f5473f643_0_39"/>
          <p:cNvSpPr txBox="1"/>
          <p:nvPr>
            <p:ph idx="1" type="body"/>
          </p:nvPr>
        </p:nvSpPr>
        <p:spPr>
          <a:xfrm>
            <a:off x="540600" y="2182675"/>
            <a:ext cx="5541000" cy="42222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0"/>
              </a:spcBef>
              <a:spcAft>
                <a:spcPts val="0"/>
              </a:spcAft>
              <a:buSzPts val="1800"/>
              <a:buFont typeface="Avenir"/>
              <a:buChar char="●"/>
            </a:pPr>
            <a:r>
              <a:rPr lang="en-US">
                <a:highlight>
                  <a:srgbClr val="FF0000"/>
                </a:highlight>
                <a:latin typeface="Avenir"/>
                <a:ea typeface="Avenir"/>
                <a:cs typeface="Avenir"/>
                <a:sym typeface="Avenir"/>
              </a:rPr>
              <a:t>Red: </a:t>
            </a:r>
            <a:r>
              <a:rPr lang="en-US">
                <a:latin typeface="Avenir"/>
                <a:ea typeface="Avenir"/>
                <a:cs typeface="Avenir"/>
                <a:sym typeface="Avenir"/>
              </a:rPr>
              <a:t>Do not use due to potential security risks.</a:t>
            </a:r>
            <a:endParaRPr>
              <a:latin typeface="Avenir"/>
              <a:ea typeface="Avenir"/>
              <a:cs typeface="Avenir"/>
              <a:sym typeface="Avenir"/>
            </a:endParaRPr>
          </a:p>
          <a:p>
            <a:pPr indent="0" lvl="0" marL="457200" rtl="0" algn="l">
              <a:lnSpc>
                <a:spcPct val="90000"/>
              </a:lnSpc>
              <a:spcBef>
                <a:spcPts val="0"/>
              </a:spcBef>
              <a:spcAft>
                <a:spcPts val="0"/>
              </a:spcAft>
              <a:buSzPts val="1800"/>
              <a:buNone/>
            </a:pPr>
            <a:r>
              <a:t/>
            </a:r>
            <a:endParaRPr>
              <a:latin typeface="Avenir"/>
              <a:ea typeface="Avenir"/>
              <a:cs typeface="Avenir"/>
              <a:sym typeface="Avenir"/>
            </a:endParaRPr>
          </a:p>
        </p:txBody>
      </p:sp>
      <p:pic>
        <p:nvPicPr>
          <p:cNvPr id="129" name="Google Shape;129;g39f5473f643_0_39"/>
          <p:cNvPicPr preferRelativeResize="0"/>
          <p:nvPr/>
        </p:nvPicPr>
        <p:blipFill rotWithShape="1">
          <a:blip r:embed="rId3">
            <a:alphaModFix/>
          </a:blip>
          <a:srcRect b="0" l="0" r="0" t="0"/>
          <a:stretch/>
        </p:blipFill>
        <p:spPr>
          <a:xfrm>
            <a:off x="5994950" y="2007775"/>
            <a:ext cx="1209900" cy="1209900"/>
          </a:xfrm>
          <a:prstGeom prst="rect">
            <a:avLst/>
          </a:prstGeom>
          <a:noFill/>
          <a:ln>
            <a:noFill/>
          </a:ln>
        </p:spPr>
      </p:pic>
      <p:pic>
        <p:nvPicPr>
          <p:cNvPr id="130" name="Google Shape;130;g39f5473f643_0_39"/>
          <p:cNvPicPr preferRelativeResize="0"/>
          <p:nvPr/>
        </p:nvPicPr>
        <p:blipFill rotWithShape="1">
          <a:blip r:embed="rId4">
            <a:alphaModFix/>
          </a:blip>
          <a:srcRect b="21201" l="31229" r="32089" t="16506"/>
          <a:stretch/>
        </p:blipFill>
        <p:spPr>
          <a:xfrm>
            <a:off x="9052775" y="2007775"/>
            <a:ext cx="1267500" cy="1209900"/>
          </a:xfrm>
          <a:prstGeom prst="ellipse">
            <a:avLst/>
          </a:prstGeom>
          <a:noFill/>
          <a:ln>
            <a:noFill/>
          </a:ln>
        </p:spPr>
      </p:pic>
      <p:pic>
        <p:nvPicPr>
          <p:cNvPr id="131" name="Google Shape;131;g39f5473f643_0_39"/>
          <p:cNvPicPr preferRelativeResize="0"/>
          <p:nvPr/>
        </p:nvPicPr>
        <p:blipFill rotWithShape="1">
          <a:blip r:embed="rId5">
            <a:alphaModFix/>
          </a:blip>
          <a:srcRect b="27609" l="9937" r="61408" t="27388"/>
          <a:stretch/>
        </p:blipFill>
        <p:spPr>
          <a:xfrm>
            <a:off x="7499700" y="3630925"/>
            <a:ext cx="1103100" cy="1004700"/>
          </a:xfrm>
          <a:prstGeom prst="ellipse">
            <a:avLst/>
          </a:prstGeom>
          <a:noFill/>
          <a:ln>
            <a:noFill/>
          </a:ln>
        </p:spPr>
      </p:pic>
      <p:pic>
        <p:nvPicPr>
          <p:cNvPr id="132" name="Google Shape;132;g39f5473f643_0_39"/>
          <p:cNvPicPr preferRelativeResize="0"/>
          <p:nvPr/>
        </p:nvPicPr>
        <p:blipFill rotWithShape="1">
          <a:blip r:embed="rId6">
            <a:alphaModFix/>
          </a:blip>
          <a:srcRect b="21246" l="9908" r="56525" t="19370"/>
          <a:stretch/>
        </p:blipFill>
        <p:spPr>
          <a:xfrm>
            <a:off x="9097200" y="5079175"/>
            <a:ext cx="1332300" cy="1325700"/>
          </a:xfrm>
          <a:prstGeom prst="ellipse">
            <a:avLst/>
          </a:prstGeom>
          <a:noFill/>
          <a:ln>
            <a:noFill/>
          </a:ln>
        </p:spPr>
      </p:pic>
      <p:pic>
        <p:nvPicPr>
          <p:cNvPr id="133" name="Google Shape;133;g39f5473f643_0_39"/>
          <p:cNvPicPr preferRelativeResize="0"/>
          <p:nvPr/>
        </p:nvPicPr>
        <p:blipFill rotWithShape="1">
          <a:blip r:embed="rId7">
            <a:alphaModFix/>
          </a:blip>
          <a:srcRect b="0" l="0" r="0" t="0"/>
          <a:stretch/>
        </p:blipFill>
        <p:spPr>
          <a:xfrm>
            <a:off x="6081603" y="5006900"/>
            <a:ext cx="1182550" cy="1182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8" name="Shape 138"/>
        <p:cNvGrpSpPr/>
        <p:nvPr/>
      </p:nvGrpSpPr>
      <p:grpSpPr>
        <a:xfrm>
          <a:off x="0" y="0"/>
          <a:ext cx="0" cy="0"/>
          <a:chOff x="0" y="0"/>
          <a:chExt cx="0" cy="0"/>
        </a:xfrm>
      </p:grpSpPr>
      <p:sp>
        <p:nvSpPr>
          <p:cNvPr id="139" name="Google Shape;139;g3a2d5fccfe7_0_0"/>
          <p:cNvSpPr txBox="1"/>
          <p:nvPr>
            <p:ph type="title"/>
          </p:nvPr>
        </p:nvSpPr>
        <p:spPr>
          <a:xfrm>
            <a:off x="696023" y="401075"/>
            <a:ext cx="93831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Introduction to Microsoft Copilot</a:t>
            </a:r>
            <a:endParaRPr/>
          </a:p>
        </p:txBody>
      </p:sp>
      <p:sp>
        <p:nvSpPr>
          <p:cNvPr id="140" name="Google Shape;140;g3a2d5fccfe7_0_0"/>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41" name="Google Shape;141;g3a2d5fccfe7_0_0"/>
          <p:cNvSpPr txBox="1"/>
          <p:nvPr>
            <p:ph idx="1" type="body"/>
          </p:nvPr>
        </p:nvSpPr>
        <p:spPr>
          <a:xfrm>
            <a:off x="540600" y="1726775"/>
            <a:ext cx="10255500" cy="4678200"/>
          </a:xfrm>
          <a:prstGeom prst="rect">
            <a:avLst/>
          </a:prstGeom>
          <a:noFill/>
          <a:ln>
            <a:noFill/>
          </a:ln>
        </p:spPr>
        <p:txBody>
          <a:bodyPr anchorCtr="0" anchor="t" bIns="45700" lIns="91425" spcFirstLastPara="1" rIns="91425" wrap="square" tIns="45700">
            <a:normAutofit fontScale="92500" lnSpcReduction="20000"/>
          </a:bodyPr>
          <a:lstStyle/>
          <a:p>
            <a:pPr indent="-334327" lvl="0" marL="457200" rtl="0" algn="l">
              <a:lnSpc>
                <a:spcPct val="90000"/>
              </a:lnSpc>
              <a:spcBef>
                <a:spcPts val="0"/>
              </a:spcBef>
              <a:spcAft>
                <a:spcPts val="0"/>
              </a:spcAft>
              <a:buSzPct val="64285"/>
              <a:buFont typeface="Avenir"/>
              <a:buChar char="•"/>
            </a:pPr>
            <a:r>
              <a:rPr b="1" lang="en-US" u="sng">
                <a:latin typeface="Avenir"/>
                <a:ea typeface="Avenir"/>
                <a:cs typeface="Avenir"/>
                <a:sym typeface="Avenir"/>
              </a:rPr>
              <a:t>Copilot on the web is not HIPAA compliant yet.</a:t>
            </a:r>
            <a:r>
              <a:rPr lang="en-US">
                <a:latin typeface="Avenir"/>
                <a:ea typeface="Avenir"/>
                <a:cs typeface="Avenir"/>
                <a:sym typeface="Avenir"/>
              </a:rPr>
              <a:t> Copilot unlocks generative AI for capabilities around asking questions and generating responses from the web. It does, however, have some limitations, such as conducting custom searches within University of Miami firewalls.</a:t>
            </a:r>
            <a:endParaRPr>
              <a:latin typeface="Avenir"/>
              <a:ea typeface="Avenir"/>
              <a:cs typeface="Avenir"/>
              <a:sym typeface="Avenir"/>
            </a:endParaRPr>
          </a:p>
          <a:p>
            <a:pPr indent="0" lvl="0" marL="914400" rtl="0" algn="l">
              <a:lnSpc>
                <a:spcPct val="90000"/>
              </a:lnSpc>
              <a:spcBef>
                <a:spcPts val="0"/>
              </a:spcBef>
              <a:spcAft>
                <a:spcPts val="0"/>
              </a:spcAft>
              <a:buSzPct val="69498"/>
              <a:buNone/>
            </a:pPr>
            <a:r>
              <a:t/>
            </a:r>
            <a:endParaRPr>
              <a:latin typeface="Avenir"/>
              <a:ea typeface="Avenir"/>
              <a:cs typeface="Avenir"/>
              <a:sym typeface="Avenir"/>
            </a:endParaRPr>
          </a:p>
          <a:p>
            <a:pPr indent="-334327" lvl="0" marL="457200" rtl="0" algn="l">
              <a:lnSpc>
                <a:spcPct val="90000"/>
              </a:lnSpc>
              <a:spcBef>
                <a:spcPts val="0"/>
              </a:spcBef>
              <a:spcAft>
                <a:spcPts val="0"/>
              </a:spcAft>
              <a:buSzPct val="64285"/>
              <a:buFont typeface="Avenir"/>
              <a:buChar char="•"/>
            </a:pPr>
            <a:r>
              <a:rPr lang="en-US">
                <a:latin typeface="Avenir"/>
                <a:ea typeface="Avenir"/>
                <a:cs typeface="Avenir"/>
                <a:sym typeface="Avenir"/>
              </a:rPr>
              <a:t> When using Copilot with Data Protection, exercise care when entering information into the prompt. Copilot with Data Protection is being offered for use with Public data only, as defined in our Data Classification Policy. Confidential (Restricted), Private, or Sensitive data may not be entered into Copilot with Data Protection. As with other services, do not include personal information about yourself or others in prompts. Similarly, when using the service, you must ensure adherence to copyright and intellectual property protections. </a:t>
            </a:r>
            <a:endParaRPr>
              <a:latin typeface="Avenir"/>
              <a:ea typeface="Avenir"/>
              <a:cs typeface="Avenir"/>
              <a:sym typeface="Aveni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46" name="Shape 146"/>
        <p:cNvGrpSpPr/>
        <p:nvPr/>
      </p:nvGrpSpPr>
      <p:grpSpPr>
        <a:xfrm>
          <a:off x="0" y="0"/>
          <a:ext cx="0" cy="0"/>
          <a:chOff x="0" y="0"/>
          <a:chExt cx="0" cy="0"/>
        </a:xfrm>
      </p:grpSpPr>
      <p:sp>
        <p:nvSpPr>
          <p:cNvPr id="147" name="Google Shape;147;g3a2d5fccfe7_0_12"/>
          <p:cNvSpPr txBox="1"/>
          <p:nvPr>
            <p:ph type="title"/>
          </p:nvPr>
        </p:nvSpPr>
        <p:spPr>
          <a:xfrm>
            <a:off x="696023" y="401075"/>
            <a:ext cx="93831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Introduction to Gemini</a:t>
            </a:r>
            <a:endParaRPr/>
          </a:p>
        </p:txBody>
      </p:sp>
      <p:sp>
        <p:nvSpPr>
          <p:cNvPr id="148" name="Google Shape;148;g3a2d5fccfe7_0_12"/>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49" name="Google Shape;149;g3a2d5fccfe7_0_12"/>
          <p:cNvSpPr txBox="1"/>
          <p:nvPr>
            <p:ph idx="1" type="body"/>
          </p:nvPr>
        </p:nvSpPr>
        <p:spPr>
          <a:xfrm>
            <a:off x="540600" y="1828800"/>
            <a:ext cx="10255500" cy="4575900"/>
          </a:xfrm>
          <a:prstGeom prst="rect">
            <a:avLst/>
          </a:prstGeom>
          <a:noFill/>
          <a:ln>
            <a:noFill/>
          </a:ln>
        </p:spPr>
        <p:txBody>
          <a:bodyPr anchorCtr="0" anchor="t" bIns="45700" lIns="91425" spcFirstLastPara="1" rIns="91425" wrap="square" tIns="45700">
            <a:noAutofit/>
          </a:bodyPr>
          <a:lstStyle/>
          <a:p>
            <a:pPr indent="-346710" lvl="0" marL="457200" rtl="0" algn="l">
              <a:lnSpc>
                <a:spcPct val="70000"/>
              </a:lnSpc>
              <a:spcBef>
                <a:spcPts val="0"/>
              </a:spcBef>
              <a:spcAft>
                <a:spcPts val="0"/>
              </a:spcAft>
              <a:buSzPts val="1860"/>
              <a:buFont typeface="Avenir"/>
              <a:buChar char="●"/>
            </a:pPr>
            <a:r>
              <a:rPr lang="en-US" sz="2560">
                <a:latin typeface="Avenir"/>
                <a:ea typeface="Avenir"/>
                <a:cs typeface="Avenir"/>
                <a:sym typeface="Avenir"/>
              </a:rPr>
              <a:t>Gemini was created by Google, and it was built from the ground up to be multimodal; this means that Gemini can generalize and seamlessly understand, operate across, and combine different types of information—including text, code, audio, image, and video.</a:t>
            </a:r>
            <a:endParaRPr sz="2560">
              <a:latin typeface="Avenir"/>
              <a:ea typeface="Avenir"/>
              <a:cs typeface="Avenir"/>
              <a:sym typeface="Avenir"/>
            </a:endParaRPr>
          </a:p>
          <a:p>
            <a:pPr indent="0" lvl="0" marL="457200" rtl="0" algn="l">
              <a:lnSpc>
                <a:spcPct val="70000"/>
              </a:lnSpc>
              <a:spcBef>
                <a:spcPts val="0"/>
              </a:spcBef>
              <a:spcAft>
                <a:spcPts val="0"/>
              </a:spcAft>
              <a:buSzPts val="770"/>
              <a:buNone/>
            </a:pPr>
            <a:r>
              <a:t/>
            </a:r>
            <a:endParaRPr sz="2560">
              <a:latin typeface="Avenir"/>
              <a:ea typeface="Avenir"/>
              <a:cs typeface="Avenir"/>
              <a:sym typeface="Avenir"/>
            </a:endParaRPr>
          </a:p>
          <a:p>
            <a:pPr indent="-346710" lvl="0" marL="457200" rtl="0" algn="l">
              <a:lnSpc>
                <a:spcPct val="70000"/>
              </a:lnSpc>
              <a:spcBef>
                <a:spcPts val="0"/>
              </a:spcBef>
              <a:spcAft>
                <a:spcPts val="0"/>
              </a:spcAft>
              <a:buSzPts val="1860"/>
              <a:buFont typeface="Avenir"/>
              <a:buChar char="●"/>
            </a:pPr>
            <a:r>
              <a:rPr lang="en-US" sz="2560">
                <a:latin typeface="Avenir"/>
                <a:ea typeface="Avenir"/>
                <a:cs typeface="Avenir"/>
                <a:sym typeface="Avenir"/>
              </a:rPr>
              <a:t>University of Miami students, faculty, and staff can access Gemini by visiting </a:t>
            </a:r>
            <a:r>
              <a:rPr lang="en-US" sz="2560" u="sng">
                <a:latin typeface="Avenir"/>
                <a:ea typeface="Avenir"/>
                <a:cs typeface="Avenir"/>
                <a:sym typeface="Avenir"/>
              </a:rPr>
              <a:t>gemini.google.com</a:t>
            </a:r>
            <a:r>
              <a:rPr lang="en-US" sz="2560">
                <a:latin typeface="Avenir"/>
                <a:ea typeface="Avenir"/>
                <a:cs typeface="Avenir"/>
                <a:sym typeface="Avenir"/>
              </a:rPr>
              <a:t>. Check for the blue banner that says "You now have added data protection..." on the top of the Gemini experience page. (See example below.) If you do not see the banner, click Sign in, then sign in with your University of Miami Login ID to start the Google Workspace login process.</a:t>
            </a:r>
            <a:endParaRPr sz="2560">
              <a:latin typeface="Avenir"/>
              <a:ea typeface="Avenir"/>
              <a:cs typeface="Avenir"/>
              <a:sym typeface="Avenir"/>
            </a:endParaRPr>
          </a:p>
          <a:p>
            <a:pPr indent="0" lvl="0" marL="0" rtl="0" algn="l">
              <a:lnSpc>
                <a:spcPct val="70000"/>
              </a:lnSpc>
              <a:spcBef>
                <a:spcPts val="0"/>
              </a:spcBef>
              <a:spcAft>
                <a:spcPts val="0"/>
              </a:spcAft>
              <a:buSzPts val="770"/>
              <a:buNone/>
            </a:pPr>
            <a:r>
              <a:t/>
            </a:r>
            <a:endParaRPr sz="2560">
              <a:latin typeface="Avenir"/>
              <a:ea typeface="Avenir"/>
              <a:cs typeface="Avenir"/>
              <a:sym typeface="Avenir"/>
            </a:endParaRPr>
          </a:p>
          <a:p>
            <a:pPr indent="-346710" lvl="0" marL="457200" rtl="0" algn="l">
              <a:lnSpc>
                <a:spcPct val="70000"/>
              </a:lnSpc>
              <a:spcBef>
                <a:spcPts val="0"/>
              </a:spcBef>
              <a:spcAft>
                <a:spcPts val="0"/>
              </a:spcAft>
              <a:buSzPts val="1860"/>
              <a:buFont typeface="Avenir"/>
              <a:buChar char="●"/>
            </a:pPr>
            <a:r>
              <a:rPr b="1" lang="en-US" sz="2560" u="sng">
                <a:latin typeface="Avenir"/>
                <a:ea typeface="Avenir"/>
                <a:cs typeface="Avenir"/>
                <a:sym typeface="Avenir"/>
              </a:rPr>
              <a:t>Gemini is not HIPAA compliant yet.</a:t>
            </a:r>
            <a:r>
              <a:rPr lang="en-US" sz="2560">
                <a:latin typeface="Avenir"/>
                <a:ea typeface="Avenir"/>
                <a:cs typeface="Avenir"/>
                <a:sym typeface="Avenir"/>
              </a:rPr>
              <a:t> Gemini unlocks generative AI for capabilities around asking questions and generating responses from the web. It does, however, have some limitations, such as conducting custom searches within University of Miami firewalls</a:t>
            </a:r>
            <a:endParaRPr sz="2560">
              <a:latin typeface="Avenir"/>
              <a:ea typeface="Avenir"/>
              <a:cs typeface="Avenir"/>
              <a:sym typeface="Avenir"/>
            </a:endParaRPr>
          </a:p>
          <a:p>
            <a:pPr indent="0" lvl="0" marL="914400" rtl="0" algn="l">
              <a:lnSpc>
                <a:spcPct val="70000"/>
              </a:lnSpc>
              <a:spcBef>
                <a:spcPts val="0"/>
              </a:spcBef>
              <a:spcAft>
                <a:spcPts val="0"/>
              </a:spcAft>
              <a:buSzPts val="1260"/>
              <a:buNone/>
            </a:pPr>
            <a:r>
              <a:t/>
            </a:r>
            <a:endParaRPr sz="2260">
              <a:latin typeface="Avenir"/>
              <a:ea typeface="Avenir"/>
              <a:cs typeface="Avenir"/>
              <a:sym typeface="Aveni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4" name="Shape 154"/>
        <p:cNvGrpSpPr/>
        <p:nvPr/>
      </p:nvGrpSpPr>
      <p:grpSpPr>
        <a:xfrm>
          <a:off x="0" y="0"/>
          <a:ext cx="0" cy="0"/>
          <a:chOff x="0" y="0"/>
          <a:chExt cx="0" cy="0"/>
        </a:xfrm>
      </p:grpSpPr>
      <p:sp>
        <p:nvSpPr>
          <p:cNvPr id="155" name="Google Shape;155;g3b0d4288693_0_6"/>
          <p:cNvSpPr txBox="1"/>
          <p:nvPr>
            <p:ph type="title"/>
          </p:nvPr>
        </p:nvSpPr>
        <p:spPr>
          <a:xfrm>
            <a:off x="696023" y="401075"/>
            <a:ext cx="93831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Introduction to NotebookLM</a:t>
            </a:r>
            <a:endParaRPr/>
          </a:p>
        </p:txBody>
      </p:sp>
      <p:sp>
        <p:nvSpPr>
          <p:cNvPr id="156" name="Google Shape;156;g3b0d4288693_0_6"/>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57" name="Google Shape;157;g3b0d4288693_0_6"/>
          <p:cNvSpPr txBox="1"/>
          <p:nvPr>
            <p:ph idx="1" type="body"/>
          </p:nvPr>
        </p:nvSpPr>
        <p:spPr>
          <a:xfrm>
            <a:off x="540600" y="1726775"/>
            <a:ext cx="10255500" cy="4678200"/>
          </a:xfrm>
          <a:prstGeom prst="rect">
            <a:avLst/>
          </a:prstGeom>
          <a:noFill/>
          <a:ln>
            <a:noFill/>
          </a:ln>
        </p:spPr>
        <p:txBody>
          <a:bodyPr anchorCtr="0" anchor="t" bIns="45700" lIns="91425" spcFirstLastPara="1" rIns="91425" wrap="square" tIns="45700">
            <a:normAutofit fontScale="77500" lnSpcReduction="20000"/>
          </a:bodyPr>
          <a:lstStyle/>
          <a:p>
            <a:pPr indent="-317182" lvl="0" marL="457200" rtl="0" algn="l">
              <a:lnSpc>
                <a:spcPct val="100000"/>
              </a:lnSpc>
              <a:spcBef>
                <a:spcPts val="0"/>
              </a:spcBef>
              <a:spcAft>
                <a:spcPts val="0"/>
              </a:spcAft>
              <a:buSzPct val="64285"/>
              <a:buFont typeface="Avenir"/>
              <a:buChar char="●"/>
            </a:pPr>
            <a:r>
              <a:rPr lang="en-US">
                <a:latin typeface="Avenir"/>
                <a:ea typeface="Avenir"/>
                <a:cs typeface="Avenir"/>
                <a:sym typeface="Avenir"/>
              </a:rPr>
              <a:t>NotebookLM is an AI-powered research assistant designed to help you quickly understand, organize, and generate new content based only on your uploaded source material. It acts as a personalized expert in your documents, helping you turn research, notes, and raw data into polished outlines, study guides, and deep-dive discussions.</a:t>
            </a:r>
            <a:endParaRPr>
              <a:latin typeface="Avenir"/>
              <a:ea typeface="Avenir"/>
              <a:cs typeface="Avenir"/>
              <a:sym typeface="Avenir"/>
            </a:endParaRPr>
          </a:p>
          <a:p>
            <a:pPr indent="0" lvl="0" marL="457200" rtl="0" algn="l">
              <a:lnSpc>
                <a:spcPct val="100000"/>
              </a:lnSpc>
              <a:spcBef>
                <a:spcPts val="0"/>
              </a:spcBef>
              <a:spcAft>
                <a:spcPts val="0"/>
              </a:spcAft>
              <a:buSzPct val="82949"/>
              <a:buNone/>
            </a:pPr>
            <a:r>
              <a:t/>
            </a:r>
            <a:endParaRPr>
              <a:latin typeface="Avenir"/>
              <a:ea typeface="Avenir"/>
              <a:cs typeface="Avenir"/>
              <a:sym typeface="Avenir"/>
            </a:endParaRPr>
          </a:p>
          <a:p>
            <a:pPr indent="-317182" lvl="0" marL="457200" rtl="0" algn="l">
              <a:lnSpc>
                <a:spcPct val="100000"/>
              </a:lnSpc>
              <a:spcBef>
                <a:spcPts val="0"/>
              </a:spcBef>
              <a:spcAft>
                <a:spcPts val="0"/>
              </a:spcAft>
              <a:buSzPct val="64285"/>
              <a:buFont typeface="Avenir"/>
              <a:buChar char="●"/>
            </a:pPr>
            <a:r>
              <a:rPr lang="en-US">
                <a:latin typeface="Avenir"/>
                <a:ea typeface="Avenir"/>
                <a:cs typeface="Avenir"/>
                <a:sym typeface="Avenir"/>
              </a:rPr>
              <a:t>To access NotebookLM, visit </a:t>
            </a:r>
            <a:r>
              <a:rPr lang="en-US" u="sng">
                <a:latin typeface="Avenir"/>
                <a:ea typeface="Avenir"/>
                <a:cs typeface="Avenir"/>
                <a:sym typeface="Avenir"/>
              </a:rPr>
              <a:t>notebooklm.google.com</a:t>
            </a:r>
            <a:r>
              <a:rPr lang="en-US">
                <a:latin typeface="Avenir"/>
                <a:ea typeface="Avenir"/>
                <a:cs typeface="Avenir"/>
                <a:sym typeface="Avenir"/>
              </a:rPr>
              <a:t>. Be sure to sign in with your University of Miami Login ID. Once signed in, you will be taken to your NotebookLM dashboard where you can begin creating new notebooks and uploading sources.</a:t>
            </a:r>
            <a:endParaRPr>
              <a:latin typeface="Avenir"/>
              <a:ea typeface="Avenir"/>
              <a:cs typeface="Avenir"/>
              <a:sym typeface="Avenir"/>
            </a:endParaRPr>
          </a:p>
          <a:p>
            <a:pPr indent="0" lvl="0" marL="457200" rtl="0" algn="l">
              <a:lnSpc>
                <a:spcPct val="100000"/>
              </a:lnSpc>
              <a:spcBef>
                <a:spcPts val="0"/>
              </a:spcBef>
              <a:spcAft>
                <a:spcPts val="0"/>
              </a:spcAft>
              <a:buSzPct val="82949"/>
              <a:buNone/>
            </a:pPr>
            <a:r>
              <a:t/>
            </a:r>
            <a:endParaRPr>
              <a:latin typeface="Avenir"/>
              <a:ea typeface="Avenir"/>
              <a:cs typeface="Avenir"/>
              <a:sym typeface="Avenir"/>
            </a:endParaRPr>
          </a:p>
          <a:p>
            <a:pPr indent="-317182" lvl="0" marL="457200" rtl="0" algn="l">
              <a:lnSpc>
                <a:spcPct val="100000"/>
              </a:lnSpc>
              <a:spcBef>
                <a:spcPts val="0"/>
              </a:spcBef>
              <a:spcAft>
                <a:spcPts val="0"/>
              </a:spcAft>
              <a:buSzPct val="64285"/>
              <a:buFont typeface="Avenir"/>
              <a:buChar char="●"/>
            </a:pPr>
            <a:r>
              <a:rPr lang="en-US">
                <a:latin typeface="Avenir"/>
                <a:ea typeface="Avenir"/>
                <a:cs typeface="Avenir"/>
                <a:sym typeface="Avenir"/>
              </a:rPr>
              <a:t>NotebookLM is available to all University of Miami faculty, staff, and students as part of the institution's Google Workspace for Education Plus license. When you use NotebookLM with your UM account, your data (uploads, queries, and model responses) is protected under the Google Workspace for Education Privacy Notice. This data is not reviewed by human reviewers and is not used to train Google's general AI models.</a:t>
            </a:r>
            <a:endParaRPr>
              <a:latin typeface="Avenir"/>
              <a:ea typeface="Avenir"/>
              <a:cs typeface="Avenir"/>
              <a:sym typeface="Aveni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2" name="Shape 162"/>
        <p:cNvGrpSpPr/>
        <p:nvPr/>
      </p:nvGrpSpPr>
      <p:grpSpPr>
        <a:xfrm>
          <a:off x="0" y="0"/>
          <a:ext cx="0" cy="0"/>
          <a:chOff x="0" y="0"/>
          <a:chExt cx="0" cy="0"/>
        </a:xfrm>
      </p:grpSpPr>
      <p:sp>
        <p:nvSpPr>
          <p:cNvPr id="163" name="Google Shape;163;g3a2d5fccfe7_0_19"/>
          <p:cNvSpPr txBox="1"/>
          <p:nvPr>
            <p:ph type="title"/>
          </p:nvPr>
        </p:nvSpPr>
        <p:spPr>
          <a:xfrm>
            <a:off x="696023" y="401075"/>
            <a:ext cx="93831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Introduction to Firefly</a:t>
            </a:r>
            <a:endParaRPr/>
          </a:p>
        </p:txBody>
      </p:sp>
      <p:sp>
        <p:nvSpPr>
          <p:cNvPr id="164" name="Google Shape;164;g3a2d5fccfe7_0_19"/>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5" name="Google Shape;165;g3a2d5fccfe7_0_19"/>
          <p:cNvSpPr txBox="1"/>
          <p:nvPr>
            <p:ph idx="1" type="body"/>
          </p:nvPr>
        </p:nvSpPr>
        <p:spPr>
          <a:xfrm>
            <a:off x="540600" y="2182675"/>
            <a:ext cx="10255500" cy="4222200"/>
          </a:xfrm>
          <a:prstGeom prst="rect">
            <a:avLst/>
          </a:prstGeom>
          <a:noFill/>
          <a:ln>
            <a:noFill/>
          </a:ln>
        </p:spPr>
        <p:txBody>
          <a:bodyPr anchorCtr="0" anchor="t" bIns="45700" lIns="91425" spcFirstLastPara="1" rIns="91425" wrap="square" tIns="45700">
            <a:normAutofit lnSpcReduction="10000"/>
          </a:bodyPr>
          <a:lstStyle/>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Use simple text prompts in over 100 languages to make beautiful images, transform text, play with color, and so much more.</a:t>
            </a:r>
            <a:endParaRPr>
              <a:latin typeface="Avenir"/>
              <a:ea typeface="Avenir"/>
              <a:cs typeface="Avenir"/>
              <a:sym typeface="Avenir"/>
            </a:endParaRPr>
          </a:p>
          <a:p>
            <a:pPr indent="0" lvl="0" marL="457200" rtl="0" algn="l">
              <a:lnSpc>
                <a:spcPct val="90000"/>
              </a:lnSpc>
              <a:spcBef>
                <a:spcPts val="0"/>
              </a:spcBef>
              <a:spcAft>
                <a:spcPts val="0"/>
              </a:spcAft>
              <a:buSzPts val="1800"/>
              <a:buNone/>
            </a:pPr>
            <a:r>
              <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University of Miami students, faculty, and staff can access Adobe Firefly by visiting firefly.adobe.com. Ensure you are signed in to the Internet browser* with your University of Miami credentials. You can also use Adobe Firefly within various Adobe Creative Cloud (CC) apps. (Learn more about Adobe Firefly and products it works with.)</a:t>
            </a:r>
            <a:endParaRPr>
              <a:latin typeface="Avenir"/>
              <a:ea typeface="Avenir"/>
              <a:cs typeface="Avenir"/>
              <a:sym typeface="Avenir"/>
            </a:endParaRPr>
          </a:p>
          <a:p>
            <a:pPr indent="0" lvl="0" marL="0" rtl="0" algn="l">
              <a:lnSpc>
                <a:spcPct val="90000"/>
              </a:lnSpc>
              <a:spcBef>
                <a:spcPts val="0"/>
              </a:spcBef>
              <a:spcAft>
                <a:spcPts val="0"/>
              </a:spcAft>
              <a:buSzPts val="1800"/>
              <a:buNone/>
            </a:pPr>
            <a:r>
              <a:t/>
            </a:r>
            <a:endParaRPr>
              <a:latin typeface="Avenir"/>
              <a:ea typeface="Avenir"/>
              <a:cs typeface="Avenir"/>
              <a:sym typeface="Aveni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2025-07-05T12:48:20Z</dcterms:created>
  <dc:creator>Connors, Collin Dey</dc:creator>
</cp:coreProperties>
</file>