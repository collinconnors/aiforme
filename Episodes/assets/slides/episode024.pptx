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9144000"/>
  <p:embeddedFontLst>
    <p:embeddedFont>
      <p:font typeface="Play"/>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hhGE6v4ovcxmEJjSmwmgmPR602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Play-bold.fntdata"/><Relationship Id="rId6" Type="http://schemas.openxmlformats.org/officeDocument/2006/relationships/slide" Target="slides/slide2.xml"/><Relationship Id="rId18" Type="http://schemas.openxmlformats.org/officeDocument/2006/relationships/font" Target="fonts/Play-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The_C_Programming_Language"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d4c5cc131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6d4c5cc131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C Programming </a:t>
            </a:r>
            <a:r>
              <a:rPr lang="en-US"/>
              <a:t>Language</a:t>
            </a:r>
            <a:r>
              <a:rPr lang="en-US"/>
              <a:t> (book): </a:t>
            </a:r>
            <a:r>
              <a:rPr lang="en-US" u="sng">
                <a:solidFill>
                  <a:schemeClr val="hlink"/>
                </a:solidFill>
                <a:hlinkClick r:id="rId2"/>
              </a:rPr>
              <a:t>https://en.wikipedia.org/wiki/The_C_Programming_Language</a:t>
            </a:r>
            <a:endParaRPr/>
          </a:p>
          <a:p>
            <a:pPr indent="0" lvl="0" marL="0" rtl="0" algn="l">
              <a:lnSpc>
                <a:spcPct val="100000"/>
              </a:lnSpc>
              <a:spcBef>
                <a:spcPts val="0"/>
              </a:spcBef>
              <a:spcAft>
                <a:spcPts val="0"/>
              </a:spcAft>
              <a:buSzPts val="1400"/>
              <a:buNone/>
            </a:pPr>
            <a:r>
              <a:rPr lang="en-US"/>
              <a:t>Hello AI Lab: https://colab.research.google.com/drive/1mcGhSiEXrl_oUuF85GqW1pjmwXVsk08G?usp=sharing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87" name="Google Shape;87;g36d4c5cc131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92c354673f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g392c354673f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98" name="Google Shape;98;g392c354673f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b12ca3d802_0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g3b12ca3d802_0_1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106" name="Google Shape;106;g3b12ca3d802_0_1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92c354673f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g392c354673f_0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115" name="Google Shape;115;g392c354673f_0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92c354673f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g392c354673f_0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125" name="Google Shape;125;g392c354673f_0_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92c354673f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g392c354673f_0_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134" name="Google Shape;134;g392c354673f_0_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92c354673f_0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g392c354673f_0_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143" name="Google Shape;143;g392c354673f_0_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92c354673f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g392c354673f_0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152" name="Google Shape;152;g392c354673f_0_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92c354673f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g392c354673f_0_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161" name="Google Shape;161;g392c354673f_0_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92c354673f_0_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g392c354673f_0_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170" name="Google Shape;170;g392c354673f_0_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92c354673f_0_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g392c354673f_0_1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178" name="Google Shape;178;g392c354673f_0_1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92c354673f_0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g392c354673f_0_1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187" name="Google Shape;187;g392c354673f_0_1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92c354673f_0_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g392c354673f_0_1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195" name="Google Shape;195;g392c354673f_0_1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6"/>
          <p:cNvSpPr/>
          <p:nvPr>
            <p:ph idx="2" type="pic"/>
          </p:nvPr>
        </p:nvSpPr>
        <p:spPr>
          <a:xfrm>
            <a:off x="5183188" y="987425"/>
            <a:ext cx="6172200" cy="4873625"/>
          </a:xfrm>
          <a:prstGeom prst="rect">
            <a:avLst/>
          </a:prstGeom>
          <a:noFill/>
          <a:ln>
            <a:noFill/>
          </a:ln>
        </p:spPr>
      </p:sp>
      <p:sp>
        <p:nvSpPr>
          <p:cNvPr id="68" name="Google Shape;68;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8" name="Shape 88"/>
        <p:cNvGrpSpPr/>
        <p:nvPr/>
      </p:nvGrpSpPr>
      <p:grpSpPr>
        <a:xfrm>
          <a:off x="0" y="0"/>
          <a:ext cx="0" cy="0"/>
          <a:chOff x="0" y="0"/>
          <a:chExt cx="0" cy="0"/>
        </a:xfrm>
      </p:grpSpPr>
      <p:sp>
        <p:nvSpPr>
          <p:cNvPr id="89" name="Google Shape;89;g36d4c5cc131_0_7"/>
          <p:cNvSpPr txBox="1"/>
          <p:nvPr>
            <p:ph type="ctrTitle"/>
          </p:nvPr>
        </p:nvSpPr>
        <p:spPr>
          <a:xfrm>
            <a:off x="258175" y="129100"/>
            <a:ext cx="7965000" cy="1499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venir"/>
              <a:buNone/>
            </a:pPr>
            <a:r>
              <a:rPr lang="en-US">
                <a:latin typeface="Avenir"/>
                <a:ea typeface="Avenir"/>
                <a:cs typeface="Avenir"/>
                <a:sym typeface="Avenir"/>
              </a:rPr>
              <a:t>Hello AI</a:t>
            </a:r>
            <a:endParaRPr/>
          </a:p>
        </p:txBody>
      </p:sp>
      <p:sp>
        <p:nvSpPr>
          <p:cNvPr id="90" name="Google Shape;90;g36d4c5cc131_0_7"/>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 name="Google Shape;91;g36d4c5cc131_0_7"/>
          <p:cNvSpPr txBox="1"/>
          <p:nvPr/>
        </p:nvSpPr>
        <p:spPr>
          <a:xfrm>
            <a:off x="6660575" y="1723375"/>
            <a:ext cx="4111800" cy="815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700"/>
              <a:buFont typeface="Arial"/>
              <a:buNone/>
            </a:pPr>
            <a:r>
              <a:rPr i="1" lang="en-US" sz="1500">
                <a:solidFill>
                  <a:schemeClr val="dk1"/>
                </a:solidFill>
                <a:latin typeface="Avenir"/>
                <a:ea typeface="Avenir"/>
                <a:cs typeface="Avenir"/>
                <a:sym typeface="Avenir"/>
              </a:rPr>
              <a:t>The first example is almost always a program that prints ‘Hello, world!’ on the screen.</a:t>
            </a:r>
            <a:r>
              <a:rPr b="0" i="1" lang="en-US" sz="1500" u="none" cap="none" strike="noStrike">
                <a:solidFill>
                  <a:schemeClr val="dk1"/>
                </a:solidFill>
                <a:latin typeface="Avenir"/>
                <a:ea typeface="Avenir"/>
                <a:cs typeface="Avenir"/>
                <a:sym typeface="Avenir"/>
              </a:rPr>
              <a:t> </a:t>
            </a:r>
            <a:endParaRPr b="0" i="0" sz="1600" u="none" cap="none" strike="noStrike">
              <a:solidFill>
                <a:schemeClr val="dk1"/>
              </a:solidFill>
              <a:latin typeface="Avenir"/>
              <a:ea typeface="Avenir"/>
              <a:cs typeface="Avenir"/>
              <a:sym typeface="Avenir"/>
            </a:endParaRPr>
          </a:p>
          <a:p>
            <a:pPr indent="0" lvl="0" marL="0" marR="0" rtl="0" algn="r">
              <a:lnSpc>
                <a:spcPct val="115000"/>
              </a:lnSpc>
              <a:spcBef>
                <a:spcPts val="0"/>
              </a:spcBef>
              <a:spcAft>
                <a:spcPts val="0"/>
              </a:spcAft>
              <a:buClr>
                <a:srgbClr val="000000"/>
              </a:buClr>
              <a:buSzPts val="1700"/>
              <a:buFont typeface="Arial"/>
              <a:buNone/>
            </a:pPr>
            <a:r>
              <a:rPr b="1" i="0" lang="en-US" sz="1700" u="none" cap="none" strike="noStrike">
                <a:solidFill>
                  <a:schemeClr val="dk1"/>
                </a:solidFill>
                <a:latin typeface="Avenir"/>
                <a:ea typeface="Avenir"/>
                <a:cs typeface="Avenir"/>
                <a:sym typeface="Avenir"/>
              </a:rPr>
              <a:t>- </a:t>
            </a:r>
            <a:r>
              <a:rPr b="1" lang="en-US" sz="1700">
                <a:solidFill>
                  <a:schemeClr val="dk1"/>
                </a:solidFill>
                <a:latin typeface="Avenir"/>
                <a:ea typeface="Avenir"/>
                <a:cs typeface="Avenir"/>
                <a:sym typeface="Avenir"/>
              </a:rPr>
              <a:t>BRIAN KERNIGHAN</a:t>
            </a:r>
            <a:r>
              <a:rPr b="1" i="0" lang="en-US" sz="1700" u="none" cap="none" strike="noStrike">
                <a:solidFill>
                  <a:schemeClr val="dk1"/>
                </a:solidFill>
                <a:latin typeface="Avenir"/>
                <a:ea typeface="Avenir"/>
                <a:cs typeface="Avenir"/>
                <a:sym typeface="Avenir"/>
              </a:rPr>
              <a:t> (19</a:t>
            </a:r>
            <a:r>
              <a:rPr b="1" lang="en-US" sz="1700">
                <a:solidFill>
                  <a:schemeClr val="dk1"/>
                </a:solidFill>
                <a:latin typeface="Avenir"/>
                <a:ea typeface="Avenir"/>
                <a:cs typeface="Avenir"/>
                <a:sym typeface="Avenir"/>
              </a:rPr>
              <a:t>7</a:t>
            </a:r>
            <a:r>
              <a:rPr b="1" i="0" lang="en-US" sz="1700" u="none" cap="none" strike="noStrike">
                <a:solidFill>
                  <a:schemeClr val="dk1"/>
                </a:solidFill>
                <a:latin typeface="Avenir"/>
                <a:ea typeface="Avenir"/>
                <a:cs typeface="Avenir"/>
                <a:sym typeface="Avenir"/>
              </a:rPr>
              <a:t>8)</a:t>
            </a:r>
            <a:endParaRPr b="1" i="0" sz="1300" u="none" cap="none" strike="noStrike">
              <a:solidFill>
                <a:srgbClr val="000000"/>
              </a:solidFill>
              <a:latin typeface="Arial"/>
              <a:ea typeface="Arial"/>
              <a:cs typeface="Arial"/>
              <a:sym typeface="Arial"/>
            </a:endParaRPr>
          </a:p>
        </p:txBody>
      </p:sp>
      <p:sp>
        <p:nvSpPr>
          <p:cNvPr id="92" name="Google Shape;92;g36d4c5cc131_0_7"/>
          <p:cNvSpPr txBox="1"/>
          <p:nvPr/>
        </p:nvSpPr>
        <p:spPr>
          <a:xfrm>
            <a:off x="3425530" y="4102008"/>
            <a:ext cx="6102300" cy="1477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lang="en-US" sz="1800">
                <a:solidFill>
                  <a:schemeClr val="dk1"/>
                </a:solidFill>
                <a:latin typeface="Avenir"/>
                <a:ea typeface="Avenir"/>
                <a:cs typeface="Avenir"/>
                <a:sym typeface="Avenir"/>
              </a:rPr>
              <a:t>In this lab, you will explore how a computer can learn to recognize handwritten numbers. You will work through the complete process of building, training, and testing an artificial intelligence model that identifies digits from images.</a:t>
            </a:r>
            <a:endParaRPr b="0" i="0" sz="1400" u="none" cap="none" strike="noStrike">
              <a:solidFill>
                <a:srgbClr val="000000"/>
              </a:solidFill>
              <a:latin typeface="Arial"/>
              <a:ea typeface="Arial"/>
              <a:cs typeface="Arial"/>
              <a:sym typeface="Arial"/>
            </a:endParaRPr>
          </a:p>
        </p:txBody>
      </p:sp>
      <p:pic>
        <p:nvPicPr>
          <p:cNvPr id="93" name="Google Shape;93;g36d4c5cc131_0_7"/>
          <p:cNvPicPr preferRelativeResize="0"/>
          <p:nvPr/>
        </p:nvPicPr>
        <p:blipFill rotWithShape="1">
          <a:blip r:embed="rId3">
            <a:alphaModFix/>
          </a:blip>
          <a:srcRect b="0" l="0" r="0" t="0"/>
          <a:stretch/>
        </p:blipFill>
        <p:spPr>
          <a:xfrm>
            <a:off x="10830750" y="6020300"/>
            <a:ext cx="675450" cy="532900"/>
          </a:xfrm>
          <a:prstGeom prst="rect">
            <a:avLst/>
          </a:prstGeom>
          <a:noFill/>
          <a:ln>
            <a:noFill/>
          </a:ln>
        </p:spPr>
      </p:pic>
      <p:pic>
        <p:nvPicPr>
          <p:cNvPr id="94" name="Google Shape;94;g36d4c5cc131_0_7"/>
          <p:cNvPicPr preferRelativeResize="0"/>
          <p:nvPr/>
        </p:nvPicPr>
        <p:blipFill>
          <a:blip r:embed="rId4">
            <a:alphaModFix/>
          </a:blip>
          <a:stretch>
            <a:fillRect/>
          </a:stretch>
        </p:blipFill>
        <p:spPr>
          <a:xfrm>
            <a:off x="712100" y="4102002"/>
            <a:ext cx="2626678" cy="1477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9" name="Shape 99"/>
        <p:cNvGrpSpPr/>
        <p:nvPr/>
      </p:nvGrpSpPr>
      <p:grpSpPr>
        <a:xfrm>
          <a:off x="0" y="0"/>
          <a:ext cx="0" cy="0"/>
          <a:chOff x="0" y="0"/>
          <a:chExt cx="0" cy="0"/>
        </a:xfrm>
      </p:grpSpPr>
      <p:sp>
        <p:nvSpPr>
          <p:cNvPr id="100" name="Google Shape;100;g392c354673f_0_8"/>
          <p:cNvSpPr txBox="1"/>
          <p:nvPr>
            <p:ph type="title"/>
          </p:nvPr>
        </p:nvSpPr>
        <p:spPr>
          <a:xfrm>
            <a:off x="1074050" y="329500"/>
            <a:ext cx="11118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Our Objectives</a:t>
            </a:r>
            <a:endParaRPr/>
          </a:p>
        </p:txBody>
      </p:sp>
      <p:sp>
        <p:nvSpPr>
          <p:cNvPr id="101" name="Google Shape;101;g392c354673f_0_8"/>
          <p:cNvSpPr/>
          <p:nvPr/>
        </p:nvSpPr>
        <p:spPr>
          <a:xfrm>
            <a:off x="0" y="0"/>
            <a:ext cx="4155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2" name="Google Shape;102;g392c354673f_0_8"/>
          <p:cNvSpPr txBox="1"/>
          <p:nvPr/>
        </p:nvSpPr>
        <p:spPr>
          <a:xfrm>
            <a:off x="1074050" y="1891150"/>
            <a:ext cx="10782000" cy="23397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US" sz="2000"/>
              <a:t>Load and inspect image data from the MNIST dataset</a:t>
            </a:r>
            <a:endParaRPr sz="2000"/>
          </a:p>
          <a:p>
            <a:pPr indent="-355600" lvl="0" marL="457200" rtl="0" algn="l">
              <a:spcBef>
                <a:spcPts val="0"/>
              </a:spcBef>
              <a:spcAft>
                <a:spcPts val="0"/>
              </a:spcAft>
              <a:buSzPts val="2000"/>
              <a:buChar char="●"/>
            </a:pPr>
            <a:r>
              <a:rPr lang="en-US" sz="2000"/>
              <a:t>Learn how images are represented as numbers inside a computer</a:t>
            </a:r>
            <a:endParaRPr sz="2000"/>
          </a:p>
          <a:p>
            <a:pPr indent="-355600" lvl="0" marL="457200" rtl="0" algn="l">
              <a:spcBef>
                <a:spcPts val="0"/>
              </a:spcBef>
              <a:spcAft>
                <a:spcPts val="0"/>
              </a:spcAft>
              <a:buSzPts val="2000"/>
              <a:buChar char="●"/>
            </a:pPr>
            <a:r>
              <a:rPr lang="en-US" sz="2000"/>
              <a:t>Build a neural network model made up of layers</a:t>
            </a:r>
            <a:endParaRPr sz="2000"/>
          </a:p>
          <a:p>
            <a:pPr indent="-355600" lvl="0" marL="457200" rtl="0" algn="l">
              <a:spcBef>
                <a:spcPts val="0"/>
              </a:spcBef>
              <a:spcAft>
                <a:spcPts val="0"/>
              </a:spcAft>
              <a:buSzPts val="2000"/>
              <a:buChar char="●"/>
            </a:pPr>
            <a:r>
              <a:rPr lang="en-US" sz="2000"/>
              <a:t>Train the model using labeled examples</a:t>
            </a:r>
            <a:endParaRPr sz="2000"/>
          </a:p>
          <a:p>
            <a:pPr indent="-355600" lvl="0" marL="457200" rtl="0" algn="l">
              <a:spcBef>
                <a:spcPts val="0"/>
              </a:spcBef>
              <a:spcAft>
                <a:spcPts val="0"/>
              </a:spcAft>
              <a:buSzPts val="2000"/>
              <a:buChar char="●"/>
            </a:pPr>
            <a:r>
              <a:rPr lang="en-US" sz="2000"/>
              <a:t>Evaluate how well the model performs on unseen data</a:t>
            </a:r>
            <a:endParaRPr sz="2000"/>
          </a:p>
          <a:p>
            <a:pPr indent="-355600" lvl="0" marL="457200" rtl="0" algn="l">
              <a:spcBef>
                <a:spcPts val="0"/>
              </a:spcBef>
              <a:spcAft>
                <a:spcPts val="0"/>
              </a:spcAft>
              <a:buSzPts val="2000"/>
              <a:buChar char="●"/>
            </a:pPr>
            <a:r>
              <a:rPr lang="en-US" sz="2000"/>
              <a:t>Test the trained model on your own handwritten digits</a:t>
            </a:r>
            <a:endParaRPr sz="2000"/>
          </a:p>
          <a:p>
            <a:pPr indent="0" lvl="0" marL="0" rtl="0" algn="l">
              <a:spcBef>
                <a:spcPts val="0"/>
              </a:spcBef>
              <a:spcAft>
                <a:spcPts val="0"/>
              </a:spcAft>
              <a:buNone/>
            </a:pPr>
            <a:r>
              <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7" name="Shape 107"/>
        <p:cNvGrpSpPr/>
        <p:nvPr/>
      </p:nvGrpSpPr>
      <p:grpSpPr>
        <a:xfrm>
          <a:off x="0" y="0"/>
          <a:ext cx="0" cy="0"/>
          <a:chOff x="0" y="0"/>
          <a:chExt cx="0" cy="0"/>
        </a:xfrm>
      </p:grpSpPr>
      <p:sp>
        <p:nvSpPr>
          <p:cNvPr id="108" name="Google Shape;108;g3b12ca3d802_0_106"/>
          <p:cNvSpPr txBox="1"/>
          <p:nvPr>
            <p:ph type="title"/>
          </p:nvPr>
        </p:nvSpPr>
        <p:spPr>
          <a:xfrm>
            <a:off x="1074050" y="329500"/>
            <a:ext cx="11118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The MNIST Dataset</a:t>
            </a:r>
            <a:endParaRPr/>
          </a:p>
        </p:txBody>
      </p:sp>
      <p:sp>
        <p:nvSpPr>
          <p:cNvPr id="109" name="Google Shape;109;g3b12ca3d802_0_106"/>
          <p:cNvSpPr/>
          <p:nvPr/>
        </p:nvSpPr>
        <p:spPr>
          <a:xfrm>
            <a:off x="0" y="0"/>
            <a:ext cx="4155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0" name="Google Shape;110;g3b12ca3d802_0_106"/>
          <p:cNvSpPr txBox="1"/>
          <p:nvPr/>
        </p:nvSpPr>
        <p:spPr>
          <a:xfrm>
            <a:off x="1174200" y="1880775"/>
            <a:ext cx="6837300" cy="41868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US" sz="2000"/>
              <a:t>You will use the MNIST dataset, a classic collection of handwritten digit images, to train a neural network. MNIST provides a clean, well-structured starting point that allows you to focus on learning how AI works rather than struggling with messy data from the start.</a:t>
            </a:r>
            <a:endParaRPr sz="2000"/>
          </a:p>
          <a:p>
            <a:pPr indent="0" lvl="0" marL="457200" rtl="0" algn="l">
              <a:spcBef>
                <a:spcPts val="0"/>
              </a:spcBef>
              <a:spcAft>
                <a:spcPts val="0"/>
              </a:spcAft>
              <a:buNone/>
            </a:pPr>
            <a:r>
              <a:t/>
            </a:r>
            <a:endParaRPr sz="2000"/>
          </a:p>
          <a:p>
            <a:pPr indent="-355600" lvl="0" marL="457200" rtl="0" algn="l">
              <a:spcBef>
                <a:spcPts val="0"/>
              </a:spcBef>
              <a:spcAft>
                <a:spcPts val="0"/>
              </a:spcAft>
              <a:buSzPts val="2000"/>
              <a:buChar char="●"/>
            </a:pPr>
            <a:r>
              <a:rPr lang="en-US" sz="2000"/>
              <a:t>MNIST has played an important role in the history of machine learning. It was created to provide a standard way to test and compare learning algorithms. Because the images are small, grayscale, and consistently formatted, MNIST makes it easier to see the core ideas behind image recognition without unnecessary complexity.</a:t>
            </a:r>
            <a:endParaRPr sz="2000"/>
          </a:p>
        </p:txBody>
      </p:sp>
      <p:pic>
        <p:nvPicPr>
          <p:cNvPr id="111" name="Google Shape;111;g3b12ca3d802_0_106"/>
          <p:cNvPicPr preferRelativeResize="0"/>
          <p:nvPr/>
        </p:nvPicPr>
        <p:blipFill rotWithShape="1">
          <a:blip r:embed="rId3">
            <a:alphaModFix/>
          </a:blip>
          <a:srcRect b="0" l="0" r="50763" t="0"/>
          <a:stretch/>
        </p:blipFill>
        <p:spPr>
          <a:xfrm>
            <a:off x="8233200" y="1655200"/>
            <a:ext cx="3643599" cy="3996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6" name="Shape 116"/>
        <p:cNvGrpSpPr/>
        <p:nvPr/>
      </p:nvGrpSpPr>
      <p:grpSpPr>
        <a:xfrm>
          <a:off x="0" y="0"/>
          <a:ext cx="0" cy="0"/>
          <a:chOff x="0" y="0"/>
          <a:chExt cx="0" cy="0"/>
        </a:xfrm>
      </p:grpSpPr>
      <p:sp>
        <p:nvSpPr>
          <p:cNvPr id="117" name="Google Shape;117;g392c354673f_0_24"/>
          <p:cNvSpPr txBox="1"/>
          <p:nvPr>
            <p:ph type="title"/>
          </p:nvPr>
        </p:nvSpPr>
        <p:spPr>
          <a:xfrm>
            <a:off x="1074050" y="329500"/>
            <a:ext cx="11118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Python and Google Colab</a:t>
            </a:r>
            <a:endParaRPr/>
          </a:p>
        </p:txBody>
      </p:sp>
      <p:sp>
        <p:nvSpPr>
          <p:cNvPr id="118" name="Google Shape;118;g392c354673f_0_24"/>
          <p:cNvSpPr/>
          <p:nvPr/>
        </p:nvSpPr>
        <p:spPr>
          <a:xfrm>
            <a:off x="0" y="0"/>
            <a:ext cx="4155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9" name="Google Shape;119;g392c354673f_0_24"/>
          <p:cNvSpPr txBox="1"/>
          <p:nvPr/>
        </p:nvSpPr>
        <p:spPr>
          <a:xfrm>
            <a:off x="1174200" y="1880775"/>
            <a:ext cx="6837300" cy="41868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b="1" lang="en-US" sz="2000"/>
              <a:t>Python </a:t>
            </a:r>
            <a:r>
              <a:rPr lang="en-US" sz="2000"/>
              <a:t>is a programming language designed to be easy to read and write. It uses plain, English-like syntax and is widely used in many fields, including data analysis, artificial intelligence, science, engineering, and web development. </a:t>
            </a:r>
            <a:endParaRPr sz="2000"/>
          </a:p>
          <a:p>
            <a:pPr indent="0" lvl="0" marL="0" rtl="0" algn="l">
              <a:spcBef>
                <a:spcPts val="0"/>
              </a:spcBef>
              <a:spcAft>
                <a:spcPts val="0"/>
              </a:spcAft>
              <a:buNone/>
            </a:pPr>
            <a:r>
              <a:t/>
            </a:r>
            <a:endParaRPr sz="2000"/>
          </a:p>
          <a:p>
            <a:pPr indent="-355600" lvl="0" marL="457200" rtl="0" algn="l">
              <a:spcBef>
                <a:spcPts val="0"/>
              </a:spcBef>
              <a:spcAft>
                <a:spcPts val="0"/>
              </a:spcAft>
              <a:buSzPts val="2000"/>
              <a:buChar char="●"/>
            </a:pPr>
            <a:r>
              <a:rPr b="1" lang="en-US" sz="2000"/>
              <a:t>Google Colab </a:t>
            </a:r>
            <a:r>
              <a:rPr lang="en-US" sz="2000"/>
              <a:t>(Colaboratory) is a web-based environment that lets you write and run Python code directly in your browser. You do not need to install anything on your computer. Colab provides interactive notebooks where text, code, and results (such as numbers, tables, and graphs) appear together in one place.</a:t>
            </a:r>
            <a:endParaRPr sz="2000"/>
          </a:p>
        </p:txBody>
      </p:sp>
      <p:pic>
        <p:nvPicPr>
          <p:cNvPr id="120" name="Google Shape;120;g392c354673f_0_24"/>
          <p:cNvPicPr preferRelativeResize="0"/>
          <p:nvPr/>
        </p:nvPicPr>
        <p:blipFill rotWithShape="1">
          <a:blip r:embed="rId3">
            <a:alphaModFix/>
          </a:blip>
          <a:srcRect b="33495" l="57729" r="0" t="32188"/>
          <a:stretch/>
        </p:blipFill>
        <p:spPr>
          <a:xfrm>
            <a:off x="8447800" y="4010900"/>
            <a:ext cx="3529449" cy="2149000"/>
          </a:xfrm>
          <a:prstGeom prst="rect">
            <a:avLst/>
          </a:prstGeom>
          <a:noFill/>
          <a:ln>
            <a:noFill/>
          </a:ln>
        </p:spPr>
      </p:pic>
      <p:pic>
        <p:nvPicPr>
          <p:cNvPr id="121" name="Google Shape;121;g392c354673f_0_24"/>
          <p:cNvPicPr preferRelativeResize="0"/>
          <p:nvPr/>
        </p:nvPicPr>
        <p:blipFill>
          <a:blip r:embed="rId4">
            <a:alphaModFix/>
          </a:blip>
          <a:stretch>
            <a:fillRect/>
          </a:stretch>
        </p:blipFill>
        <p:spPr>
          <a:xfrm>
            <a:off x="8941700" y="1940677"/>
            <a:ext cx="2626678" cy="1477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26" name="Shape 126"/>
        <p:cNvGrpSpPr/>
        <p:nvPr/>
      </p:nvGrpSpPr>
      <p:grpSpPr>
        <a:xfrm>
          <a:off x="0" y="0"/>
          <a:ext cx="0" cy="0"/>
          <a:chOff x="0" y="0"/>
          <a:chExt cx="0" cy="0"/>
        </a:xfrm>
      </p:grpSpPr>
      <p:sp>
        <p:nvSpPr>
          <p:cNvPr id="127" name="Google Shape;127;g392c354673f_0_42"/>
          <p:cNvSpPr txBox="1"/>
          <p:nvPr>
            <p:ph type="title"/>
          </p:nvPr>
        </p:nvSpPr>
        <p:spPr>
          <a:xfrm>
            <a:off x="1074050" y="329500"/>
            <a:ext cx="11118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Import</a:t>
            </a:r>
            <a:endParaRPr/>
          </a:p>
        </p:txBody>
      </p:sp>
      <p:sp>
        <p:nvSpPr>
          <p:cNvPr id="128" name="Google Shape;128;g392c354673f_0_42"/>
          <p:cNvSpPr/>
          <p:nvPr/>
        </p:nvSpPr>
        <p:spPr>
          <a:xfrm>
            <a:off x="0" y="0"/>
            <a:ext cx="4155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9" name="Google Shape;129;g392c354673f_0_42"/>
          <p:cNvSpPr txBox="1"/>
          <p:nvPr/>
        </p:nvSpPr>
        <p:spPr>
          <a:xfrm>
            <a:off x="1074050" y="1371625"/>
            <a:ext cx="6078600" cy="54180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US" sz="2000"/>
              <a:t>Think of Python as a kitchen.</a:t>
            </a:r>
            <a:endParaRPr sz="2000"/>
          </a:p>
          <a:p>
            <a:pPr indent="-355600" lvl="0" marL="457200" rtl="0" algn="l">
              <a:spcBef>
                <a:spcPts val="0"/>
              </a:spcBef>
              <a:spcAft>
                <a:spcPts val="0"/>
              </a:spcAft>
              <a:buSzPts val="2000"/>
              <a:buChar char="●"/>
            </a:pPr>
            <a:r>
              <a:rPr lang="en-US" sz="2000"/>
              <a:t>When you first walk into the kitchen, you have some basic things available—a counter, a sink, a knife. You can do simple tasks, but you cannot cook a </a:t>
            </a:r>
            <a:r>
              <a:rPr lang="en-US" sz="2000"/>
              <a:t>michelin</a:t>
            </a:r>
            <a:r>
              <a:rPr lang="en-US" sz="2000"/>
              <a:t> star meal without bringing in special specialized tools.</a:t>
            </a:r>
            <a:endParaRPr sz="2000"/>
          </a:p>
          <a:p>
            <a:pPr indent="-355600" lvl="0" marL="457200" rtl="0" algn="l">
              <a:spcBef>
                <a:spcPts val="0"/>
              </a:spcBef>
              <a:spcAft>
                <a:spcPts val="0"/>
              </a:spcAft>
              <a:buSzPts val="2000"/>
              <a:buChar char="●"/>
            </a:pPr>
            <a:r>
              <a:rPr lang="en-US" sz="2000"/>
              <a:t>In Python, the word </a:t>
            </a:r>
            <a:r>
              <a:rPr b="1" lang="en-US" sz="2000"/>
              <a:t>import </a:t>
            </a:r>
            <a:r>
              <a:rPr lang="en-US" sz="2000"/>
              <a:t>is how we bring those ingredients and tools into the kitchen.</a:t>
            </a:r>
            <a:endParaRPr sz="2000"/>
          </a:p>
          <a:p>
            <a:pPr indent="-355600" lvl="0" marL="457200" rtl="0" algn="l">
              <a:spcBef>
                <a:spcPts val="0"/>
              </a:spcBef>
              <a:spcAft>
                <a:spcPts val="0"/>
              </a:spcAft>
              <a:buSzPts val="2000"/>
              <a:buChar char="●"/>
            </a:pPr>
            <a:r>
              <a:rPr lang="en-US" sz="2000"/>
              <a:t>When you see an </a:t>
            </a:r>
            <a:r>
              <a:rPr b="1" lang="en-US" sz="2000"/>
              <a:t>import</a:t>
            </a:r>
            <a:r>
              <a:rPr lang="en-US" sz="2000"/>
              <a:t> line, you can read it as:</a:t>
            </a:r>
            <a:endParaRPr sz="2000"/>
          </a:p>
          <a:p>
            <a:pPr indent="-355600" lvl="0" marL="457200" rtl="0" algn="l">
              <a:spcBef>
                <a:spcPts val="0"/>
              </a:spcBef>
              <a:spcAft>
                <a:spcPts val="0"/>
              </a:spcAft>
              <a:buSzPts val="2000"/>
              <a:buChar char="●"/>
            </a:pPr>
            <a:r>
              <a:rPr lang="en-US" sz="2000"/>
              <a:t>“I am bringing this tool into my kitchen so I can use it later.”</a:t>
            </a:r>
            <a:endParaRPr sz="2000"/>
          </a:p>
          <a:p>
            <a:pPr indent="-355600" lvl="0" marL="457200" rtl="0" algn="l">
              <a:spcBef>
                <a:spcPts val="0"/>
              </a:spcBef>
              <a:spcAft>
                <a:spcPts val="0"/>
              </a:spcAft>
              <a:buSzPts val="2000"/>
              <a:buChar char="●"/>
            </a:pPr>
            <a:r>
              <a:rPr lang="en-US" sz="2000"/>
              <a:t>Before we can build our AI we need to get all of our tools ready. Each line below brings in a different tool that we will use at various points in this lab.</a:t>
            </a:r>
            <a:endParaRPr sz="2000"/>
          </a:p>
          <a:p>
            <a:pPr indent="0" lvl="0" marL="457200" rtl="0" algn="l">
              <a:spcBef>
                <a:spcPts val="0"/>
              </a:spcBef>
              <a:spcAft>
                <a:spcPts val="0"/>
              </a:spcAft>
              <a:buNone/>
            </a:pPr>
            <a:r>
              <a:t/>
            </a:r>
            <a:endParaRPr b="1" sz="2000"/>
          </a:p>
        </p:txBody>
      </p:sp>
      <p:pic>
        <p:nvPicPr>
          <p:cNvPr id="130" name="Google Shape;130;g392c354673f_0_42"/>
          <p:cNvPicPr preferRelativeResize="0"/>
          <p:nvPr/>
        </p:nvPicPr>
        <p:blipFill>
          <a:blip r:embed="rId3">
            <a:alphaModFix/>
          </a:blip>
          <a:stretch>
            <a:fillRect/>
          </a:stretch>
        </p:blipFill>
        <p:spPr>
          <a:xfrm>
            <a:off x="6933827" y="2861825"/>
            <a:ext cx="5258225" cy="15023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5" name="Shape 135"/>
        <p:cNvGrpSpPr/>
        <p:nvPr/>
      </p:nvGrpSpPr>
      <p:grpSpPr>
        <a:xfrm>
          <a:off x="0" y="0"/>
          <a:ext cx="0" cy="0"/>
          <a:chOff x="0" y="0"/>
          <a:chExt cx="0" cy="0"/>
        </a:xfrm>
      </p:grpSpPr>
      <p:sp>
        <p:nvSpPr>
          <p:cNvPr id="136" name="Google Shape;136;g392c354673f_0_55"/>
          <p:cNvSpPr txBox="1"/>
          <p:nvPr>
            <p:ph type="title"/>
          </p:nvPr>
        </p:nvSpPr>
        <p:spPr>
          <a:xfrm>
            <a:off x="1074050" y="329500"/>
            <a:ext cx="11118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Training Data </a:t>
            </a:r>
            <a:endParaRPr/>
          </a:p>
        </p:txBody>
      </p:sp>
      <p:sp>
        <p:nvSpPr>
          <p:cNvPr id="137" name="Google Shape;137;g392c354673f_0_55"/>
          <p:cNvSpPr/>
          <p:nvPr/>
        </p:nvSpPr>
        <p:spPr>
          <a:xfrm>
            <a:off x="0" y="0"/>
            <a:ext cx="4155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8" name="Google Shape;138;g392c354673f_0_55"/>
          <p:cNvSpPr txBox="1"/>
          <p:nvPr/>
        </p:nvSpPr>
        <p:spPr>
          <a:xfrm>
            <a:off x="1074050" y="1371625"/>
            <a:ext cx="6078600" cy="48024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US" sz="2000"/>
              <a:t>Before we can train an AI model, we need training data.</a:t>
            </a:r>
            <a:endParaRPr sz="2000"/>
          </a:p>
          <a:p>
            <a:pPr indent="-355600" lvl="0" marL="457200" rtl="0" algn="l">
              <a:spcBef>
                <a:spcPts val="0"/>
              </a:spcBef>
              <a:spcAft>
                <a:spcPts val="0"/>
              </a:spcAft>
              <a:buSzPts val="2000"/>
              <a:buChar char="●"/>
            </a:pPr>
            <a:r>
              <a:rPr lang="en-US" sz="2000"/>
              <a:t>In our kitchen analogy, this data represents the ingredients we will use to cook the final dish (the AI model).</a:t>
            </a:r>
            <a:endParaRPr sz="2000"/>
          </a:p>
          <a:p>
            <a:pPr indent="-355600" lvl="0" marL="457200" rtl="0" algn="l">
              <a:spcBef>
                <a:spcPts val="0"/>
              </a:spcBef>
              <a:spcAft>
                <a:spcPts val="0"/>
              </a:spcAft>
              <a:buSzPts val="2000"/>
              <a:buChar char="●"/>
            </a:pPr>
            <a:r>
              <a:rPr lang="en-US" sz="2000"/>
              <a:t>Each row in the data is one example, and each column is a piece of information about that example.</a:t>
            </a:r>
            <a:endParaRPr sz="2000"/>
          </a:p>
          <a:p>
            <a:pPr indent="-355600" lvl="0" marL="457200" rtl="0" algn="l">
              <a:spcBef>
                <a:spcPts val="0"/>
              </a:spcBef>
              <a:spcAft>
                <a:spcPts val="0"/>
              </a:spcAft>
              <a:buSzPts val="2000"/>
              <a:buChar char="●"/>
            </a:pPr>
            <a:r>
              <a:rPr lang="en-US" sz="2000"/>
              <a:t>For our task, the original data starts as 28 × 28 grayscale images.</a:t>
            </a:r>
            <a:endParaRPr sz="2000"/>
          </a:p>
          <a:p>
            <a:pPr indent="-355600" lvl="0" marL="457200" rtl="0" algn="l">
              <a:spcBef>
                <a:spcPts val="0"/>
              </a:spcBef>
              <a:spcAft>
                <a:spcPts val="0"/>
              </a:spcAft>
              <a:buSzPts val="2000"/>
              <a:buChar char="●"/>
            </a:pPr>
            <a:r>
              <a:rPr lang="en-US" sz="2000"/>
              <a:t>Each image is made up of pixels Each pixel is a number representing how dark or light it is. AI models cannot work directly with images — they work with numbers</a:t>
            </a:r>
            <a:endParaRPr sz="2000"/>
          </a:p>
          <a:p>
            <a:pPr indent="0" lvl="0" marL="457200" rtl="0" algn="l">
              <a:spcBef>
                <a:spcPts val="0"/>
              </a:spcBef>
              <a:spcAft>
                <a:spcPts val="0"/>
              </a:spcAft>
              <a:buNone/>
            </a:pPr>
            <a:r>
              <a:t/>
            </a:r>
            <a:endParaRPr b="1" sz="2000"/>
          </a:p>
        </p:txBody>
      </p:sp>
      <p:pic>
        <p:nvPicPr>
          <p:cNvPr id="139" name="Google Shape;139;g392c354673f_0_55"/>
          <p:cNvPicPr preferRelativeResize="0"/>
          <p:nvPr/>
        </p:nvPicPr>
        <p:blipFill>
          <a:blip r:embed="rId3">
            <a:alphaModFix/>
          </a:blip>
          <a:stretch>
            <a:fillRect/>
          </a:stretch>
        </p:blipFill>
        <p:spPr>
          <a:xfrm>
            <a:off x="7242700" y="2763575"/>
            <a:ext cx="4734550" cy="154346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4" name="Shape 144"/>
        <p:cNvGrpSpPr/>
        <p:nvPr/>
      </p:nvGrpSpPr>
      <p:grpSpPr>
        <a:xfrm>
          <a:off x="0" y="0"/>
          <a:ext cx="0" cy="0"/>
          <a:chOff x="0" y="0"/>
          <a:chExt cx="0" cy="0"/>
        </a:xfrm>
      </p:grpSpPr>
      <p:sp>
        <p:nvSpPr>
          <p:cNvPr id="145" name="Google Shape;145;g392c354673f_0_65"/>
          <p:cNvSpPr txBox="1"/>
          <p:nvPr>
            <p:ph type="title"/>
          </p:nvPr>
        </p:nvSpPr>
        <p:spPr>
          <a:xfrm>
            <a:off x="1074050" y="329500"/>
            <a:ext cx="11118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Data </a:t>
            </a:r>
            <a:r>
              <a:rPr lang="en-US">
                <a:latin typeface="Avenir"/>
                <a:ea typeface="Avenir"/>
                <a:cs typeface="Avenir"/>
                <a:sym typeface="Avenir"/>
              </a:rPr>
              <a:t>Preprocessing</a:t>
            </a:r>
            <a:endParaRPr/>
          </a:p>
        </p:txBody>
      </p:sp>
      <p:sp>
        <p:nvSpPr>
          <p:cNvPr id="146" name="Google Shape;146;g392c354673f_0_65"/>
          <p:cNvSpPr/>
          <p:nvPr/>
        </p:nvSpPr>
        <p:spPr>
          <a:xfrm>
            <a:off x="0" y="0"/>
            <a:ext cx="4155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47" name="Google Shape;147;g392c354673f_0_65"/>
          <p:cNvSpPr txBox="1"/>
          <p:nvPr/>
        </p:nvSpPr>
        <p:spPr>
          <a:xfrm>
            <a:off x="976825" y="1714525"/>
            <a:ext cx="10442700" cy="20319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US" sz="2000"/>
              <a:t>Before we cook, we need to make sure our ingredients are clean, consistent, and ready to use.</a:t>
            </a:r>
            <a:endParaRPr sz="2000"/>
          </a:p>
          <a:p>
            <a:pPr indent="0" lvl="0" marL="457200" rtl="0" algn="l">
              <a:spcBef>
                <a:spcPts val="0"/>
              </a:spcBef>
              <a:spcAft>
                <a:spcPts val="0"/>
              </a:spcAft>
              <a:buNone/>
            </a:pPr>
            <a:r>
              <a:t/>
            </a:r>
            <a:endParaRPr sz="2000"/>
          </a:p>
          <a:p>
            <a:pPr indent="-355600" lvl="0" marL="457200" rtl="0" algn="l">
              <a:spcBef>
                <a:spcPts val="0"/>
              </a:spcBef>
              <a:spcAft>
                <a:spcPts val="0"/>
              </a:spcAft>
              <a:buSzPts val="2000"/>
              <a:buChar char="●"/>
            </a:pPr>
            <a:r>
              <a:rPr lang="en-US" sz="2000"/>
              <a:t>Even though our data came from images, once it is loaded into Python it can still contain issues that would confuse an AI model.</a:t>
            </a:r>
            <a:endParaRPr sz="2000"/>
          </a:p>
          <a:p>
            <a:pPr indent="0" lvl="0" marL="457200" rtl="0" algn="l">
              <a:spcBef>
                <a:spcPts val="0"/>
              </a:spcBef>
              <a:spcAft>
                <a:spcPts val="0"/>
              </a:spcAft>
              <a:buNone/>
            </a:pPr>
            <a:r>
              <a:t/>
            </a:r>
            <a:endParaRPr b="1" sz="2000"/>
          </a:p>
        </p:txBody>
      </p:sp>
      <p:pic>
        <p:nvPicPr>
          <p:cNvPr id="148" name="Google Shape;148;g392c354673f_0_65"/>
          <p:cNvPicPr preferRelativeResize="0"/>
          <p:nvPr/>
        </p:nvPicPr>
        <p:blipFill>
          <a:blip r:embed="rId3">
            <a:alphaModFix/>
          </a:blip>
          <a:stretch>
            <a:fillRect/>
          </a:stretch>
        </p:blipFill>
        <p:spPr>
          <a:xfrm>
            <a:off x="3321500" y="3963725"/>
            <a:ext cx="5460925" cy="2073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3" name="Shape 153"/>
        <p:cNvGrpSpPr/>
        <p:nvPr/>
      </p:nvGrpSpPr>
      <p:grpSpPr>
        <a:xfrm>
          <a:off x="0" y="0"/>
          <a:ext cx="0" cy="0"/>
          <a:chOff x="0" y="0"/>
          <a:chExt cx="0" cy="0"/>
        </a:xfrm>
      </p:grpSpPr>
      <p:sp>
        <p:nvSpPr>
          <p:cNvPr id="154" name="Google Shape;154;g392c354673f_0_75"/>
          <p:cNvSpPr txBox="1"/>
          <p:nvPr>
            <p:ph type="title"/>
          </p:nvPr>
        </p:nvSpPr>
        <p:spPr>
          <a:xfrm>
            <a:off x="1074050" y="329500"/>
            <a:ext cx="11118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Splitting the Data</a:t>
            </a:r>
            <a:endParaRPr/>
          </a:p>
        </p:txBody>
      </p:sp>
      <p:sp>
        <p:nvSpPr>
          <p:cNvPr id="155" name="Google Shape;155;g392c354673f_0_75"/>
          <p:cNvSpPr/>
          <p:nvPr/>
        </p:nvSpPr>
        <p:spPr>
          <a:xfrm>
            <a:off x="0" y="0"/>
            <a:ext cx="4155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6" name="Google Shape;156;g392c354673f_0_75"/>
          <p:cNvSpPr txBox="1"/>
          <p:nvPr/>
        </p:nvSpPr>
        <p:spPr>
          <a:xfrm>
            <a:off x="976825" y="1714525"/>
            <a:ext cx="10442700" cy="20319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US" sz="2000"/>
              <a:t>Now that our ingredients (`X`) and labels (`y`) are prepared, we need to decide **how we will use them**.</a:t>
            </a:r>
            <a:endParaRPr sz="2000"/>
          </a:p>
          <a:p>
            <a:pPr indent="-355600" lvl="0" marL="457200" rtl="0" algn="l">
              <a:spcBef>
                <a:spcPts val="0"/>
              </a:spcBef>
              <a:spcAft>
                <a:spcPts val="0"/>
              </a:spcAft>
              <a:buSzPts val="2000"/>
              <a:buChar char="●"/>
            </a:pPr>
            <a:r>
              <a:rPr lang="en-US" sz="2000"/>
              <a:t>If we let the AI learn from *all* the data and then test it on the *same* data, it would be like memorizing the answers to a test instead of learning the material</a:t>
            </a:r>
            <a:endParaRPr sz="2000"/>
          </a:p>
          <a:p>
            <a:pPr indent="-355600" lvl="0" marL="457200" rtl="0" algn="l">
              <a:spcBef>
                <a:spcPts val="0"/>
              </a:spcBef>
              <a:spcAft>
                <a:spcPts val="0"/>
              </a:spcAft>
              <a:buSzPts val="2000"/>
              <a:buChar char="●"/>
            </a:pPr>
            <a:r>
              <a:rPr lang="en-US" sz="2000"/>
              <a:t>Instead, we split the data into two groups.</a:t>
            </a:r>
            <a:endParaRPr sz="2000"/>
          </a:p>
          <a:p>
            <a:pPr indent="0" lvl="0" marL="457200" rtl="0" algn="l">
              <a:spcBef>
                <a:spcPts val="0"/>
              </a:spcBef>
              <a:spcAft>
                <a:spcPts val="0"/>
              </a:spcAft>
              <a:buNone/>
            </a:pPr>
            <a:r>
              <a:t/>
            </a:r>
            <a:endParaRPr b="1" sz="2000"/>
          </a:p>
        </p:txBody>
      </p:sp>
      <p:pic>
        <p:nvPicPr>
          <p:cNvPr id="157" name="Google Shape;157;g392c354673f_0_75"/>
          <p:cNvPicPr preferRelativeResize="0"/>
          <p:nvPr/>
        </p:nvPicPr>
        <p:blipFill>
          <a:blip r:embed="rId3">
            <a:alphaModFix/>
          </a:blip>
          <a:stretch>
            <a:fillRect/>
          </a:stretch>
        </p:blipFill>
        <p:spPr>
          <a:xfrm>
            <a:off x="1536800" y="4272925"/>
            <a:ext cx="9882724" cy="621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2" name="Shape 162"/>
        <p:cNvGrpSpPr/>
        <p:nvPr/>
      </p:nvGrpSpPr>
      <p:grpSpPr>
        <a:xfrm>
          <a:off x="0" y="0"/>
          <a:ext cx="0" cy="0"/>
          <a:chOff x="0" y="0"/>
          <a:chExt cx="0" cy="0"/>
        </a:xfrm>
      </p:grpSpPr>
      <p:sp>
        <p:nvSpPr>
          <p:cNvPr id="163" name="Google Shape;163;g392c354673f_0_85"/>
          <p:cNvSpPr txBox="1"/>
          <p:nvPr>
            <p:ph type="title"/>
          </p:nvPr>
        </p:nvSpPr>
        <p:spPr>
          <a:xfrm>
            <a:off x="1074050" y="329500"/>
            <a:ext cx="11118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Building the Model</a:t>
            </a:r>
            <a:endParaRPr/>
          </a:p>
        </p:txBody>
      </p:sp>
      <p:sp>
        <p:nvSpPr>
          <p:cNvPr id="164" name="Google Shape;164;g392c354673f_0_85"/>
          <p:cNvSpPr/>
          <p:nvPr/>
        </p:nvSpPr>
        <p:spPr>
          <a:xfrm>
            <a:off x="0" y="0"/>
            <a:ext cx="4155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65" name="Google Shape;165;g392c354673f_0_85"/>
          <p:cNvPicPr preferRelativeResize="0"/>
          <p:nvPr/>
        </p:nvPicPr>
        <p:blipFill>
          <a:blip r:embed="rId3">
            <a:alphaModFix/>
          </a:blip>
          <a:stretch>
            <a:fillRect/>
          </a:stretch>
        </p:blipFill>
        <p:spPr>
          <a:xfrm>
            <a:off x="2137881" y="1707152"/>
            <a:ext cx="7548069" cy="2133150"/>
          </a:xfrm>
          <a:prstGeom prst="rect">
            <a:avLst/>
          </a:prstGeom>
          <a:noFill/>
          <a:ln>
            <a:noFill/>
          </a:ln>
        </p:spPr>
      </p:pic>
      <p:pic>
        <p:nvPicPr>
          <p:cNvPr id="166" name="Google Shape;166;g392c354673f_0_85"/>
          <p:cNvPicPr preferRelativeResize="0"/>
          <p:nvPr/>
        </p:nvPicPr>
        <p:blipFill>
          <a:blip r:embed="rId4">
            <a:alphaModFix/>
          </a:blip>
          <a:stretch>
            <a:fillRect/>
          </a:stretch>
        </p:blipFill>
        <p:spPr>
          <a:xfrm>
            <a:off x="3265713" y="4084088"/>
            <a:ext cx="5292403" cy="213316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71" name="Shape 171"/>
        <p:cNvGrpSpPr/>
        <p:nvPr/>
      </p:nvGrpSpPr>
      <p:grpSpPr>
        <a:xfrm>
          <a:off x="0" y="0"/>
          <a:ext cx="0" cy="0"/>
          <a:chOff x="0" y="0"/>
          <a:chExt cx="0" cy="0"/>
        </a:xfrm>
      </p:grpSpPr>
      <p:sp>
        <p:nvSpPr>
          <p:cNvPr id="172" name="Google Shape;172;g392c354673f_0_95"/>
          <p:cNvSpPr txBox="1"/>
          <p:nvPr>
            <p:ph type="title"/>
          </p:nvPr>
        </p:nvSpPr>
        <p:spPr>
          <a:xfrm>
            <a:off x="1074050" y="329500"/>
            <a:ext cx="11118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Training the Model</a:t>
            </a:r>
            <a:endParaRPr/>
          </a:p>
        </p:txBody>
      </p:sp>
      <p:sp>
        <p:nvSpPr>
          <p:cNvPr id="173" name="Google Shape;173;g392c354673f_0_95"/>
          <p:cNvSpPr/>
          <p:nvPr/>
        </p:nvSpPr>
        <p:spPr>
          <a:xfrm>
            <a:off x="0" y="0"/>
            <a:ext cx="4155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74" name="Google Shape;174;g392c354673f_0_95"/>
          <p:cNvPicPr preferRelativeResize="0"/>
          <p:nvPr/>
        </p:nvPicPr>
        <p:blipFill>
          <a:blip r:embed="rId3">
            <a:alphaModFix/>
          </a:blip>
          <a:stretch>
            <a:fillRect/>
          </a:stretch>
        </p:blipFill>
        <p:spPr>
          <a:xfrm>
            <a:off x="1464075" y="1745250"/>
            <a:ext cx="10337950" cy="4406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79" name="Shape 179"/>
        <p:cNvGrpSpPr/>
        <p:nvPr/>
      </p:nvGrpSpPr>
      <p:grpSpPr>
        <a:xfrm>
          <a:off x="0" y="0"/>
          <a:ext cx="0" cy="0"/>
          <a:chOff x="0" y="0"/>
          <a:chExt cx="0" cy="0"/>
        </a:xfrm>
      </p:grpSpPr>
      <p:sp>
        <p:nvSpPr>
          <p:cNvPr id="180" name="Google Shape;180;g392c354673f_0_118"/>
          <p:cNvSpPr txBox="1"/>
          <p:nvPr>
            <p:ph type="title"/>
          </p:nvPr>
        </p:nvSpPr>
        <p:spPr>
          <a:xfrm>
            <a:off x="1074050" y="329500"/>
            <a:ext cx="11118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How to Build Your Own Model</a:t>
            </a:r>
            <a:endParaRPr/>
          </a:p>
        </p:txBody>
      </p:sp>
      <p:sp>
        <p:nvSpPr>
          <p:cNvPr id="181" name="Google Shape;181;g392c354673f_0_118"/>
          <p:cNvSpPr/>
          <p:nvPr/>
        </p:nvSpPr>
        <p:spPr>
          <a:xfrm>
            <a:off x="0" y="0"/>
            <a:ext cx="4155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2" name="Google Shape;182;g392c354673f_0_118"/>
          <p:cNvSpPr txBox="1"/>
          <p:nvPr/>
        </p:nvSpPr>
        <p:spPr>
          <a:xfrm>
            <a:off x="976825" y="1714525"/>
            <a:ext cx="4395300" cy="29553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US" sz="2000"/>
              <a:t>Add a new code cell in Google Colab</a:t>
            </a:r>
            <a:endParaRPr sz="2000"/>
          </a:p>
          <a:p>
            <a:pPr indent="-355600" lvl="0" marL="457200" rtl="0" algn="l">
              <a:spcBef>
                <a:spcPts val="0"/>
              </a:spcBef>
              <a:spcAft>
                <a:spcPts val="0"/>
              </a:spcAft>
              <a:buSzPts val="2000"/>
              <a:buChar char="●"/>
            </a:pPr>
            <a:r>
              <a:rPr lang="en-US" sz="2000"/>
              <a:t>Copy the original model into the new cell</a:t>
            </a:r>
            <a:endParaRPr sz="2000"/>
          </a:p>
          <a:p>
            <a:pPr indent="-355600" lvl="0" marL="457200" rtl="0" algn="l">
              <a:spcBef>
                <a:spcPts val="0"/>
              </a:spcBef>
              <a:spcAft>
                <a:spcPts val="0"/>
              </a:spcAft>
              <a:buSzPts val="2000"/>
              <a:buChar char="●"/>
            </a:pPr>
            <a:r>
              <a:rPr lang="en-US" sz="2000"/>
              <a:t>Modify the model </a:t>
            </a:r>
            <a:endParaRPr sz="2000"/>
          </a:p>
          <a:p>
            <a:pPr indent="-355600" lvl="0" marL="457200" rtl="0" algn="l">
              <a:spcBef>
                <a:spcPts val="0"/>
              </a:spcBef>
              <a:spcAft>
                <a:spcPts val="0"/>
              </a:spcAft>
              <a:buSzPts val="2000"/>
              <a:buChar char="●"/>
            </a:pPr>
            <a:r>
              <a:rPr lang="en-US" sz="2000"/>
              <a:t>Recompile after changes</a:t>
            </a:r>
            <a:endParaRPr sz="2000"/>
          </a:p>
          <a:p>
            <a:pPr indent="-355600" lvl="0" marL="457200" rtl="0" algn="l">
              <a:spcBef>
                <a:spcPts val="0"/>
              </a:spcBef>
              <a:spcAft>
                <a:spcPts val="0"/>
              </a:spcAft>
              <a:buSzPts val="2000"/>
              <a:buChar char="●"/>
            </a:pPr>
            <a:r>
              <a:rPr lang="en-US" sz="2000"/>
              <a:t>Retrain the model</a:t>
            </a:r>
            <a:endParaRPr sz="2000"/>
          </a:p>
          <a:p>
            <a:pPr indent="-355600" lvl="0" marL="457200" rtl="0" algn="l">
              <a:spcBef>
                <a:spcPts val="0"/>
              </a:spcBef>
              <a:spcAft>
                <a:spcPts val="0"/>
              </a:spcAft>
              <a:buSzPts val="2000"/>
              <a:buChar char="●"/>
            </a:pPr>
            <a:r>
              <a:rPr lang="en-US" sz="2000"/>
              <a:t>Keep your results organized</a:t>
            </a:r>
            <a:endParaRPr sz="2000"/>
          </a:p>
          <a:p>
            <a:pPr indent="0" lvl="0" marL="457200" rtl="0" algn="l">
              <a:spcBef>
                <a:spcPts val="0"/>
              </a:spcBef>
              <a:spcAft>
                <a:spcPts val="0"/>
              </a:spcAft>
              <a:buNone/>
            </a:pPr>
            <a:r>
              <a:t/>
            </a:r>
            <a:endParaRPr b="1" sz="2000"/>
          </a:p>
        </p:txBody>
      </p:sp>
      <p:pic>
        <p:nvPicPr>
          <p:cNvPr id="183" name="Google Shape;183;g392c354673f_0_118"/>
          <p:cNvPicPr preferRelativeResize="0"/>
          <p:nvPr/>
        </p:nvPicPr>
        <p:blipFill>
          <a:blip r:embed="rId3">
            <a:alphaModFix/>
          </a:blip>
          <a:stretch>
            <a:fillRect/>
          </a:stretch>
        </p:blipFill>
        <p:spPr>
          <a:xfrm>
            <a:off x="5607500" y="2368263"/>
            <a:ext cx="5695950" cy="16478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88" name="Shape 188"/>
        <p:cNvGrpSpPr/>
        <p:nvPr/>
      </p:nvGrpSpPr>
      <p:grpSpPr>
        <a:xfrm>
          <a:off x="0" y="0"/>
          <a:ext cx="0" cy="0"/>
          <a:chOff x="0" y="0"/>
          <a:chExt cx="0" cy="0"/>
        </a:xfrm>
      </p:grpSpPr>
      <p:sp>
        <p:nvSpPr>
          <p:cNvPr id="189" name="Google Shape;189;g392c354673f_0_104"/>
          <p:cNvSpPr txBox="1"/>
          <p:nvPr>
            <p:ph type="title"/>
          </p:nvPr>
        </p:nvSpPr>
        <p:spPr>
          <a:xfrm>
            <a:off x="1074050" y="329500"/>
            <a:ext cx="11118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Making Predictions</a:t>
            </a:r>
            <a:endParaRPr/>
          </a:p>
        </p:txBody>
      </p:sp>
      <p:sp>
        <p:nvSpPr>
          <p:cNvPr id="190" name="Google Shape;190;g392c354673f_0_104"/>
          <p:cNvSpPr/>
          <p:nvPr/>
        </p:nvSpPr>
        <p:spPr>
          <a:xfrm>
            <a:off x="0" y="0"/>
            <a:ext cx="4155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91" name="Google Shape;191;g392c354673f_0_104"/>
          <p:cNvPicPr preferRelativeResize="0"/>
          <p:nvPr/>
        </p:nvPicPr>
        <p:blipFill>
          <a:blip r:embed="rId3">
            <a:alphaModFix/>
          </a:blip>
          <a:stretch>
            <a:fillRect/>
          </a:stretch>
        </p:blipFill>
        <p:spPr>
          <a:xfrm>
            <a:off x="3508525" y="1579000"/>
            <a:ext cx="4263875" cy="466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96" name="Shape 196"/>
        <p:cNvGrpSpPr/>
        <p:nvPr/>
      </p:nvGrpSpPr>
      <p:grpSpPr>
        <a:xfrm>
          <a:off x="0" y="0"/>
          <a:ext cx="0" cy="0"/>
          <a:chOff x="0" y="0"/>
          <a:chExt cx="0" cy="0"/>
        </a:xfrm>
      </p:grpSpPr>
      <p:sp>
        <p:nvSpPr>
          <p:cNvPr id="197" name="Google Shape;197;g392c354673f_0_136"/>
          <p:cNvSpPr txBox="1"/>
          <p:nvPr>
            <p:ph type="title"/>
          </p:nvPr>
        </p:nvSpPr>
        <p:spPr>
          <a:xfrm>
            <a:off x="1074050" y="329500"/>
            <a:ext cx="11118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How to Test </a:t>
            </a:r>
            <a:r>
              <a:rPr lang="en-US">
                <a:latin typeface="Avenir"/>
                <a:ea typeface="Avenir"/>
                <a:cs typeface="Avenir"/>
                <a:sym typeface="Avenir"/>
              </a:rPr>
              <a:t>with</a:t>
            </a:r>
            <a:r>
              <a:rPr lang="en-US">
                <a:latin typeface="Avenir"/>
                <a:ea typeface="Avenir"/>
                <a:cs typeface="Avenir"/>
                <a:sym typeface="Avenir"/>
              </a:rPr>
              <a:t> Your Own Handwriting</a:t>
            </a:r>
            <a:endParaRPr/>
          </a:p>
        </p:txBody>
      </p:sp>
      <p:sp>
        <p:nvSpPr>
          <p:cNvPr id="198" name="Google Shape;198;g392c354673f_0_136"/>
          <p:cNvSpPr/>
          <p:nvPr/>
        </p:nvSpPr>
        <p:spPr>
          <a:xfrm>
            <a:off x="0" y="0"/>
            <a:ext cx="4155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99" name="Google Shape;199;g392c354673f_0_136"/>
          <p:cNvSpPr txBox="1"/>
          <p:nvPr/>
        </p:nvSpPr>
        <p:spPr>
          <a:xfrm>
            <a:off x="976825" y="1714525"/>
            <a:ext cx="4395300" cy="26475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US" sz="2000"/>
              <a:t>Write the Digits 0-9</a:t>
            </a:r>
            <a:endParaRPr sz="2000"/>
          </a:p>
          <a:p>
            <a:pPr indent="-355600" lvl="0" marL="457200" rtl="0" algn="l">
              <a:spcBef>
                <a:spcPts val="0"/>
              </a:spcBef>
              <a:spcAft>
                <a:spcPts val="0"/>
              </a:spcAft>
              <a:buSzPts val="2000"/>
              <a:buChar char="●"/>
            </a:pPr>
            <a:r>
              <a:rPr lang="en-US" sz="2000"/>
              <a:t>Take a Photo of your digits</a:t>
            </a:r>
            <a:endParaRPr sz="2000"/>
          </a:p>
          <a:p>
            <a:pPr indent="-355600" lvl="0" marL="457200" rtl="0" algn="l">
              <a:spcBef>
                <a:spcPts val="0"/>
              </a:spcBef>
              <a:spcAft>
                <a:spcPts val="0"/>
              </a:spcAft>
              <a:buSzPts val="2000"/>
              <a:buChar char="●"/>
            </a:pPr>
            <a:r>
              <a:rPr lang="en-US" sz="2000"/>
              <a:t>Crop the images</a:t>
            </a:r>
            <a:endParaRPr sz="2000"/>
          </a:p>
          <a:p>
            <a:pPr indent="-355600" lvl="0" marL="457200" rtl="0" algn="l">
              <a:spcBef>
                <a:spcPts val="0"/>
              </a:spcBef>
              <a:spcAft>
                <a:spcPts val="0"/>
              </a:spcAft>
              <a:buSzPts val="2000"/>
              <a:buChar char="●"/>
            </a:pPr>
            <a:r>
              <a:rPr lang="en-US" sz="2000"/>
              <a:t>Name the Files (ie. 0.png)</a:t>
            </a:r>
            <a:endParaRPr sz="2000"/>
          </a:p>
          <a:p>
            <a:pPr indent="-355600" lvl="0" marL="457200" rtl="0" algn="l">
              <a:spcBef>
                <a:spcPts val="0"/>
              </a:spcBef>
              <a:spcAft>
                <a:spcPts val="0"/>
              </a:spcAft>
              <a:buSzPts val="2000"/>
              <a:buChar char="●"/>
            </a:pPr>
            <a:r>
              <a:rPr lang="en-US" sz="2000"/>
              <a:t>Upload the Files to Google Colab</a:t>
            </a:r>
            <a:endParaRPr sz="2000"/>
          </a:p>
          <a:p>
            <a:pPr indent="-355600" lvl="0" marL="457200" rtl="0" algn="l">
              <a:spcBef>
                <a:spcPts val="0"/>
              </a:spcBef>
              <a:spcAft>
                <a:spcPts val="0"/>
              </a:spcAft>
              <a:buSzPts val="2000"/>
              <a:buChar char="●"/>
            </a:pPr>
            <a:r>
              <a:rPr lang="en-US" sz="2000"/>
              <a:t>Run the Prediction Code</a:t>
            </a:r>
            <a:endParaRPr sz="2000"/>
          </a:p>
          <a:p>
            <a:pPr indent="-355600" lvl="0" marL="457200" rtl="0" algn="l">
              <a:spcBef>
                <a:spcPts val="0"/>
              </a:spcBef>
              <a:spcAft>
                <a:spcPts val="0"/>
              </a:spcAft>
              <a:buSzPts val="2000"/>
              <a:buChar char="●"/>
            </a:pPr>
            <a:r>
              <a:rPr lang="en-US" sz="2000"/>
              <a:t>Adjust the Threshold if Needed</a:t>
            </a:r>
            <a:endParaRPr sz="2000"/>
          </a:p>
          <a:p>
            <a:pPr indent="0" lvl="0" marL="457200" rtl="0" algn="l">
              <a:spcBef>
                <a:spcPts val="0"/>
              </a:spcBef>
              <a:spcAft>
                <a:spcPts val="0"/>
              </a:spcAft>
              <a:buNone/>
            </a:pPr>
            <a:r>
              <a:t/>
            </a:r>
            <a:endParaRPr b="1" sz="2000"/>
          </a:p>
        </p:txBody>
      </p:sp>
      <p:pic>
        <p:nvPicPr>
          <p:cNvPr id="200" name="Google Shape;200;g392c354673f_0_136"/>
          <p:cNvPicPr preferRelativeResize="0"/>
          <p:nvPr/>
        </p:nvPicPr>
        <p:blipFill>
          <a:blip r:embed="rId3">
            <a:alphaModFix/>
          </a:blip>
          <a:stretch>
            <a:fillRect/>
          </a:stretch>
        </p:blipFill>
        <p:spPr>
          <a:xfrm>
            <a:off x="6044050" y="1786825"/>
            <a:ext cx="5334000" cy="34004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2025-07-05T12:48:20Z</dcterms:created>
  <dc:creator>Connors, Collin Dey</dc:creator>
</cp:coreProperties>
</file>