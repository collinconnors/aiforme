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Play"/>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Vo0dgqBfdJjPHnizEkXQsEEyv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A78581-6FA7-4A9E-8A48-1431CFC64247}">
  <a:tblStyle styleId="{CBA78581-6FA7-4A9E-8A48-1431CFC6424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lay-regular.fntdata"/><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d4ca9d3d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d4ca9d3d1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87" name="Google Shape;87;g36d4ca9d3d1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a:p>
        </p:txBody>
      </p:sp>
      <p:sp>
        <p:nvSpPr>
          <p:cNvPr id="98" name="Google Shape;9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041cb7877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b041cb7877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08" name="Google Shape;108;g3b041cb7877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041cb7877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b041cb7877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16" name="Google Shape;116;g3b041cb7877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041cb7877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b041cb7877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25" name="Google Shape;125;g3b041cb7877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041cb7877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b041cb7877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33" name="Google Shape;133;g3b041cb7877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041cb7877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b041cb7877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rPr lang="en-US"/>
              <a:t>https://guides.library.miami.edu/newspapers</a:t>
            </a:r>
            <a:endParaRPr/>
          </a:p>
        </p:txBody>
      </p:sp>
      <p:sp>
        <p:nvSpPr>
          <p:cNvPr id="141" name="Google Shape;141;g3b041cb7877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041cb7877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b041cb7877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50" name="Google Shape;150;g3b041cb7877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0d4288693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b0d4288693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p:txBody>
      </p:sp>
      <p:sp>
        <p:nvSpPr>
          <p:cNvPr id="158" name="Google Shape;158;g3b0d4288693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sp>
        <p:nvSpPr>
          <p:cNvPr id="89" name="Google Shape;89;g36d4ca9d3d1_0_26"/>
          <p:cNvSpPr txBox="1"/>
          <p:nvPr>
            <p:ph type="ctrTitle"/>
          </p:nvPr>
        </p:nvSpPr>
        <p:spPr>
          <a:xfrm>
            <a:off x="-93525" y="349525"/>
            <a:ext cx="7045200" cy="8772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venir"/>
              <a:buNone/>
            </a:pPr>
            <a:r>
              <a:rPr lang="en-US">
                <a:latin typeface="Avenir"/>
                <a:ea typeface="Avenir"/>
                <a:cs typeface="Avenir"/>
                <a:sym typeface="Avenir"/>
              </a:rPr>
              <a:t>CSC145: AI For Me</a:t>
            </a:r>
            <a:endParaRPr/>
          </a:p>
        </p:txBody>
      </p:sp>
      <p:sp>
        <p:nvSpPr>
          <p:cNvPr id="90" name="Google Shape;90;g36d4ca9d3d1_0_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g36d4ca9d3d1_0_26"/>
          <p:cNvSpPr txBox="1"/>
          <p:nvPr/>
        </p:nvSpPr>
        <p:spPr>
          <a:xfrm>
            <a:off x="5985175" y="2158225"/>
            <a:ext cx="4998600" cy="877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700"/>
              <a:buFont typeface="Arial"/>
              <a:buNone/>
            </a:pPr>
            <a:r>
              <a:rPr b="0" i="1" lang="en-US" sz="1700" u="none" cap="none" strike="noStrike">
                <a:solidFill>
                  <a:schemeClr val="dk1"/>
                </a:solidFill>
                <a:latin typeface="Avenir"/>
                <a:ea typeface="Avenir"/>
                <a:cs typeface="Avenir"/>
                <a:sym typeface="Avenir"/>
              </a:rPr>
              <a:t>“</a:t>
            </a:r>
            <a:r>
              <a:rPr i="1" lang="en-US" sz="1700">
                <a:solidFill>
                  <a:schemeClr val="dk1"/>
                </a:solidFill>
                <a:latin typeface="Avenir"/>
                <a:ea typeface="Avenir"/>
                <a:cs typeface="Avenir"/>
                <a:sym typeface="Avenir"/>
              </a:rPr>
              <a:t>We can only see a short distance ahead, but we can see plenty there that needs to be done.</a:t>
            </a:r>
            <a:r>
              <a:rPr b="0" i="1" lang="en-US" sz="1700" u="none" cap="none" strike="noStrike">
                <a:solidFill>
                  <a:schemeClr val="dk1"/>
                </a:solidFill>
                <a:latin typeface="Avenir"/>
                <a:ea typeface="Avenir"/>
                <a:cs typeface="Avenir"/>
                <a:sym typeface="Avenir"/>
              </a:rPr>
              <a:t>” </a:t>
            </a:r>
            <a:endParaRPr b="0" i="1" sz="1700" u="none" cap="none" strike="noStrike">
              <a:solidFill>
                <a:schemeClr val="dk1"/>
              </a:solidFill>
              <a:latin typeface="Avenir"/>
              <a:ea typeface="Avenir"/>
              <a:cs typeface="Avenir"/>
              <a:sym typeface="Avenir"/>
            </a:endParaRPr>
          </a:p>
          <a:p>
            <a:pPr indent="0" lvl="0" marL="0" marR="0" rtl="0" algn="r">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venir"/>
                <a:ea typeface="Avenir"/>
                <a:cs typeface="Avenir"/>
                <a:sym typeface="Avenir"/>
              </a:rPr>
              <a:t>- </a:t>
            </a:r>
            <a:r>
              <a:rPr lang="en-US" sz="1700">
                <a:solidFill>
                  <a:schemeClr val="dk1"/>
                </a:solidFill>
                <a:latin typeface="Avenir"/>
                <a:ea typeface="Avenir"/>
                <a:cs typeface="Avenir"/>
                <a:sym typeface="Avenir"/>
              </a:rPr>
              <a:t>ALAN TURING</a:t>
            </a:r>
            <a:r>
              <a:rPr b="0" i="0" lang="en-US" sz="1700" u="none" cap="none" strike="noStrike">
                <a:solidFill>
                  <a:schemeClr val="dk1"/>
                </a:solidFill>
                <a:latin typeface="Avenir"/>
                <a:ea typeface="Avenir"/>
                <a:cs typeface="Avenir"/>
                <a:sym typeface="Avenir"/>
              </a:rPr>
              <a:t>  (</a:t>
            </a:r>
            <a:r>
              <a:rPr lang="en-US" sz="1700">
                <a:solidFill>
                  <a:schemeClr val="dk1"/>
                </a:solidFill>
                <a:latin typeface="Avenir"/>
                <a:ea typeface="Avenir"/>
                <a:cs typeface="Avenir"/>
                <a:sym typeface="Avenir"/>
              </a:rPr>
              <a:t>1950</a:t>
            </a:r>
            <a:r>
              <a:rPr b="0" i="0" lang="en-US" sz="1700" u="none" cap="none" strike="noStrike">
                <a:solidFill>
                  <a:schemeClr val="dk1"/>
                </a:solidFill>
                <a:latin typeface="Avenir"/>
                <a:ea typeface="Avenir"/>
                <a:cs typeface="Avenir"/>
                <a:sym typeface="Avenir"/>
              </a:rPr>
              <a:t>)</a:t>
            </a:r>
            <a:endParaRPr b="0" i="0" sz="1300" u="none" cap="none" strike="noStrike">
              <a:solidFill>
                <a:srgbClr val="000000"/>
              </a:solidFill>
              <a:latin typeface="Arial"/>
              <a:ea typeface="Arial"/>
              <a:cs typeface="Arial"/>
              <a:sym typeface="Arial"/>
            </a:endParaRPr>
          </a:p>
        </p:txBody>
      </p:sp>
      <p:sp>
        <p:nvSpPr>
          <p:cNvPr id="92" name="Google Shape;92;g36d4ca9d3d1_0_26"/>
          <p:cNvSpPr txBox="1"/>
          <p:nvPr/>
        </p:nvSpPr>
        <p:spPr>
          <a:xfrm>
            <a:off x="3435900" y="3868025"/>
            <a:ext cx="6923700" cy="2862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lang="en-US" sz="1800">
                <a:solidFill>
                  <a:schemeClr val="dk1"/>
                </a:solidFill>
                <a:latin typeface="Avenir"/>
                <a:ea typeface="Avenir"/>
                <a:cs typeface="Avenir"/>
                <a:sym typeface="Avenir"/>
              </a:rPr>
              <a:t>AI for Me is a hands-on, introductory course that explores how cutting-edge artificial intelligence tools can enhance your academic, professional, and personal life. You'll learn how AI works, where it came from, and why it matters. From using AI to write papers, build resumes, or prepare presentations, to analyzing data, creating digital art, or exploring hobbies, this course shows how AI can help you do things better, faster, and smarter. Whether you're looking to boost your grades, level up your LinkedIn, or just planning your Spring Break, AI for Me unleashes the power of AI in a practical and personal way. </a:t>
            </a:r>
            <a:endParaRPr b="0" i="0" sz="1400" u="none" cap="none" strike="noStrike">
              <a:solidFill>
                <a:srgbClr val="000000"/>
              </a:solidFill>
              <a:latin typeface="Arial"/>
              <a:ea typeface="Arial"/>
              <a:cs typeface="Arial"/>
              <a:sym typeface="Arial"/>
            </a:endParaRPr>
          </a:p>
        </p:txBody>
      </p:sp>
      <p:pic>
        <p:nvPicPr>
          <p:cNvPr id="93" name="Google Shape;93;g36d4ca9d3d1_0_26"/>
          <p:cNvPicPr preferRelativeResize="0"/>
          <p:nvPr/>
        </p:nvPicPr>
        <p:blipFill rotWithShape="1">
          <a:blip r:embed="rId3">
            <a:alphaModFix/>
          </a:blip>
          <a:srcRect b="0" l="0" r="0" t="0"/>
          <a:stretch/>
        </p:blipFill>
        <p:spPr>
          <a:xfrm>
            <a:off x="10830750" y="6020300"/>
            <a:ext cx="675450" cy="532900"/>
          </a:xfrm>
          <a:prstGeom prst="rect">
            <a:avLst/>
          </a:prstGeom>
          <a:noFill/>
          <a:ln>
            <a:noFill/>
          </a:ln>
        </p:spPr>
      </p:pic>
      <p:pic>
        <p:nvPicPr>
          <p:cNvPr id="94" name="Google Shape;94;g36d4ca9d3d1_0_26" title="AIForMeLogo.png"/>
          <p:cNvPicPr preferRelativeResize="0"/>
          <p:nvPr/>
        </p:nvPicPr>
        <p:blipFill>
          <a:blip r:embed="rId4">
            <a:alphaModFix/>
          </a:blip>
          <a:stretch>
            <a:fillRect/>
          </a:stretch>
        </p:blipFill>
        <p:spPr>
          <a:xfrm>
            <a:off x="342538" y="3765625"/>
            <a:ext cx="2787574" cy="27875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p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01" name="Google Shape;101;p5"/>
          <p:cNvPicPr preferRelativeResize="0"/>
          <p:nvPr/>
        </p:nvPicPr>
        <p:blipFill rotWithShape="1">
          <a:blip r:embed="rId3">
            <a:alphaModFix/>
          </a:blip>
          <a:srcRect b="0" l="18290" r="9130" t="18273"/>
          <a:stretch/>
        </p:blipFill>
        <p:spPr>
          <a:xfrm>
            <a:off x="1562725" y="3018750"/>
            <a:ext cx="1493100" cy="1493100"/>
          </a:xfrm>
          <a:prstGeom prst="ellipse">
            <a:avLst/>
          </a:prstGeom>
          <a:noFill/>
          <a:ln>
            <a:noFill/>
          </a:ln>
          <a:effectLst>
            <a:outerShdw blurRad="57150" rotWithShape="0" algn="bl" dir="5400000" dist="19050">
              <a:srgbClr val="000000">
                <a:alpha val="49411"/>
              </a:srgbClr>
            </a:outerShdw>
          </a:effectLst>
        </p:spPr>
      </p:pic>
      <p:sp>
        <p:nvSpPr>
          <p:cNvPr id="102" name="Google Shape;102;p5"/>
          <p:cNvSpPr txBox="1"/>
          <p:nvPr/>
        </p:nvSpPr>
        <p:spPr>
          <a:xfrm>
            <a:off x="3495825" y="2966388"/>
            <a:ext cx="6373500" cy="1597800"/>
          </a:xfrm>
          <a:prstGeom prst="rect">
            <a:avLst/>
          </a:prstGeom>
          <a:noFill/>
          <a:ln>
            <a:noFill/>
          </a:ln>
        </p:spPr>
        <p:txBody>
          <a:bodyPr anchorCtr="0" anchor="t" bIns="91425" lIns="91425" spcFirstLastPara="1" rIns="91425" wrap="square" tIns="91425">
            <a:spAutoFit/>
          </a:bodyPr>
          <a:lstStyle/>
          <a:p>
            <a:pPr indent="0" lvl="0" marL="228600" marR="0" rtl="0" algn="l">
              <a:lnSpc>
                <a:spcPct val="90000"/>
              </a:lnSpc>
              <a:spcBef>
                <a:spcPts val="0"/>
              </a:spcBef>
              <a:spcAft>
                <a:spcPts val="0"/>
              </a:spcAft>
              <a:buClr>
                <a:srgbClr val="000000"/>
              </a:buClr>
              <a:buSzPts val="3600"/>
              <a:buFont typeface="Arial"/>
              <a:buNone/>
            </a:pPr>
            <a:r>
              <a:rPr b="1" i="0" lang="en-US" sz="3600" u="none" cap="none" strike="noStrike">
                <a:solidFill>
                  <a:schemeClr val="dk1"/>
                </a:solidFill>
                <a:latin typeface="Avenir"/>
                <a:ea typeface="Avenir"/>
                <a:cs typeface="Avenir"/>
                <a:sym typeface="Avenir"/>
              </a:rPr>
              <a:t>Hüseyin Koçak </a:t>
            </a:r>
            <a:endParaRPr b="1" i="0" sz="36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1000"/>
              <a:buFont typeface="Arial"/>
              <a:buNone/>
            </a:pPr>
            <a:r>
              <a:t/>
            </a:r>
            <a:endParaRPr b="1" i="0" sz="10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2800"/>
              <a:buFont typeface="Arial"/>
              <a:buNone/>
            </a:pPr>
            <a:r>
              <a:rPr b="0" i="0" lang="en-US" sz="2800" u="none" cap="none" strike="noStrike">
                <a:solidFill>
                  <a:schemeClr val="dk1"/>
                </a:solidFill>
                <a:latin typeface="Avenir"/>
                <a:ea typeface="Avenir"/>
                <a:cs typeface="Avenir"/>
                <a:sym typeface="Avenir"/>
              </a:rPr>
              <a:t>University of Miami</a:t>
            </a:r>
            <a:endParaRPr b="0" i="0" sz="28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2800"/>
              <a:buFont typeface="Arial"/>
              <a:buNone/>
            </a:pPr>
            <a:r>
              <a:rPr b="0" i="0" lang="en-US" sz="2800" u="none" cap="none" strike="noStrike">
                <a:solidFill>
                  <a:schemeClr val="dk1"/>
                </a:solidFill>
                <a:latin typeface="Avenir"/>
                <a:ea typeface="Avenir"/>
                <a:cs typeface="Avenir"/>
                <a:sym typeface="Avenir"/>
              </a:rPr>
              <a:t>hk@cs.miami.edu</a:t>
            </a:r>
            <a:endParaRPr b="0" i="0" sz="1400" u="none" cap="none" strike="noStrike">
              <a:solidFill>
                <a:srgbClr val="000000"/>
              </a:solidFill>
              <a:latin typeface="Arial"/>
              <a:ea typeface="Arial"/>
              <a:cs typeface="Arial"/>
              <a:sym typeface="Arial"/>
            </a:endParaRPr>
          </a:p>
        </p:txBody>
      </p:sp>
      <p:sp>
        <p:nvSpPr>
          <p:cNvPr id="103" name="Google Shape;103;p5"/>
          <p:cNvSpPr txBox="1"/>
          <p:nvPr/>
        </p:nvSpPr>
        <p:spPr>
          <a:xfrm>
            <a:off x="3495825" y="565800"/>
            <a:ext cx="6998400" cy="1597800"/>
          </a:xfrm>
          <a:prstGeom prst="rect">
            <a:avLst/>
          </a:prstGeom>
          <a:noFill/>
          <a:ln>
            <a:noFill/>
          </a:ln>
        </p:spPr>
        <p:txBody>
          <a:bodyPr anchorCtr="0" anchor="t" bIns="91425" lIns="91425" spcFirstLastPara="1" rIns="91425" wrap="square" tIns="91425">
            <a:spAutoFit/>
          </a:bodyPr>
          <a:lstStyle/>
          <a:p>
            <a:pPr indent="0" lvl="0" marL="228600" marR="0" rtl="0" algn="l">
              <a:lnSpc>
                <a:spcPct val="90000"/>
              </a:lnSpc>
              <a:spcBef>
                <a:spcPts val="0"/>
              </a:spcBef>
              <a:spcAft>
                <a:spcPts val="0"/>
              </a:spcAft>
              <a:buClr>
                <a:srgbClr val="000000"/>
              </a:buClr>
              <a:buSzPts val="3600"/>
              <a:buFont typeface="Arial"/>
              <a:buNone/>
            </a:pPr>
            <a:r>
              <a:rPr b="1" i="0" lang="en-US" sz="3600" u="none" cap="none" strike="noStrike">
                <a:solidFill>
                  <a:schemeClr val="dk1"/>
                </a:solidFill>
                <a:latin typeface="Avenir"/>
                <a:ea typeface="Avenir"/>
                <a:cs typeface="Avenir"/>
                <a:sym typeface="Avenir"/>
              </a:rPr>
              <a:t>Collin Connors</a:t>
            </a:r>
            <a:endParaRPr b="1" i="0" sz="36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1000"/>
              <a:buFont typeface="Arial"/>
              <a:buNone/>
            </a:pPr>
            <a:r>
              <a:t/>
            </a:r>
            <a:endParaRPr b="1" i="0" sz="10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2800"/>
              <a:buFont typeface="Arial"/>
              <a:buNone/>
            </a:pPr>
            <a:r>
              <a:rPr b="0" i="0" lang="en-US" sz="2800" u="none" cap="none" strike="noStrike">
                <a:solidFill>
                  <a:schemeClr val="dk1"/>
                </a:solidFill>
                <a:latin typeface="Avenir"/>
                <a:ea typeface="Avenir"/>
                <a:cs typeface="Avenir"/>
                <a:sym typeface="Avenir"/>
              </a:rPr>
              <a:t>University of Miami / ERMProtect</a:t>
            </a:r>
            <a:endParaRPr b="0" i="0" sz="28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2800"/>
              <a:buFont typeface="Arial"/>
              <a:buNone/>
            </a:pPr>
            <a:r>
              <a:rPr b="0" i="0" lang="en-US" sz="2800" u="none" cap="none" strike="noStrike">
                <a:solidFill>
                  <a:schemeClr val="dk1"/>
                </a:solidFill>
                <a:latin typeface="Avenir"/>
                <a:ea typeface="Avenir"/>
                <a:cs typeface="Avenir"/>
                <a:sym typeface="Avenir"/>
              </a:rPr>
              <a:t>cdc104@miami.edu</a:t>
            </a:r>
            <a:endParaRPr b="0" i="0" sz="1400" u="none" cap="none" strike="noStrike">
              <a:solidFill>
                <a:srgbClr val="000000"/>
              </a:solidFill>
              <a:latin typeface="Arial"/>
              <a:ea typeface="Arial"/>
              <a:cs typeface="Arial"/>
              <a:sym typeface="Arial"/>
            </a:endParaRPr>
          </a:p>
        </p:txBody>
      </p:sp>
      <p:pic>
        <p:nvPicPr>
          <p:cNvPr id="104" name="Google Shape;104;p5" title="Headshot.jpg"/>
          <p:cNvPicPr preferRelativeResize="0"/>
          <p:nvPr/>
        </p:nvPicPr>
        <p:blipFill rotWithShape="1">
          <a:blip r:embed="rId4">
            <a:alphaModFix/>
          </a:blip>
          <a:srcRect b="0" l="0" r="0" t="0"/>
          <a:stretch/>
        </p:blipFill>
        <p:spPr>
          <a:xfrm>
            <a:off x="1562725" y="821550"/>
            <a:ext cx="1493100" cy="1493100"/>
          </a:xfrm>
          <a:prstGeom prst="ellipse">
            <a:avLst/>
          </a:prstGeom>
          <a:noFill/>
          <a:ln>
            <a:noFill/>
          </a:ln>
          <a:effectLst>
            <a:outerShdw blurRad="57150" rotWithShape="0" algn="bl" dir="5400000" dist="19050">
              <a:srgbClr val="000000">
                <a:alpha val="49411"/>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9" name="Shape 109"/>
        <p:cNvGrpSpPr/>
        <p:nvPr/>
      </p:nvGrpSpPr>
      <p:grpSpPr>
        <a:xfrm>
          <a:off x="0" y="0"/>
          <a:ext cx="0" cy="0"/>
          <a:chOff x="0" y="0"/>
          <a:chExt cx="0" cy="0"/>
        </a:xfrm>
      </p:grpSpPr>
      <p:sp>
        <p:nvSpPr>
          <p:cNvPr id="110" name="Google Shape;110;g3b041cb7877_0_6"/>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About the Course</a:t>
            </a:r>
            <a:endParaRPr/>
          </a:p>
        </p:txBody>
      </p:sp>
      <p:sp>
        <p:nvSpPr>
          <p:cNvPr id="111" name="Google Shape;111;g3b041cb7877_0_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 name="Google Shape;112;g3b041cb7877_0_6"/>
          <p:cNvSpPr txBox="1"/>
          <p:nvPr>
            <p:ph idx="1" type="body"/>
          </p:nvPr>
        </p:nvSpPr>
        <p:spPr>
          <a:xfrm>
            <a:off x="540600" y="2182675"/>
            <a:ext cx="109242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Introduce you to the exciting world of AI and its applications in school, work, and life</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Understand the technical </a:t>
            </a:r>
            <a:r>
              <a:rPr lang="en-US">
                <a:latin typeface="Avenir"/>
                <a:ea typeface="Avenir"/>
                <a:cs typeface="Avenir"/>
                <a:sym typeface="Avenir"/>
              </a:rPr>
              <a:t>fundamentals</a:t>
            </a:r>
            <a:r>
              <a:rPr lang="en-US">
                <a:latin typeface="Avenir"/>
                <a:ea typeface="Avenir"/>
                <a:cs typeface="Avenir"/>
                <a:sym typeface="Avenir"/>
              </a:rPr>
              <a:t> that allows for AI </a:t>
            </a:r>
            <a:r>
              <a:rPr lang="en-US">
                <a:latin typeface="Avenir"/>
                <a:ea typeface="Avenir"/>
                <a:cs typeface="Avenir"/>
                <a:sym typeface="Avenir"/>
              </a:rPr>
              <a:t>applications</a:t>
            </a:r>
            <a:r>
              <a:rPr lang="en-US">
                <a:latin typeface="Avenir"/>
                <a:ea typeface="Avenir"/>
                <a:cs typeface="Avenir"/>
                <a:sym typeface="Avenir"/>
              </a:rPr>
              <a:t> </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Learn from experts and how they apply AI to their </a:t>
            </a:r>
            <a:r>
              <a:rPr lang="en-US">
                <a:latin typeface="Avenir"/>
                <a:ea typeface="Avenir"/>
                <a:cs typeface="Avenir"/>
                <a:sym typeface="Avenir"/>
              </a:rPr>
              <a:t>fields</a:t>
            </a:r>
            <a:endParaRPr>
              <a:latin typeface="Avenir"/>
              <a:ea typeface="Avenir"/>
              <a:cs typeface="Avenir"/>
              <a:sym typeface="Avenir"/>
            </a:endParaRPr>
          </a:p>
          <a:p>
            <a:pPr indent="-342900" lvl="0" marL="457200" rtl="0" algn="l">
              <a:spcBef>
                <a:spcPts val="0"/>
              </a:spcBef>
              <a:spcAft>
                <a:spcPts val="0"/>
              </a:spcAft>
              <a:buSzPts val="1800"/>
              <a:buFont typeface="Avenir"/>
              <a:buChar char="•"/>
            </a:pPr>
            <a:r>
              <a:rPr b="1" lang="en-US" u="sng">
                <a:latin typeface="Avenir"/>
                <a:ea typeface="Avenir"/>
                <a:cs typeface="Avenir"/>
                <a:sym typeface="Avenir"/>
              </a:rPr>
              <a:t>Challenge how you think about AI as tool</a:t>
            </a:r>
            <a:endParaRPr b="1" u="sng">
              <a:latin typeface="Avenir"/>
              <a:ea typeface="Avenir"/>
              <a:cs typeface="Avenir"/>
              <a:sym typeface="Aveni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7" name="Shape 117"/>
        <p:cNvGrpSpPr/>
        <p:nvPr/>
      </p:nvGrpSpPr>
      <p:grpSpPr>
        <a:xfrm>
          <a:off x="0" y="0"/>
          <a:ext cx="0" cy="0"/>
          <a:chOff x="0" y="0"/>
          <a:chExt cx="0" cy="0"/>
        </a:xfrm>
      </p:grpSpPr>
      <p:sp>
        <p:nvSpPr>
          <p:cNvPr id="118" name="Google Shape;118;g3b041cb7877_0_18"/>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About the Course - Grading</a:t>
            </a:r>
            <a:endParaRPr/>
          </a:p>
        </p:txBody>
      </p:sp>
      <p:sp>
        <p:nvSpPr>
          <p:cNvPr id="119" name="Google Shape;119;g3b041cb7877_0_1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0" name="Google Shape;120;g3b041cb7877_0_18"/>
          <p:cNvSpPr txBox="1"/>
          <p:nvPr>
            <p:ph idx="1" type="body"/>
          </p:nvPr>
        </p:nvSpPr>
        <p:spPr>
          <a:xfrm>
            <a:off x="540600" y="2182675"/>
            <a:ext cx="10924200" cy="4222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highlight>
                <a:srgbClr val="00FF00"/>
              </a:highlight>
              <a:latin typeface="Avenir"/>
              <a:ea typeface="Avenir"/>
              <a:cs typeface="Avenir"/>
              <a:sym typeface="Avenir"/>
            </a:endParaRPr>
          </a:p>
          <a:p>
            <a:pPr indent="0" lvl="0" marL="457200" rtl="0" algn="l">
              <a:lnSpc>
                <a:spcPct val="90000"/>
              </a:lnSpc>
              <a:spcBef>
                <a:spcPts val="0"/>
              </a:spcBef>
              <a:spcAft>
                <a:spcPts val="0"/>
              </a:spcAft>
              <a:buSzPts val="1800"/>
              <a:buNone/>
            </a:pPr>
            <a:r>
              <a:t/>
            </a:r>
            <a:endParaRPr>
              <a:latin typeface="Avenir"/>
              <a:ea typeface="Avenir"/>
              <a:cs typeface="Avenir"/>
              <a:sym typeface="Avenir"/>
            </a:endParaRPr>
          </a:p>
        </p:txBody>
      </p:sp>
      <p:graphicFrame>
        <p:nvGraphicFramePr>
          <p:cNvPr id="121" name="Google Shape;121;g3b041cb7877_0_18"/>
          <p:cNvGraphicFramePr/>
          <p:nvPr/>
        </p:nvGraphicFramePr>
        <p:xfrm>
          <a:off x="695200" y="2103775"/>
          <a:ext cx="3000000" cy="3000000"/>
        </p:xfrm>
        <a:graphic>
          <a:graphicData uri="http://schemas.openxmlformats.org/drawingml/2006/table">
            <a:tbl>
              <a:tblPr>
                <a:noFill/>
                <a:tableStyleId>{CBA78581-6FA7-4A9E-8A48-1431CFC64247}</a:tableStyleId>
              </a:tblPr>
              <a:tblGrid>
                <a:gridCol w="5307500"/>
                <a:gridCol w="5307500"/>
              </a:tblGrid>
              <a:tr h="966475">
                <a:tc>
                  <a:txBody>
                    <a:bodyPr/>
                    <a:lstStyle/>
                    <a:p>
                      <a:pPr indent="0" lvl="0" marL="0" rtl="0" algn="l">
                        <a:spcBef>
                          <a:spcPts val="0"/>
                        </a:spcBef>
                        <a:spcAft>
                          <a:spcPts val="0"/>
                        </a:spcAft>
                        <a:buNone/>
                      </a:pPr>
                      <a:r>
                        <a:rPr lang="en-US" sz="2200"/>
                        <a:t>Weekly Homework Assignments</a:t>
                      </a:r>
                      <a:endParaRPr sz="2200"/>
                    </a:p>
                  </a:txBody>
                  <a:tcPr marT="91425" marB="91425" marR="91425" marL="91425"/>
                </a:tc>
                <a:tc>
                  <a:txBody>
                    <a:bodyPr/>
                    <a:lstStyle/>
                    <a:p>
                      <a:pPr indent="0" lvl="0" marL="0" rtl="0" algn="l">
                        <a:spcBef>
                          <a:spcPts val="0"/>
                        </a:spcBef>
                        <a:spcAft>
                          <a:spcPts val="0"/>
                        </a:spcAft>
                        <a:buNone/>
                      </a:pPr>
                      <a:r>
                        <a:rPr lang="en-US" sz="2200"/>
                        <a:t>55%</a:t>
                      </a:r>
                      <a:endParaRPr sz="2200"/>
                    </a:p>
                  </a:txBody>
                  <a:tcPr marT="91425" marB="91425" marR="91425" marL="91425"/>
                </a:tc>
              </a:tr>
              <a:tr h="966475">
                <a:tc>
                  <a:txBody>
                    <a:bodyPr/>
                    <a:lstStyle/>
                    <a:p>
                      <a:pPr indent="0" lvl="0" marL="0" rtl="0" algn="l">
                        <a:spcBef>
                          <a:spcPts val="0"/>
                        </a:spcBef>
                        <a:spcAft>
                          <a:spcPts val="0"/>
                        </a:spcAft>
                        <a:buNone/>
                      </a:pPr>
                      <a:r>
                        <a:rPr lang="en-US" sz="2200"/>
                        <a:t>AI in the News</a:t>
                      </a:r>
                      <a:endParaRPr sz="2200"/>
                    </a:p>
                  </a:txBody>
                  <a:tcPr marT="91425" marB="91425" marR="91425" marL="91425"/>
                </a:tc>
                <a:tc>
                  <a:txBody>
                    <a:bodyPr/>
                    <a:lstStyle/>
                    <a:p>
                      <a:pPr indent="0" lvl="0" marL="0" rtl="0" algn="l">
                        <a:spcBef>
                          <a:spcPts val="0"/>
                        </a:spcBef>
                        <a:spcAft>
                          <a:spcPts val="0"/>
                        </a:spcAft>
                        <a:buNone/>
                      </a:pPr>
                      <a:r>
                        <a:rPr lang="en-US" sz="2200"/>
                        <a:t>10%</a:t>
                      </a:r>
                      <a:endParaRPr sz="2200"/>
                    </a:p>
                  </a:txBody>
                  <a:tcPr marT="91425" marB="91425" marR="91425" marL="91425"/>
                </a:tc>
              </a:tr>
              <a:tr h="966475">
                <a:tc>
                  <a:txBody>
                    <a:bodyPr/>
                    <a:lstStyle/>
                    <a:p>
                      <a:pPr indent="0" lvl="0" marL="0" rtl="0" algn="l">
                        <a:spcBef>
                          <a:spcPts val="0"/>
                        </a:spcBef>
                        <a:spcAft>
                          <a:spcPts val="0"/>
                        </a:spcAft>
                        <a:buNone/>
                      </a:pPr>
                      <a:r>
                        <a:rPr lang="en-US" sz="2200"/>
                        <a:t>Project Proposal</a:t>
                      </a:r>
                      <a:endParaRPr sz="2200"/>
                    </a:p>
                  </a:txBody>
                  <a:tcPr marT="91425" marB="91425" marR="91425" marL="91425"/>
                </a:tc>
                <a:tc>
                  <a:txBody>
                    <a:bodyPr/>
                    <a:lstStyle/>
                    <a:p>
                      <a:pPr indent="0" lvl="0" marL="0" rtl="0" algn="l">
                        <a:spcBef>
                          <a:spcPts val="0"/>
                        </a:spcBef>
                        <a:spcAft>
                          <a:spcPts val="0"/>
                        </a:spcAft>
                        <a:buNone/>
                      </a:pPr>
                      <a:r>
                        <a:rPr lang="en-US" sz="2200"/>
                        <a:t>10%</a:t>
                      </a:r>
                      <a:endParaRPr sz="2200"/>
                    </a:p>
                  </a:txBody>
                  <a:tcPr marT="91425" marB="91425" marR="91425" marL="91425"/>
                </a:tc>
              </a:tr>
              <a:tr h="966475">
                <a:tc>
                  <a:txBody>
                    <a:bodyPr/>
                    <a:lstStyle/>
                    <a:p>
                      <a:pPr indent="0" lvl="0" marL="0" rtl="0" algn="l">
                        <a:spcBef>
                          <a:spcPts val="0"/>
                        </a:spcBef>
                        <a:spcAft>
                          <a:spcPts val="0"/>
                        </a:spcAft>
                        <a:buNone/>
                      </a:pPr>
                      <a:r>
                        <a:rPr lang="en-US" sz="2200"/>
                        <a:t>Final Project</a:t>
                      </a:r>
                      <a:endParaRPr sz="2200"/>
                    </a:p>
                  </a:txBody>
                  <a:tcPr marT="91425" marB="91425" marR="91425" marL="91425"/>
                </a:tc>
                <a:tc>
                  <a:txBody>
                    <a:bodyPr/>
                    <a:lstStyle/>
                    <a:p>
                      <a:pPr indent="0" lvl="0" marL="0" rtl="0" algn="l">
                        <a:spcBef>
                          <a:spcPts val="0"/>
                        </a:spcBef>
                        <a:spcAft>
                          <a:spcPts val="0"/>
                        </a:spcAft>
                        <a:buNone/>
                      </a:pPr>
                      <a:r>
                        <a:rPr lang="en-US" sz="2200"/>
                        <a:t>15%</a:t>
                      </a:r>
                      <a:endParaRPr sz="2200"/>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6" name="Shape 126"/>
        <p:cNvGrpSpPr/>
        <p:nvPr/>
      </p:nvGrpSpPr>
      <p:grpSpPr>
        <a:xfrm>
          <a:off x="0" y="0"/>
          <a:ext cx="0" cy="0"/>
          <a:chOff x="0" y="0"/>
          <a:chExt cx="0" cy="0"/>
        </a:xfrm>
      </p:grpSpPr>
      <p:sp>
        <p:nvSpPr>
          <p:cNvPr id="127" name="Google Shape;127;g3b041cb7877_0_26"/>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Weekly HW Assignments</a:t>
            </a:r>
            <a:endParaRPr/>
          </a:p>
        </p:txBody>
      </p:sp>
      <p:sp>
        <p:nvSpPr>
          <p:cNvPr id="128" name="Google Shape;128;g3b041cb7877_0_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9" name="Google Shape;129;g3b041cb7877_0_26"/>
          <p:cNvSpPr txBox="1"/>
          <p:nvPr>
            <p:ph idx="1" type="body"/>
          </p:nvPr>
        </p:nvSpPr>
        <p:spPr>
          <a:xfrm>
            <a:off x="540600" y="2182675"/>
            <a:ext cx="109242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HW is Assigned on </a:t>
            </a:r>
            <a:r>
              <a:rPr lang="en-US">
                <a:latin typeface="Avenir"/>
                <a:ea typeface="Avenir"/>
                <a:cs typeface="Avenir"/>
                <a:sym typeface="Avenir"/>
              </a:rPr>
              <a:t>Thursdays at the end of class (ie Jan 15th)</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Due following Friday @ 10pm (ie Jan 23rd)</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Submit in PDF format [FirstName]</a:t>
            </a:r>
            <a:r>
              <a:rPr lang="en-US">
                <a:latin typeface="Avenir"/>
                <a:ea typeface="Avenir"/>
                <a:cs typeface="Avenir"/>
                <a:sym typeface="Avenir"/>
              </a:rPr>
              <a:t>_</a:t>
            </a:r>
            <a:r>
              <a:rPr lang="en-US">
                <a:latin typeface="Avenir"/>
                <a:ea typeface="Avenir"/>
                <a:cs typeface="Avenir"/>
                <a:sym typeface="Avenir"/>
              </a:rPr>
              <a:t>[LastName]</a:t>
            </a:r>
            <a:r>
              <a:rPr lang="en-US">
                <a:latin typeface="Avenir"/>
                <a:ea typeface="Avenir"/>
                <a:cs typeface="Avenir"/>
                <a:sym typeface="Avenir"/>
              </a:rPr>
              <a:t>_HW[#].pdf</a:t>
            </a:r>
            <a:endParaRPr>
              <a:latin typeface="Avenir"/>
              <a:ea typeface="Avenir"/>
              <a:cs typeface="Avenir"/>
              <a:sym typeface="Avenir"/>
            </a:endParaRPr>
          </a:p>
          <a:p>
            <a:pPr indent="-342900" lvl="1" marL="914400" rtl="0" algn="l">
              <a:lnSpc>
                <a:spcPct val="90000"/>
              </a:lnSpc>
              <a:spcBef>
                <a:spcPts val="0"/>
              </a:spcBef>
              <a:spcAft>
                <a:spcPts val="0"/>
              </a:spcAft>
              <a:buSzPts val="1800"/>
              <a:buFont typeface="Avenir"/>
              <a:buChar char="○"/>
            </a:pPr>
            <a:r>
              <a:rPr lang="en-US">
                <a:latin typeface="Avenir"/>
                <a:ea typeface="Avenir"/>
                <a:cs typeface="Avenir"/>
                <a:sym typeface="Avenir"/>
              </a:rPr>
              <a:t>Collin_Connors_HW1.pdf</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Submissions should be done through Canvas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Your submissions should be in a report format and include pictures, screenshots, and text to support your answers where appropriate</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If you submit your HW on time you may resubmit HW for regrading at any time</a:t>
            </a:r>
            <a:endParaRPr>
              <a:latin typeface="Avenir"/>
              <a:ea typeface="Avenir"/>
              <a:cs typeface="Avenir"/>
              <a:sym typeface="Aveni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4" name="Shape 134"/>
        <p:cNvGrpSpPr/>
        <p:nvPr/>
      </p:nvGrpSpPr>
      <p:grpSpPr>
        <a:xfrm>
          <a:off x="0" y="0"/>
          <a:ext cx="0" cy="0"/>
          <a:chOff x="0" y="0"/>
          <a:chExt cx="0" cy="0"/>
        </a:xfrm>
      </p:grpSpPr>
      <p:sp>
        <p:nvSpPr>
          <p:cNvPr id="135" name="Google Shape;135;g3b041cb7877_0_49"/>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AI in the News</a:t>
            </a:r>
            <a:endParaRPr/>
          </a:p>
        </p:txBody>
      </p:sp>
      <p:sp>
        <p:nvSpPr>
          <p:cNvPr id="136" name="Google Shape;136;g3b041cb7877_0_49"/>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7" name="Google Shape;137;g3b041cb7877_0_49"/>
          <p:cNvSpPr txBox="1"/>
          <p:nvPr>
            <p:ph idx="1" type="body"/>
          </p:nvPr>
        </p:nvSpPr>
        <p:spPr>
          <a:xfrm>
            <a:off x="540600" y="2182675"/>
            <a:ext cx="109242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Each Week 2 Students will give a 5 minute presentation on a news story or event related to Advancements in AI.</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The source material should not be older than 6 months </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I encourage you to pick topics you are interested in</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The presentation should cover:</a:t>
            </a:r>
            <a:endParaRPr>
              <a:latin typeface="Avenir"/>
              <a:ea typeface="Avenir"/>
              <a:cs typeface="Avenir"/>
              <a:sym typeface="Avenir"/>
            </a:endParaRPr>
          </a:p>
          <a:p>
            <a:pPr indent="-342900" lvl="1" marL="914400" rtl="0" algn="l">
              <a:lnSpc>
                <a:spcPct val="90000"/>
              </a:lnSpc>
              <a:spcBef>
                <a:spcPts val="0"/>
              </a:spcBef>
              <a:spcAft>
                <a:spcPts val="0"/>
              </a:spcAft>
              <a:buSzPts val="1800"/>
              <a:buFont typeface="Avenir"/>
              <a:buChar char="○"/>
            </a:pPr>
            <a:r>
              <a:rPr lang="en-US">
                <a:latin typeface="Avenir"/>
                <a:ea typeface="Avenir"/>
                <a:cs typeface="Avenir"/>
                <a:sym typeface="Avenir"/>
              </a:rPr>
              <a:t>A summary of the article’s main points, </a:t>
            </a:r>
            <a:endParaRPr>
              <a:latin typeface="Avenir"/>
              <a:ea typeface="Avenir"/>
              <a:cs typeface="Avenir"/>
              <a:sym typeface="Avenir"/>
            </a:endParaRPr>
          </a:p>
          <a:p>
            <a:pPr indent="-342900" lvl="1" marL="914400" rtl="0" algn="l">
              <a:lnSpc>
                <a:spcPct val="90000"/>
              </a:lnSpc>
              <a:spcBef>
                <a:spcPts val="0"/>
              </a:spcBef>
              <a:spcAft>
                <a:spcPts val="0"/>
              </a:spcAft>
              <a:buSzPts val="1800"/>
              <a:buFont typeface="Avenir"/>
              <a:buChar char="○"/>
            </a:pPr>
            <a:r>
              <a:rPr lang="en-US">
                <a:latin typeface="Avenir"/>
                <a:ea typeface="Avenir"/>
                <a:cs typeface="Avenir"/>
                <a:sym typeface="Avenir"/>
              </a:rPr>
              <a:t>An explanation of why you chose this article, </a:t>
            </a:r>
            <a:endParaRPr>
              <a:latin typeface="Avenir"/>
              <a:ea typeface="Avenir"/>
              <a:cs typeface="Avenir"/>
              <a:sym typeface="Avenir"/>
            </a:endParaRPr>
          </a:p>
          <a:p>
            <a:pPr indent="-342900" lvl="1" marL="914400" rtl="0" algn="l">
              <a:lnSpc>
                <a:spcPct val="90000"/>
              </a:lnSpc>
              <a:spcBef>
                <a:spcPts val="0"/>
              </a:spcBef>
              <a:spcAft>
                <a:spcPts val="0"/>
              </a:spcAft>
              <a:buSzPts val="1800"/>
              <a:buFont typeface="Avenir"/>
              <a:buChar char="○"/>
            </a:pPr>
            <a:r>
              <a:rPr lang="en-US">
                <a:latin typeface="Avenir"/>
                <a:ea typeface="Avenir"/>
                <a:cs typeface="Avenir"/>
                <a:sym typeface="Avenir"/>
              </a:rPr>
              <a:t>A discussion of its relevance to topics covered in class, </a:t>
            </a:r>
            <a:endParaRPr>
              <a:latin typeface="Avenir"/>
              <a:ea typeface="Avenir"/>
              <a:cs typeface="Avenir"/>
              <a:sym typeface="Avenir"/>
            </a:endParaRPr>
          </a:p>
          <a:p>
            <a:pPr indent="-342900" lvl="1" marL="914400" rtl="0" algn="l">
              <a:lnSpc>
                <a:spcPct val="90000"/>
              </a:lnSpc>
              <a:spcBef>
                <a:spcPts val="0"/>
              </a:spcBef>
              <a:spcAft>
                <a:spcPts val="0"/>
              </a:spcAft>
              <a:buSzPts val="1800"/>
              <a:buFont typeface="Avenir"/>
              <a:buChar char="○"/>
            </a:pPr>
            <a:r>
              <a:rPr lang="en-US">
                <a:latin typeface="Avenir"/>
                <a:ea typeface="Avenir"/>
                <a:cs typeface="Avenir"/>
                <a:sym typeface="Avenir"/>
              </a:rPr>
              <a:t>Your thoughts or reactions to the article</a:t>
            </a:r>
            <a:endParaRPr>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2" name="Shape 142"/>
        <p:cNvGrpSpPr/>
        <p:nvPr/>
      </p:nvGrpSpPr>
      <p:grpSpPr>
        <a:xfrm>
          <a:off x="0" y="0"/>
          <a:ext cx="0" cy="0"/>
          <a:chOff x="0" y="0"/>
          <a:chExt cx="0" cy="0"/>
        </a:xfrm>
      </p:grpSpPr>
      <p:sp>
        <p:nvSpPr>
          <p:cNvPr id="143" name="Google Shape;143;g3b041cb7877_0_41"/>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AI in the News</a:t>
            </a:r>
            <a:endParaRPr/>
          </a:p>
        </p:txBody>
      </p:sp>
      <p:sp>
        <p:nvSpPr>
          <p:cNvPr id="144" name="Google Shape;144;g3b041cb7877_0_41"/>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5" name="Google Shape;145;g3b041cb7877_0_41"/>
          <p:cNvSpPr txBox="1"/>
          <p:nvPr>
            <p:ph idx="1" type="body"/>
          </p:nvPr>
        </p:nvSpPr>
        <p:spPr>
          <a:xfrm>
            <a:off x="540600" y="2182675"/>
            <a:ext cx="44430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The Economist</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Financial Times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The LA Times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New York Times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Wall Street Journal</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Washington Post</a:t>
            </a:r>
            <a:endParaRPr>
              <a:latin typeface="Avenir"/>
              <a:ea typeface="Avenir"/>
              <a:cs typeface="Avenir"/>
              <a:sym typeface="Avenir"/>
            </a:endParaRPr>
          </a:p>
        </p:txBody>
      </p:sp>
      <p:sp>
        <p:nvSpPr>
          <p:cNvPr id="146" name="Google Shape;146;g3b041cb7877_0_41"/>
          <p:cNvSpPr txBox="1"/>
          <p:nvPr>
            <p:ph idx="1" type="body"/>
          </p:nvPr>
        </p:nvSpPr>
        <p:spPr>
          <a:xfrm>
            <a:off x="5535225" y="2291250"/>
            <a:ext cx="44430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MIT Technology Review</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Hugging Face Trending Papers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AI Servier Provider’s Blogs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AI Newsletters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AI Podcasts</a:t>
            </a:r>
            <a:endParaRPr>
              <a:latin typeface="Avenir"/>
              <a:ea typeface="Avenir"/>
              <a:cs typeface="Avenir"/>
              <a:sym typeface="Aveni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1" name="Shape 151"/>
        <p:cNvGrpSpPr/>
        <p:nvPr/>
      </p:nvGrpSpPr>
      <p:grpSpPr>
        <a:xfrm>
          <a:off x="0" y="0"/>
          <a:ext cx="0" cy="0"/>
          <a:chOff x="0" y="0"/>
          <a:chExt cx="0" cy="0"/>
        </a:xfrm>
      </p:grpSpPr>
      <p:sp>
        <p:nvSpPr>
          <p:cNvPr id="152" name="Google Shape;152;g3b041cb7877_0_58"/>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Final Project</a:t>
            </a:r>
            <a:endParaRPr/>
          </a:p>
        </p:txBody>
      </p:sp>
      <p:sp>
        <p:nvSpPr>
          <p:cNvPr id="153" name="Google Shape;153;g3b041cb7877_0_5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4" name="Google Shape;154;g3b041cb7877_0_58"/>
          <p:cNvSpPr txBox="1"/>
          <p:nvPr>
            <p:ph idx="1" type="body"/>
          </p:nvPr>
        </p:nvSpPr>
        <p:spPr>
          <a:xfrm>
            <a:off x="540600" y="2182675"/>
            <a:ext cx="109242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Develop a poster covering AI’s application in a domain that relates to your own academic, professional, or personal interests. You are </a:t>
            </a:r>
            <a:r>
              <a:rPr lang="en-US">
                <a:latin typeface="Avenir"/>
                <a:ea typeface="Avenir"/>
                <a:cs typeface="Avenir"/>
                <a:sym typeface="Avenir"/>
              </a:rPr>
              <a:t>encouraged</a:t>
            </a:r>
            <a:r>
              <a:rPr lang="en-US">
                <a:latin typeface="Avenir"/>
                <a:ea typeface="Avenir"/>
                <a:cs typeface="Avenir"/>
                <a:sym typeface="Avenir"/>
              </a:rPr>
              <a:t> to think </a:t>
            </a:r>
            <a:r>
              <a:rPr lang="en-US">
                <a:latin typeface="Avenir"/>
                <a:ea typeface="Avenir"/>
                <a:cs typeface="Avenir"/>
                <a:sym typeface="Avenir"/>
              </a:rPr>
              <a:t>creatively</a:t>
            </a:r>
            <a:r>
              <a:rPr lang="en-US">
                <a:latin typeface="Avenir"/>
                <a:ea typeface="Avenir"/>
                <a:cs typeface="Avenir"/>
                <a:sym typeface="Avenir"/>
              </a:rPr>
              <a:t> and select a topic that excites you.</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Project </a:t>
            </a:r>
            <a:r>
              <a:rPr lang="en-US">
                <a:latin typeface="Avenir"/>
                <a:ea typeface="Avenir"/>
                <a:cs typeface="Avenir"/>
                <a:sym typeface="Avenir"/>
              </a:rPr>
              <a:t>Proposal</a:t>
            </a:r>
            <a:r>
              <a:rPr lang="en-US">
                <a:latin typeface="Avenir"/>
                <a:ea typeface="Avenir"/>
                <a:cs typeface="Avenir"/>
                <a:sym typeface="Avenir"/>
              </a:rPr>
              <a:t> - 1-2 page summary that outlines the chosen topic, why it is of interest to you, and how it connects to the themes of the course. (Due after Spring Break)</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Final Project - You give a 10 minute presentation of your poster to the class. All students are required to attend all poster sessions. </a:t>
            </a:r>
            <a:endParaRPr>
              <a:latin typeface="Avenir"/>
              <a:ea typeface="Avenir"/>
              <a:cs typeface="Avenir"/>
              <a:sym typeface="Aveni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9" name="Shape 159"/>
        <p:cNvGrpSpPr/>
        <p:nvPr/>
      </p:nvGrpSpPr>
      <p:grpSpPr>
        <a:xfrm>
          <a:off x="0" y="0"/>
          <a:ext cx="0" cy="0"/>
          <a:chOff x="0" y="0"/>
          <a:chExt cx="0" cy="0"/>
        </a:xfrm>
      </p:grpSpPr>
      <p:sp>
        <p:nvSpPr>
          <p:cNvPr id="160" name="Google Shape;160;g3b0d4288693_1_8"/>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AI Policy</a:t>
            </a:r>
            <a:endParaRPr/>
          </a:p>
        </p:txBody>
      </p:sp>
      <p:sp>
        <p:nvSpPr>
          <p:cNvPr id="161" name="Google Shape;161;g3b0d4288693_1_8"/>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2" name="Google Shape;162;g3b0d4288693_1_8"/>
          <p:cNvSpPr txBox="1"/>
          <p:nvPr>
            <p:ph idx="1" type="body"/>
          </p:nvPr>
        </p:nvSpPr>
        <p:spPr>
          <a:xfrm>
            <a:off x="540600" y="2182675"/>
            <a:ext cx="109242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AI may be used on all assignments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You may </a:t>
            </a:r>
            <a:r>
              <a:rPr b="1" lang="en-US" u="sng">
                <a:latin typeface="Avenir"/>
                <a:ea typeface="Avenir"/>
                <a:cs typeface="Avenir"/>
                <a:sym typeface="Avenir"/>
              </a:rPr>
              <a:t>not</a:t>
            </a:r>
            <a:r>
              <a:rPr lang="en-US">
                <a:latin typeface="Avenir"/>
                <a:ea typeface="Avenir"/>
                <a:cs typeface="Avenir"/>
                <a:sym typeface="Avenir"/>
              </a:rPr>
              <a:t> use AI to do your thinking</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You must declare when you used AI and how you used it</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For example on your HW if you have AI write a </a:t>
            </a:r>
            <a:r>
              <a:rPr lang="en-US">
                <a:latin typeface="Avenir"/>
                <a:ea typeface="Avenir"/>
                <a:cs typeface="Avenir"/>
                <a:sym typeface="Avenir"/>
              </a:rPr>
              <a:t>response</a:t>
            </a:r>
            <a:r>
              <a:rPr lang="en-US">
                <a:latin typeface="Avenir"/>
                <a:ea typeface="Avenir"/>
                <a:cs typeface="Avenir"/>
                <a:sym typeface="Avenir"/>
              </a:rPr>
              <a:t> you must note that the </a:t>
            </a:r>
            <a:r>
              <a:rPr lang="en-US">
                <a:latin typeface="Avenir"/>
                <a:ea typeface="Avenir"/>
                <a:cs typeface="Avenir"/>
                <a:sym typeface="Avenir"/>
              </a:rPr>
              <a:t>response</a:t>
            </a:r>
            <a:r>
              <a:rPr lang="en-US">
                <a:latin typeface="Avenir"/>
                <a:ea typeface="Avenir"/>
                <a:cs typeface="Avenir"/>
                <a:sym typeface="Avenir"/>
              </a:rPr>
              <a:t> was generated with AI</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b="1" lang="en-US" u="sng">
                <a:latin typeface="Avenir"/>
                <a:ea typeface="Avenir"/>
                <a:cs typeface="Avenir"/>
                <a:sym typeface="Avenir"/>
              </a:rPr>
              <a:t>You are responsible for the output of the AI</a:t>
            </a:r>
            <a:endParaRPr b="1" u="sng">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2025-07-05T12:48:20Z</dcterms:created>
  <dc:creator>Connors, Collin Dey</dc:creator>
</cp:coreProperties>
</file>