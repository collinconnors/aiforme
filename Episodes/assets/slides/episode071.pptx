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Play"/>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A4QkUqTLiexh7ukizUDh68DCQ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Play-bold.fntdata"/><Relationship Id="rId14" Type="http://schemas.openxmlformats.org/officeDocument/2006/relationships/font" Target="fonts/Play-regular.fntdata"/><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jefferywmoore/CISSP-Study-Resources/blob/main/CISSP-Domain-1-2024%2BObjectives.md"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ell.com/trends/cognitive-sciences/abstract/S1364-6613(10)00208-1" TargetMode="External"/><Relationship Id="rId3" Type="http://schemas.openxmlformats.org/officeDocument/2006/relationships/hyperlink" Target="https://medicine.wright.edu/sites/medicine.wright.edu/files/page/attachments/Kerfoot%20etal%20spaced%20education%20retention%20knowledge%20MedEduc2007.pdf" TargetMode="External"/><Relationship Id="rId4" Type="http://schemas.openxmlformats.org/officeDocument/2006/relationships/hyperlink" Target="http://bera-journals.onlinelibrary.wiley.com/doi/full/10.1002/rev3.3266" TargetMode="External"/><Relationship Id="rId5" Type="http://schemas.openxmlformats.org/officeDocument/2006/relationships/hyperlink" Target="https://www.researchgate.net/profile/Gertrude-Hewapathirana/publication/359045593_Active_Learning_Compared_With_Lecture-Based_Pedagogies_in_Gender_and_Socio-Cultural_Context-Specific_Major_and_Non-Major_Biology_Classes/links/632975d470cc936cd31fc1f1/Active-Learning-Compared-With-Lecture-Based-Pedagogies-in-Gender-and-Socio-Cultural-Context-Specific-Major-and-Non-Major-Biology-Classes.pdf" TargetMode="External"/><Relationship Id="rId6" Type="http://schemas.openxmlformats.org/officeDocument/2006/relationships/hyperlink" Target="https://pubs.acs.org/doi/full/10.1021/ed3006264?casa_token=sIEjz85EsysAAAAA%3AteACCrrsYyehg8UO6vRdfLQVbT3LEJ1_ZDNMvX0waOYL8zwT3jJ4jgPq2dyfv_uDpKMkYgFHJUvTc_U" TargetMode="External"/><Relationship Id="rId7" Type="http://schemas.openxmlformats.org/officeDocument/2006/relationships/hyperlink" Target="https://link.springer.com/article/10.1007/s11409-006-6893-0"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ubmed.ncbi.nlm.nih.gov/19076480/"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d4ca9d3d1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6d4ca9d3d1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CISSP Study Material GitHub: </a:t>
            </a:r>
            <a:r>
              <a:rPr lang="en-US" u="sng">
                <a:solidFill>
                  <a:schemeClr val="hlink"/>
                </a:solidFill>
                <a:hlinkClick r:id="rId2"/>
              </a:rPr>
              <a:t>https://github.com/jefferywmoore/CISSP-Study-Resources/blob/main/CISSP-Domain-1-2024%2BObjectives.md</a:t>
            </a:r>
            <a:endParaRPr/>
          </a:p>
          <a:p>
            <a:pPr indent="0" lvl="0" marL="0" rtl="0" algn="l">
              <a:lnSpc>
                <a:spcPct val="100000"/>
              </a:lnSpc>
              <a:spcBef>
                <a:spcPts val="0"/>
              </a:spcBef>
              <a:spcAft>
                <a:spcPts val="0"/>
              </a:spcAft>
              <a:buSzPts val="1400"/>
              <a:buNone/>
            </a:pPr>
            <a:r>
              <a:t/>
            </a:r>
            <a:endParaRPr/>
          </a:p>
        </p:txBody>
      </p:sp>
      <p:sp>
        <p:nvSpPr>
          <p:cNvPr id="87" name="Google Shape;87;g36d4ca9d3d1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3c9ffa24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93c9ffa241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200"/>
              <a:buFont typeface="Arial"/>
              <a:buNone/>
            </a:pPr>
            <a:r>
              <a:rPr lang="en-US"/>
              <a:t>The critical role of retrieval practice in long-term retention: </a:t>
            </a:r>
            <a:r>
              <a:rPr lang="en-US" u="sng">
                <a:solidFill>
                  <a:schemeClr val="hlink"/>
                </a:solidFill>
                <a:hlinkClick r:id="rId2"/>
              </a:rPr>
              <a:t>https://www.cell.com/trends/cognitive-sciences/abstract/S1364-6613(10)00208-1</a:t>
            </a:r>
            <a:endParaRPr/>
          </a:p>
          <a:p>
            <a:pPr indent="0" lvl="0" marL="0" rtl="0" algn="l">
              <a:spcBef>
                <a:spcPts val="1200"/>
              </a:spcBef>
              <a:spcAft>
                <a:spcPts val="0"/>
              </a:spcAft>
              <a:buClr>
                <a:schemeClr val="dk1"/>
              </a:buClr>
              <a:buSzPts val="1100"/>
              <a:buFont typeface="Arial"/>
              <a:buNone/>
            </a:pPr>
            <a:r>
              <a:rPr lang="en-US"/>
              <a:t>Spaced education improves the retention of clinical knowledge by medical students: a randomised controlled trial: </a:t>
            </a:r>
            <a:r>
              <a:rPr lang="en-US" u="sng">
                <a:solidFill>
                  <a:schemeClr val="hlink"/>
                </a:solidFill>
                <a:hlinkClick r:id="rId3"/>
              </a:rPr>
              <a:t>https://medicine.wright.edu/sites/medicine.wright.edu/files/page/attachments/Kerfoot%20etal%20spaced%20education%20retention%20knowledge%20MedEduc2007.pdf</a:t>
            </a:r>
            <a:endParaRPr/>
          </a:p>
          <a:p>
            <a:pPr indent="0" lvl="0" marL="0" rtl="0" algn="l">
              <a:spcBef>
                <a:spcPts val="1200"/>
              </a:spcBef>
              <a:spcAft>
                <a:spcPts val="0"/>
              </a:spcAft>
              <a:buClr>
                <a:schemeClr val="dk1"/>
              </a:buClr>
              <a:buSzPts val="1100"/>
              <a:buFont typeface="Arial"/>
              <a:buNone/>
            </a:pPr>
            <a:r>
              <a:rPr lang="en-US"/>
              <a:t>A systematic review of interleaving as a concept learning strategy: </a:t>
            </a:r>
            <a:r>
              <a:rPr lang="en-US" u="sng">
                <a:solidFill>
                  <a:schemeClr val="hlink"/>
                </a:solidFill>
                <a:hlinkClick r:id="rId4"/>
              </a:rPr>
              <a:t>http://bera-journals.onlinelibrary.wiley.com/doi/full/10.1002/rev3.3266</a:t>
            </a:r>
            <a:endParaRPr/>
          </a:p>
          <a:p>
            <a:pPr indent="0" lvl="0" marL="0" rtl="0" algn="l">
              <a:spcBef>
                <a:spcPts val="1200"/>
              </a:spcBef>
              <a:spcAft>
                <a:spcPts val="0"/>
              </a:spcAft>
              <a:buClr>
                <a:schemeClr val="dk1"/>
              </a:buClr>
              <a:buSzPts val="1100"/>
              <a:buFont typeface="Arial"/>
              <a:buNone/>
            </a:pPr>
            <a:r>
              <a:rPr lang="en-US"/>
              <a:t>Active Learning: </a:t>
            </a:r>
            <a:r>
              <a:rPr lang="en-US" u="sng">
                <a:solidFill>
                  <a:schemeClr val="hlink"/>
                </a:solidFill>
                <a:hlinkClick r:id="rId5"/>
              </a:rPr>
              <a:t>https://www.researchgate.net/profile/Gertrude-Hewapathirana/publication/359045593_Active_Learning_Compared_With_Lecture-Based_Pedagogies_in_Gender_and_Socio-Cultural_Context-Specific_Major_and_Non-Major_Biology_Classes/links/632975d470cc936cd31fc1f1/Active-Learning-Compared-With-Lecture-Based-Pedagogies-in-Gender-and-Socio-Cultural-Context-Specific-Major-and-Non-Major-Biology-Classes.pdf</a:t>
            </a:r>
            <a:endParaRPr/>
          </a:p>
          <a:p>
            <a:pPr indent="0" lvl="0" marL="0" rtl="0" algn="l">
              <a:spcBef>
                <a:spcPts val="1200"/>
              </a:spcBef>
              <a:spcAft>
                <a:spcPts val="0"/>
              </a:spcAft>
              <a:buClr>
                <a:schemeClr val="dk1"/>
              </a:buClr>
              <a:buSzPts val="1100"/>
              <a:buFont typeface="Arial"/>
              <a:buNone/>
            </a:pPr>
            <a:r>
              <a:rPr lang="en-US"/>
              <a:t>Online Homework Put to the Test: A Report on the Impact of Two Online Learning Systems on Student Performance in General Chemistry: </a:t>
            </a:r>
            <a:r>
              <a:rPr lang="en-US" u="sng">
                <a:solidFill>
                  <a:schemeClr val="hlink"/>
                </a:solidFill>
                <a:hlinkClick r:id="rId6"/>
              </a:rPr>
              <a:t>https://pubs.acs.org/doi/full/10.1021/ed3006264?casa_token=sIEjz85EsysAAAAA%3AteACCrrsYyehg8UO6vRdfLQVbT3LEJ1_ZDNMvX0waOYL8zwT3jJ4jgPq2dyfv_uDpKMkYgFHJUvTc_U</a:t>
            </a:r>
            <a:endParaRPr/>
          </a:p>
          <a:p>
            <a:pPr indent="0" lvl="0" marL="0" rtl="0" algn="l">
              <a:spcBef>
                <a:spcPts val="1200"/>
              </a:spcBef>
              <a:spcAft>
                <a:spcPts val="0"/>
              </a:spcAft>
              <a:buClr>
                <a:schemeClr val="dk1"/>
              </a:buClr>
              <a:buSzPts val="1100"/>
              <a:buFont typeface="Arial"/>
              <a:buNone/>
            </a:pPr>
            <a:r>
              <a:rPr lang="en-US"/>
              <a:t>Metacognition and learning: conceptual and methodological considerations :</a:t>
            </a:r>
            <a:r>
              <a:rPr lang="en-US" u="sng">
                <a:solidFill>
                  <a:schemeClr val="hlink"/>
                </a:solidFill>
                <a:hlinkClick r:id="rId7"/>
              </a:rPr>
              <a:t>https://link.springer.com/article/10.1007/s11409-006-6893-0</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98" name="Google Shape;98;g393c9ffa241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36df5c92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3936df5c92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05" name="Google Shape;105;g3936df5c92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3c9ffa241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93c9ffa241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t>Spacing effects in learning: a temporal ridgeline of optimal retention: </a:t>
            </a:r>
            <a:r>
              <a:rPr lang="en-US" u="sng">
                <a:solidFill>
                  <a:schemeClr val="hlink"/>
                </a:solidFill>
                <a:hlinkClick r:id="rId2"/>
              </a:rPr>
              <a:t>https://pubmed.ncbi.nlm.nih.gov/19076480/</a:t>
            </a:r>
            <a:endParaRPr/>
          </a:p>
          <a:p>
            <a:pPr indent="0" lvl="0" marL="0" rtl="0" algn="l">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13" name="Google Shape;113;g393c9ffa241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3c9ffa241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393c9ffa241_0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21" name="Google Shape;121;g393c9ffa241_0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3c9ffa241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93c9ffa241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29" name="Google Shape;129;g393c9ffa241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3c9ffa241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93c9ffa241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37" name="Google Shape;137;g393c9ffa241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3c9ffa241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93c9ffa241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45" name="Google Shape;145;g393c9ffa241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3c9ffa241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93c9ffa241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53" name="Google Shape;153;g393c9ffa241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8" name="Shape 88"/>
        <p:cNvGrpSpPr/>
        <p:nvPr/>
      </p:nvGrpSpPr>
      <p:grpSpPr>
        <a:xfrm>
          <a:off x="0" y="0"/>
          <a:ext cx="0" cy="0"/>
          <a:chOff x="0" y="0"/>
          <a:chExt cx="0" cy="0"/>
        </a:xfrm>
      </p:grpSpPr>
      <p:sp>
        <p:nvSpPr>
          <p:cNvPr id="89" name="Google Shape;89;g36d4ca9d3d1_0_26"/>
          <p:cNvSpPr txBox="1"/>
          <p:nvPr>
            <p:ph type="ctrTitle"/>
          </p:nvPr>
        </p:nvSpPr>
        <p:spPr>
          <a:xfrm>
            <a:off x="161400" y="237800"/>
            <a:ext cx="11201400" cy="899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venir"/>
              <a:buNone/>
            </a:pPr>
            <a:r>
              <a:rPr lang="en-US">
                <a:latin typeface="Avenir"/>
                <a:ea typeface="Avenir"/>
                <a:cs typeface="Avenir"/>
                <a:sym typeface="Avenir"/>
              </a:rPr>
              <a:t>AI as a Study Buddy</a:t>
            </a:r>
            <a:endParaRPr/>
          </a:p>
        </p:txBody>
      </p:sp>
      <p:sp>
        <p:nvSpPr>
          <p:cNvPr id="90" name="Google Shape;90;g36d4ca9d3d1_0_2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g36d4ca9d3d1_0_26"/>
          <p:cNvSpPr txBox="1"/>
          <p:nvPr/>
        </p:nvSpPr>
        <p:spPr>
          <a:xfrm>
            <a:off x="4468100" y="1723375"/>
            <a:ext cx="6304200" cy="815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700"/>
              <a:buFont typeface="Arial"/>
              <a:buNone/>
            </a:pPr>
            <a:r>
              <a:rPr i="1" lang="en-US" sz="1500">
                <a:solidFill>
                  <a:schemeClr val="dk1"/>
                </a:solidFill>
                <a:latin typeface="Avenir"/>
                <a:ea typeface="Avenir"/>
                <a:cs typeface="Avenir"/>
                <a:sym typeface="Avenir"/>
              </a:rPr>
              <a:t>The illiterate of the twenty-first century will not be those who cannot read and write, but those who cannot learn, unlearn, and relearn</a:t>
            </a:r>
            <a:endParaRPr b="0" i="0" sz="1600" u="none" cap="none" strike="noStrike">
              <a:solidFill>
                <a:schemeClr val="dk1"/>
              </a:solidFill>
              <a:latin typeface="Avenir"/>
              <a:ea typeface="Avenir"/>
              <a:cs typeface="Avenir"/>
              <a:sym typeface="Avenir"/>
            </a:endParaRPr>
          </a:p>
          <a:p>
            <a:pPr indent="0" lvl="0" marL="0" marR="0" rtl="0" algn="r">
              <a:lnSpc>
                <a:spcPct val="115000"/>
              </a:lnSpc>
              <a:spcBef>
                <a:spcPts val="0"/>
              </a:spcBef>
              <a:spcAft>
                <a:spcPts val="0"/>
              </a:spcAft>
              <a:buClr>
                <a:srgbClr val="000000"/>
              </a:buClr>
              <a:buSzPts val="1700"/>
              <a:buFont typeface="Arial"/>
              <a:buNone/>
            </a:pPr>
            <a:r>
              <a:rPr b="1" i="0" lang="en-US" sz="1700" u="none" cap="none" strike="noStrike">
                <a:solidFill>
                  <a:schemeClr val="dk1"/>
                </a:solidFill>
                <a:latin typeface="Avenir"/>
                <a:ea typeface="Avenir"/>
                <a:cs typeface="Avenir"/>
                <a:sym typeface="Avenir"/>
              </a:rPr>
              <a:t>- </a:t>
            </a:r>
            <a:r>
              <a:rPr b="1" lang="en-US" sz="1700">
                <a:solidFill>
                  <a:schemeClr val="dk1"/>
                </a:solidFill>
                <a:latin typeface="Avenir"/>
                <a:ea typeface="Avenir"/>
                <a:cs typeface="Avenir"/>
                <a:sym typeface="Avenir"/>
              </a:rPr>
              <a:t>ALVIN TOFFLER</a:t>
            </a:r>
            <a:r>
              <a:rPr b="1" i="0" lang="en-US" sz="1700" u="none" cap="none" strike="noStrike">
                <a:solidFill>
                  <a:schemeClr val="dk1"/>
                </a:solidFill>
                <a:latin typeface="Avenir"/>
                <a:ea typeface="Avenir"/>
                <a:cs typeface="Avenir"/>
                <a:sym typeface="Avenir"/>
              </a:rPr>
              <a:t> (</a:t>
            </a:r>
            <a:r>
              <a:rPr b="1" lang="en-US" sz="1700">
                <a:solidFill>
                  <a:schemeClr val="dk1"/>
                </a:solidFill>
                <a:latin typeface="Avenir"/>
                <a:ea typeface="Avenir"/>
                <a:cs typeface="Avenir"/>
                <a:sym typeface="Avenir"/>
              </a:rPr>
              <a:t>1970</a:t>
            </a:r>
            <a:r>
              <a:rPr b="1" i="0" lang="en-US" sz="1700" u="none" cap="none" strike="noStrike">
                <a:solidFill>
                  <a:schemeClr val="dk1"/>
                </a:solidFill>
                <a:latin typeface="Avenir"/>
                <a:ea typeface="Avenir"/>
                <a:cs typeface="Avenir"/>
                <a:sym typeface="Avenir"/>
              </a:rPr>
              <a:t>)</a:t>
            </a:r>
            <a:endParaRPr b="1" i="0" sz="1300" u="none" cap="none" strike="noStrike">
              <a:solidFill>
                <a:srgbClr val="000000"/>
              </a:solidFill>
              <a:latin typeface="Arial"/>
              <a:ea typeface="Arial"/>
              <a:cs typeface="Arial"/>
              <a:sym typeface="Arial"/>
            </a:endParaRPr>
          </a:p>
        </p:txBody>
      </p:sp>
      <p:sp>
        <p:nvSpPr>
          <p:cNvPr id="92" name="Google Shape;92;g36d4ca9d3d1_0_26"/>
          <p:cNvSpPr txBox="1"/>
          <p:nvPr/>
        </p:nvSpPr>
        <p:spPr>
          <a:xfrm>
            <a:off x="3479230" y="3824808"/>
            <a:ext cx="6102300" cy="2586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lang="en-US" sz="1800">
                <a:solidFill>
                  <a:schemeClr val="dk1"/>
                </a:solidFill>
                <a:latin typeface="Avenir"/>
                <a:ea typeface="Avenir"/>
                <a:cs typeface="Avenir"/>
                <a:sym typeface="Avenir"/>
              </a:rPr>
              <a:t>This lecture is a practical, research-backed approach to improving how you learn using modern AI tools. We will explore seven evidence-based study techniques that strengthen long-term retention and map each technique to concrete ways an AI assistant can help. By the end, you will be able to build your own AI-supported study routine, choose the right prompts for each technique, and use AI to diagnose what you know, what you don’t, and what to practice next</a:t>
            </a:r>
            <a:r>
              <a:rPr b="0" i="0" lang="en-US" sz="1800" u="none" cap="none" strike="noStrike">
                <a:solidFill>
                  <a:schemeClr val="dk1"/>
                </a:solidFill>
                <a:latin typeface="Avenir"/>
                <a:ea typeface="Avenir"/>
                <a:cs typeface="Avenir"/>
                <a:sym typeface="Avenir"/>
              </a:rPr>
              <a:t>.</a:t>
            </a:r>
            <a:endParaRPr b="0" i="0" sz="1400" u="none" cap="none" strike="noStrike">
              <a:solidFill>
                <a:srgbClr val="000000"/>
              </a:solidFill>
              <a:latin typeface="Arial"/>
              <a:ea typeface="Arial"/>
              <a:cs typeface="Arial"/>
              <a:sym typeface="Arial"/>
            </a:endParaRPr>
          </a:p>
        </p:txBody>
      </p:sp>
      <p:pic>
        <p:nvPicPr>
          <p:cNvPr id="93" name="Google Shape;93;g36d4ca9d3d1_0_26"/>
          <p:cNvPicPr preferRelativeResize="0"/>
          <p:nvPr/>
        </p:nvPicPr>
        <p:blipFill rotWithShape="1">
          <a:blip r:embed="rId3">
            <a:alphaModFix/>
          </a:blip>
          <a:srcRect b="0" l="0" r="0" t="0"/>
          <a:stretch/>
        </p:blipFill>
        <p:spPr>
          <a:xfrm>
            <a:off x="10830750" y="6020300"/>
            <a:ext cx="675450" cy="532900"/>
          </a:xfrm>
          <a:prstGeom prst="rect">
            <a:avLst/>
          </a:prstGeom>
          <a:noFill/>
          <a:ln>
            <a:noFill/>
          </a:ln>
        </p:spPr>
      </p:pic>
      <p:pic>
        <p:nvPicPr>
          <p:cNvPr id="94" name="Google Shape;94;g36d4ca9d3d1_0_26"/>
          <p:cNvPicPr preferRelativeResize="0"/>
          <p:nvPr/>
        </p:nvPicPr>
        <p:blipFill>
          <a:blip r:embed="rId4">
            <a:alphaModFix/>
          </a:blip>
          <a:stretch>
            <a:fillRect/>
          </a:stretch>
        </p:blipFill>
        <p:spPr>
          <a:xfrm>
            <a:off x="548314" y="3568750"/>
            <a:ext cx="2544000" cy="25440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9" name="Shape 99"/>
        <p:cNvGrpSpPr/>
        <p:nvPr/>
      </p:nvGrpSpPr>
      <p:grpSpPr>
        <a:xfrm>
          <a:off x="0" y="0"/>
          <a:ext cx="0" cy="0"/>
          <a:chOff x="0" y="0"/>
          <a:chExt cx="0" cy="0"/>
        </a:xfrm>
      </p:grpSpPr>
      <p:sp>
        <p:nvSpPr>
          <p:cNvPr id="100" name="Google Shape;100;g393c9ffa241_0_1"/>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01" name="Google Shape;101;g393c9ffa241_0_1" title="Studing.png"/>
          <p:cNvPicPr preferRelativeResize="0"/>
          <p:nvPr/>
        </p:nvPicPr>
        <p:blipFill>
          <a:blip r:embed="rId3">
            <a:alphaModFix/>
          </a:blip>
          <a:stretch>
            <a:fillRect/>
          </a:stretch>
        </p:blipFill>
        <p:spPr>
          <a:xfrm>
            <a:off x="2126754" y="0"/>
            <a:ext cx="8065696" cy="68580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6" name="Shape 106"/>
        <p:cNvGrpSpPr/>
        <p:nvPr/>
      </p:nvGrpSpPr>
      <p:grpSpPr>
        <a:xfrm>
          <a:off x="0" y="0"/>
          <a:ext cx="0" cy="0"/>
          <a:chOff x="0" y="0"/>
          <a:chExt cx="0" cy="0"/>
        </a:xfrm>
      </p:grpSpPr>
      <p:sp>
        <p:nvSpPr>
          <p:cNvPr id="107" name="Google Shape;107;g3936df5c928_0_0"/>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Retrieval Practice</a:t>
            </a:r>
            <a:endParaRPr/>
          </a:p>
        </p:txBody>
      </p:sp>
      <p:sp>
        <p:nvSpPr>
          <p:cNvPr id="108" name="Google Shape;108;g3936df5c928_0_0"/>
          <p:cNvSpPr txBox="1"/>
          <p:nvPr>
            <p:ph idx="1" type="body"/>
          </p:nvPr>
        </p:nvSpPr>
        <p:spPr>
          <a:xfrm>
            <a:off x="382250" y="1825625"/>
            <a:ext cx="11546400" cy="4897800"/>
          </a:xfrm>
          <a:prstGeom prst="rect">
            <a:avLst/>
          </a:prstGeom>
          <a:noFill/>
          <a:ln>
            <a:noFill/>
          </a:ln>
        </p:spPr>
        <p:txBody>
          <a:bodyPr anchorCtr="0" anchor="t" bIns="45700" lIns="91425" spcFirstLastPara="1" rIns="91425" wrap="square" tIns="45700">
            <a:normAutofit lnSpcReduction="20000"/>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R</a:t>
            </a:r>
            <a:r>
              <a:rPr lang="en-US">
                <a:latin typeface="Avenir"/>
                <a:ea typeface="Avenir"/>
                <a:cs typeface="Avenir"/>
                <a:sym typeface="Avenir"/>
              </a:rPr>
              <a:t>egularly test yourself from memory (without looking) to make knowledge easier to recall and to reveal what you still don’t know.</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Actively pulling information from memory strengthens long-term retention more than rereading.</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LLM Prompt: I am studying for [SUBJECT]. I have uploaded my lecture notes. Act as my professor and ask me questions one at a time that might appear on a test. If I get the answer wrong cite where you found the correct answer in the lecture notes and explain to me what I got wrong.</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 NotebookLM - Flashcard, Quiz</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p:txBody>
      </p:sp>
      <p:sp>
        <p:nvSpPr>
          <p:cNvPr id="109" name="Google Shape;109;g3936df5c928_0_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4" name="Shape 114"/>
        <p:cNvGrpSpPr/>
        <p:nvPr/>
      </p:nvGrpSpPr>
      <p:grpSpPr>
        <a:xfrm>
          <a:off x="0" y="0"/>
          <a:ext cx="0" cy="0"/>
          <a:chOff x="0" y="0"/>
          <a:chExt cx="0" cy="0"/>
        </a:xfrm>
      </p:grpSpPr>
      <p:sp>
        <p:nvSpPr>
          <p:cNvPr id="115" name="Google Shape;115;g393c9ffa241_0_35"/>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Spaced Education</a:t>
            </a:r>
            <a:endParaRPr/>
          </a:p>
        </p:txBody>
      </p:sp>
      <p:sp>
        <p:nvSpPr>
          <p:cNvPr id="116" name="Google Shape;116;g393c9ffa241_0_35"/>
          <p:cNvSpPr txBox="1"/>
          <p:nvPr>
            <p:ph idx="1" type="body"/>
          </p:nvPr>
        </p:nvSpPr>
        <p:spPr>
          <a:xfrm>
            <a:off x="382250" y="1825625"/>
            <a:ext cx="11436900" cy="48978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Re-study (ideally via retrieval, not rereading) in multiple short sessions separated by time gaps, which improves long-term retention versus “massed” study</a:t>
            </a:r>
            <a:r>
              <a:rPr lang="en-US">
                <a:latin typeface="Avenir"/>
                <a:ea typeface="Avenir"/>
                <a:cs typeface="Avenir"/>
                <a:sym typeface="Avenir"/>
              </a:rPr>
              <a:t>.</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Research</a:t>
            </a:r>
            <a:r>
              <a:rPr lang="en-US">
                <a:latin typeface="Avenir"/>
                <a:ea typeface="Avenir"/>
                <a:cs typeface="Avenir"/>
                <a:sym typeface="Avenir"/>
              </a:rPr>
              <a:t> suggests a</a:t>
            </a:r>
            <a:r>
              <a:rPr lang="en-US">
                <a:latin typeface="Avenir"/>
                <a:ea typeface="Avenir"/>
                <a:cs typeface="Avenir"/>
                <a:sym typeface="Avenir"/>
              </a:rPr>
              <a:t> gap between study sessions increases as the final test gets farther away; in proportion terms: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Exam in 7 days: Study on Days 0, 1, 3, 6</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LLM Prompt: I am studying for [SUBJECT] my test is in [# of days] days. I have uploaded my lecture notes. Create a spaced study plan including which topics I will </a:t>
            </a:r>
            <a:r>
              <a:rPr lang="en-US">
                <a:latin typeface="Avenir"/>
                <a:ea typeface="Avenir"/>
                <a:cs typeface="Avenir"/>
                <a:sym typeface="Avenir"/>
              </a:rPr>
              <a:t>study on each day</a:t>
            </a:r>
            <a:r>
              <a:rPr lang="en-US">
                <a:latin typeface="Avenir"/>
                <a:ea typeface="Avenir"/>
                <a:cs typeface="Avenir"/>
                <a:sym typeface="Avenir"/>
              </a:rPr>
              <a:t>.</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p:txBody>
      </p:sp>
      <p:sp>
        <p:nvSpPr>
          <p:cNvPr id="117" name="Google Shape;117;g393c9ffa241_0_3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2" name="Shape 122"/>
        <p:cNvGrpSpPr/>
        <p:nvPr/>
      </p:nvGrpSpPr>
      <p:grpSpPr>
        <a:xfrm>
          <a:off x="0" y="0"/>
          <a:ext cx="0" cy="0"/>
          <a:chOff x="0" y="0"/>
          <a:chExt cx="0" cy="0"/>
        </a:xfrm>
      </p:grpSpPr>
      <p:sp>
        <p:nvSpPr>
          <p:cNvPr id="123" name="Google Shape;123;g393c9ffa241_0_50"/>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Interleaving</a:t>
            </a:r>
            <a:endParaRPr/>
          </a:p>
        </p:txBody>
      </p:sp>
      <p:sp>
        <p:nvSpPr>
          <p:cNvPr id="124" name="Google Shape;124;g393c9ffa241_0_50"/>
          <p:cNvSpPr txBox="1"/>
          <p:nvPr>
            <p:ph idx="1" type="body"/>
          </p:nvPr>
        </p:nvSpPr>
        <p:spPr>
          <a:xfrm>
            <a:off x="382250" y="1825625"/>
            <a:ext cx="11436900" cy="4897800"/>
          </a:xfrm>
          <a:prstGeom prst="rect">
            <a:avLst/>
          </a:prstGeom>
          <a:noFill/>
          <a:ln>
            <a:noFill/>
          </a:ln>
        </p:spPr>
        <p:txBody>
          <a:bodyPr anchorCtr="0" anchor="t" bIns="45700" lIns="91425" spcFirstLastPara="1" rIns="91425" wrap="square" tIns="45700">
            <a:normAutofit fontScale="85000" lnSpcReduction="20000"/>
          </a:bodyPr>
          <a:lstStyle/>
          <a:p>
            <a:pPr indent="-325755"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Instead of doing 20 problems of the same type in a row (“blocked practice”), you mix problem types/topics so you must decide which strategy applies each time</a:t>
            </a:r>
            <a:r>
              <a:rPr lang="en-US">
                <a:latin typeface="Avenir"/>
                <a:ea typeface="Avenir"/>
                <a:cs typeface="Avenir"/>
                <a:sym typeface="Avenir"/>
              </a:rPr>
              <a:t>.</a:t>
            </a:r>
            <a:endParaRPr>
              <a:latin typeface="Avenir"/>
              <a:ea typeface="Avenir"/>
              <a:cs typeface="Avenir"/>
              <a:sym typeface="Avenir"/>
            </a:endParaRPr>
          </a:p>
          <a:p>
            <a:pPr indent="-325755"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Interleaving improves learning partly by strengthening discrimination (recognizing what kind of problem it is) and linking each problem type to its correct strategy—skills that matter on real exams.</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a:p>
            <a:pPr indent="-325755"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LLM Prompt: </a:t>
            </a:r>
            <a:r>
              <a:rPr lang="en-US">
                <a:latin typeface="Avenir"/>
                <a:ea typeface="Avenir"/>
                <a:cs typeface="Avenir"/>
                <a:sym typeface="Avenir"/>
              </a:rPr>
              <a:t>I am studying for [SUBJECT]. I have uploaded my lecture notes/problem sets. Create an interleaved practice session with 3–4 categories (label them). For each question: (1) ask me to identify the category and the strategy/formula I’ll use, (2) then let me solve it, (3) grade my answer. If I’m wrong, cite where the correct method is found in the notes and explain my mistake. Keep an error log by category and prioritize the categories I confuse most.</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p:txBody>
      </p:sp>
      <p:sp>
        <p:nvSpPr>
          <p:cNvPr id="125" name="Google Shape;125;g393c9ffa241_0_5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0" name="Shape 130"/>
        <p:cNvGrpSpPr/>
        <p:nvPr/>
      </p:nvGrpSpPr>
      <p:grpSpPr>
        <a:xfrm>
          <a:off x="0" y="0"/>
          <a:ext cx="0" cy="0"/>
          <a:chOff x="0" y="0"/>
          <a:chExt cx="0" cy="0"/>
        </a:xfrm>
      </p:grpSpPr>
      <p:sp>
        <p:nvSpPr>
          <p:cNvPr id="131" name="Google Shape;131;g393c9ffa241_0_60"/>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Blended Learning</a:t>
            </a:r>
            <a:endParaRPr/>
          </a:p>
        </p:txBody>
      </p:sp>
      <p:sp>
        <p:nvSpPr>
          <p:cNvPr id="132" name="Google Shape;132;g393c9ffa241_0_60"/>
          <p:cNvSpPr txBox="1"/>
          <p:nvPr>
            <p:ph idx="1" type="body"/>
          </p:nvPr>
        </p:nvSpPr>
        <p:spPr>
          <a:xfrm>
            <a:off x="382250" y="1825625"/>
            <a:ext cx="114369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Use multiple modalities (visuals + +audio + reading + audio + kinesthetic) because different representations and activities support understanding and transfer</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ChatGPT - Conversations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NotebookLM - Audio, Video, Infographic</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Napkin AI - Infographic</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Gemini - </a:t>
            </a:r>
            <a:r>
              <a:rPr lang="en-US">
                <a:latin typeface="Avenir"/>
                <a:ea typeface="Avenir"/>
                <a:cs typeface="Avenir"/>
                <a:sym typeface="Avenir"/>
              </a:rPr>
              <a:t>Learning</a:t>
            </a:r>
            <a:r>
              <a:rPr lang="en-US">
                <a:latin typeface="Avenir"/>
                <a:ea typeface="Avenir"/>
                <a:cs typeface="Avenir"/>
                <a:sym typeface="Avenir"/>
              </a:rPr>
              <a:t> Coach</a:t>
            </a:r>
            <a:endParaRPr>
              <a:latin typeface="Avenir"/>
              <a:ea typeface="Avenir"/>
              <a:cs typeface="Avenir"/>
              <a:sym typeface="Avenir"/>
            </a:endParaRPr>
          </a:p>
        </p:txBody>
      </p:sp>
      <p:sp>
        <p:nvSpPr>
          <p:cNvPr id="133" name="Google Shape;133;g393c9ffa241_0_6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8" name="Shape 138"/>
        <p:cNvGrpSpPr/>
        <p:nvPr/>
      </p:nvGrpSpPr>
      <p:grpSpPr>
        <a:xfrm>
          <a:off x="0" y="0"/>
          <a:ext cx="0" cy="0"/>
          <a:chOff x="0" y="0"/>
          <a:chExt cx="0" cy="0"/>
        </a:xfrm>
      </p:grpSpPr>
      <p:sp>
        <p:nvSpPr>
          <p:cNvPr id="139" name="Google Shape;139;g393c9ffa241_0_69"/>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Active Learning</a:t>
            </a:r>
            <a:endParaRPr/>
          </a:p>
        </p:txBody>
      </p:sp>
      <p:sp>
        <p:nvSpPr>
          <p:cNvPr id="140" name="Google Shape;140;g393c9ffa241_0_69"/>
          <p:cNvSpPr txBox="1"/>
          <p:nvPr>
            <p:ph idx="1" type="body"/>
          </p:nvPr>
        </p:nvSpPr>
        <p:spPr>
          <a:xfrm>
            <a:off x="382250" y="1825625"/>
            <a:ext cx="114369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Learn by doing and explaining: solve problems, answer questions, and “teach back” concepts so you generate understanding instead of passively rereading or listening.</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LLM Prompt: </a:t>
            </a:r>
            <a:r>
              <a:rPr lang="en-US">
                <a:latin typeface="Avenir"/>
                <a:ea typeface="Avenir"/>
                <a:cs typeface="Avenir"/>
                <a:sym typeface="Avenir"/>
              </a:rPr>
              <a:t>I am studying [SUBJECT] and I have uploaded my lecture notes. I’m going to explain [CONCEPT] out loud as if teaching a class. Ask me 1–2 Socratic questions after I have answered those ask me for a worked example and provide constructive </a:t>
            </a:r>
            <a:r>
              <a:rPr lang="en-US">
                <a:latin typeface="Avenir"/>
                <a:ea typeface="Avenir"/>
                <a:cs typeface="Avenir"/>
                <a:sym typeface="Avenir"/>
              </a:rPr>
              <a:t>feedback</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ChatGPT - </a:t>
            </a:r>
            <a:r>
              <a:rPr lang="en-US">
                <a:latin typeface="Avenir"/>
                <a:ea typeface="Avenir"/>
                <a:cs typeface="Avenir"/>
                <a:sym typeface="Avenir"/>
              </a:rPr>
              <a:t>Conversations</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Quizlet Q-Chat</a:t>
            </a:r>
            <a:endParaRPr>
              <a:latin typeface="Avenir"/>
              <a:ea typeface="Avenir"/>
              <a:cs typeface="Avenir"/>
              <a:sym typeface="Avenir"/>
            </a:endParaRPr>
          </a:p>
        </p:txBody>
      </p:sp>
      <p:sp>
        <p:nvSpPr>
          <p:cNvPr id="141" name="Google Shape;141;g393c9ffa241_0_69"/>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6" name="Shape 146"/>
        <p:cNvGrpSpPr/>
        <p:nvPr/>
      </p:nvGrpSpPr>
      <p:grpSpPr>
        <a:xfrm>
          <a:off x="0" y="0"/>
          <a:ext cx="0" cy="0"/>
          <a:chOff x="0" y="0"/>
          <a:chExt cx="0" cy="0"/>
        </a:xfrm>
      </p:grpSpPr>
      <p:sp>
        <p:nvSpPr>
          <p:cNvPr id="147" name="Google Shape;147;g393c9ffa241_0_78"/>
          <p:cNvSpPr txBox="1"/>
          <p:nvPr>
            <p:ph type="title"/>
          </p:nvPr>
        </p:nvSpPr>
        <p:spPr>
          <a:xfrm>
            <a:off x="566237" y="3219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Online Homework - Instant </a:t>
            </a:r>
            <a:r>
              <a:rPr lang="en-US">
                <a:latin typeface="Avenir"/>
                <a:ea typeface="Avenir"/>
                <a:cs typeface="Avenir"/>
                <a:sym typeface="Avenir"/>
              </a:rPr>
              <a:t>Feedback</a:t>
            </a:r>
            <a:endParaRPr/>
          </a:p>
        </p:txBody>
      </p:sp>
      <p:sp>
        <p:nvSpPr>
          <p:cNvPr id="148" name="Google Shape;148;g393c9ffa241_0_78"/>
          <p:cNvSpPr txBox="1"/>
          <p:nvPr>
            <p:ph idx="1" type="body"/>
          </p:nvPr>
        </p:nvSpPr>
        <p:spPr>
          <a:xfrm>
            <a:off x="382250" y="1825625"/>
            <a:ext cx="11436900" cy="4897800"/>
          </a:xfrm>
          <a:prstGeom prst="rect">
            <a:avLst/>
          </a:prstGeom>
          <a:noFill/>
          <a:ln>
            <a:noFill/>
          </a:ln>
        </p:spPr>
        <p:txBody>
          <a:bodyPr anchorCtr="0" anchor="t" bIns="45700" lIns="91425" spcFirstLastPara="1" rIns="91425" wrap="square" tIns="45700">
            <a:normAutofit fontScale="92500" lnSpcReduction="10000"/>
          </a:bodyPr>
          <a:lstStyle/>
          <a:p>
            <a:pPr indent="-334327"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Online/homework platforms can function as formative assessment when they provide frequent practice plus timely, actionable feedback (what’s wrong, why, and what to do next), which is strongly linked to improved learning</a:t>
            </a:r>
            <a:r>
              <a:rPr lang="en-US">
                <a:latin typeface="Avenir"/>
                <a:ea typeface="Avenir"/>
                <a:cs typeface="Avenir"/>
                <a:sym typeface="Avenir"/>
              </a:rPr>
              <a:t>.</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a:p>
            <a:pPr indent="-334327"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LLM Prompt: </a:t>
            </a:r>
            <a:r>
              <a:rPr lang="en-US">
                <a:latin typeface="Avenir"/>
                <a:ea typeface="Avenir"/>
                <a:cs typeface="Avenir"/>
                <a:sym typeface="Avenir"/>
              </a:rPr>
              <a:t>I am studying [SUBJECT]. I will paste each homework question (and my attempt) one at a time. Act as an instant-feedback tutor:</a:t>
            </a:r>
            <a:endParaRPr>
              <a:latin typeface="Avenir"/>
              <a:ea typeface="Avenir"/>
              <a:cs typeface="Avenir"/>
              <a:sym typeface="Avenir"/>
            </a:endParaRPr>
          </a:p>
          <a:p>
            <a:pPr indent="-334327" lvl="1" marL="914400" rtl="0" algn="l">
              <a:lnSpc>
                <a:spcPct val="100000"/>
              </a:lnSpc>
              <a:spcBef>
                <a:spcPts val="0"/>
              </a:spcBef>
              <a:spcAft>
                <a:spcPts val="0"/>
              </a:spcAft>
              <a:buSzPct val="75000"/>
              <a:buFont typeface="Avenir"/>
              <a:buChar char="•"/>
            </a:pPr>
            <a:r>
              <a:rPr lang="en-US">
                <a:latin typeface="Avenir"/>
                <a:ea typeface="Avenir"/>
                <a:cs typeface="Avenir"/>
                <a:sym typeface="Avenir"/>
              </a:rPr>
              <a:t>tell me if my answer is correct,</a:t>
            </a:r>
            <a:endParaRPr>
              <a:latin typeface="Avenir"/>
              <a:ea typeface="Avenir"/>
              <a:cs typeface="Avenir"/>
              <a:sym typeface="Avenir"/>
            </a:endParaRPr>
          </a:p>
          <a:p>
            <a:pPr indent="-334327" lvl="1" marL="914400" rtl="0" algn="l">
              <a:lnSpc>
                <a:spcPct val="100000"/>
              </a:lnSpc>
              <a:spcBef>
                <a:spcPts val="0"/>
              </a:spcBef>
              <a:spcAft>
                <a:spcPts val="0"/>
              </a:spcAft>
              <a:buSzPct val="75000"/>
              <a:buFont typeface="Avenir"/>
              <a:buChar char="•"/>
            </a:pPr>
            <a:r>
              <a:rPr lang="en-US">
                <a:latin typeface="Avenir"/>
                <a:ea typeface="Avenir"/>
                <a:cs typeface="Avenir"/>
                <a:sym typeface="Avenir"/>
              </a:rPr>
              <a:t>if wrong, give minimal feedback first (one hint),</a:t>
            </a:r>
            <a:endParaRPr>
              <a:latin typeface="Avenir"/>
              <a:ea typeface="Avenir"/>
              <a:cs typeface="Avenir"/>
              <a:sym typeface="Avenir"/>
            </a:endParaRPr>
          </a:p>
          <a:p>
            <a:pPr indent="-334327" lvl="1" marL="914400" rtl="0" algn="l">
              <a:lnSpc>
                <a:spcPct val="100000"/>
              </a:lnSpc>
              <a:spcBef>
                <a:spcPts val="0"/>
              </a:spcBef>
              <a:spcAft>
                <a:spcPts val="0"/>
              </a:spcAft>
              <a:buSzPct val="75000"/>
              <a:buFont typeface="Avenir"/>
              <a:buChar char="•"/>
            </a:pPr>
            <a:r>
              <a:rPr lang="en-US">
                <a:latin typeface="Avenir"/>
                <a:ea typeface="Avenir"/>
                <a:cs typeface="Avenir"/>
                <a:sym typeface="Avenir"/>
              </a:rPr>
              <a:t>if I still miss it, give a worked solution and explain the specific misconception,</a:t>
            </a:r>
            <a:endParaRPr>
              <a:latin typeface="Avenir"/>
              <a:ea typeface="Avenir"/>
              <a:cs typeface="Avenir"/>
              <a:sym typeface="Avenir"/>
            </a:endParaRPr>
          </a:p>
          <a:p>
            <a:pPr indent="-334327" lvl="1" marL="914400" rtl="0" algn="l">
              <a:lnSpc>
                <a:spcPct val="100000"/>
              </a:lnSpc>
              <a:spcBef>
                <a:spcPts val="0"/>
              </a:spcBef>
              <a:spcAft>
                <a:spcPts val="0"/>
              </a:spcAft>
              <a:buSzPct val="75000"/>
              <a:buFont typeface="Avenir"/>
              <a:buChar char="•"/>
            </a:pPr>
            <a:r>
              <a:rPr lang="en-US">
                <a:latin typeface="Avenir"/>
                <a:ea typeface="Avenir"/>
                <a:cs typeface="Avenir"/>
                <a:sym typeface="Avenir"/>
              </a:rPr>
              <a:t>create 2 isomorphic practice problems (same skill, different surface details) and quiz me again.</a:t>
            </a:r>
            <a:endParaRPr>
              <a:latin typeface="Avenir"/>
              <a:ea typeface="Avenir"/>
              <a:cs typeface="Avenir"/>
              <a:sym typeface="Avenir"/>
            </a:endParaRPr>
          </a:p>
          <a:p>
            <a:pPr indent="-334327" lvl="1" marL="914400" rtl="0" algn="l">
              <a:lnSpc>
                <a:spcPct val="100000"/>
              </a:lnSpc>
              <a:spcBef>
                <a:spcPts val="0"/>
              </a:spcBef>
              <a:spcAft>
                <a:spcPts val="0"/>
              </a:spcAft>
              <a:buSzPct val="75000"/>
              <a:buFont typeface="Avenir"/>
              <a:buChar char="•"/>
            </a:pPr>
            <a:r>
              <a:rPr lang="en-US">
                <a:latin typeface="Avenir"/>
                <a:ea typeface="Avenir"/>
                <a:cs typeface="Avenir"/>
                <a:sym typeface="Avenir"/>
              </a:rPr>
              <a:t>Maintain an error log by skill and surface my weakest skills first in future practice.</a:t>
            </a:r>
            <a:endParaRPr>
              <a:latin typeface="Avenir"/>
              <a:ea typeface="Avenir"/>
              <a:cs typeface="Avenir"/>
              <a:sym typeface="Avenir"/>
            </a:endParaRPr>
          </a:p>
        </p:txBody>
      </p:sp>
      <p:sp>
        <p:nvSpPr>
          <p:cNvPr id="149" name="Google Shape;149;g393c9ffa241_0_78"/>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4" name="Shape 154"/>
        <p:cNvGrpSpPr/>
        <p:nvPr/>
      </p:nvGrpSpPr>
      <p:grpSpPr>
        <a:xfrm>
          <a:off x="0" y="0"/>
          <a:ext cx="0" cy="0"/>
          <a:chOff x="0" y="0"/>
          <a:chExt cx="0" cy="0"/>
        </a:xfrm>
      </p:grpSpPr>
      <p:sp>
        <p:nvSpPr>
          <p:cNvPr id="155" name="Google Shape;155;g393c9ffa241_0_87"/>
          <p:cNvSpPr txBox="1"/>
          <p:nvPr>
            <p:ph type="title"/>
          </p:nvPr>
        </p:nvSpPr>
        <p:spPr>
          <a:xfrm>
            <a:off x="566237" y="3219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Metacognition</a:t>
            </a:r>
            <a:endParaRPr/>
          </a:p>
        </p:txBody>
      </p:sp>
      <p:sp>
        <p:nvSpPr>
          <p:cNvPr id="156" name="Google Shape;156;g393c9ffa241_0_87"/>
          <p:cNvSpPr txBox="1"/>
          <p:nvPr>
            <p:ph idx="1" type="body"/>
          </p:nvPr>
        </p:nvSpPr>
        <p:spPr>
          <a:xfrm>
            <a:off x="382250" y="1825625"/>
            <a:ext cx="11436900" cy="4897800"/>
          </a:xfrm>
          <a:prstGeom prst="rect">
            <a:avLst/>
          </a:prstGeom>
          <a:noFill/>
          <a:ln>
            <a:noFill/>
          </a:ln>
        </p:spPr>
        <p:txBody>
          <a:bodyPr anchorCtr="0" anchor="t" bIns="45700" lIns="91425" spcFirstLastPara="1" rIns="91425" wrap="square" tIns="45700">
            <a:normAutofit lnSpcReduction="20000"/>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Metacognition is “thinking about your thinking”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Planning, monitoring, and evaluating your learning so you can choose better strategies and study more efficiently</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Planning and goal-setting (forethought) - Turn this syllabus/topic list into a study plan with spaced review and built-in retrieval checks.</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Exam Wrapper - What topics did I lose points on and why (knowledge vs strategy vs time management)?</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Error </a:t>
            </a:r>
            <a:r>
              <a:rPr lang="en-US">
                <a:latin typeface="Avenir"/>
                <a:ea typeface="Avenir"/>
                <a:cs typeface="Avenir"/>
                <a:sym typeface="Avenir"/>
              </a:rPr>
              <a:t>Correction</a:t>
            </a:r>
            <a:r>
              <a:rPr lang="en-US">
                <a:latin typeface="Avenir"/>
                <a:ea typeface="Avenir"/>
                <a:cs typeface="Avenir"/>
                <a:sym typeface="Avenir"/>
              </a:rPr>
              <a:t> - Ask me: ‘What did you think the question was asking?’ and ‘What rule did you apply?’ then correct me.</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Metacognition Coach - Act as my metacognition coach. Ask me questions to help me better think about how I am studying, including how I plan, monitor, and evaluate my learning </a:t>
            </a:r>
            <a:endParaRPr>
              <a:latin typeface="Avenir"/>
              <a:ea typeface="Avenir"/>
              <a:cs typeface="Avenir"/>
              <a:sym typeface="Avenir"/>
            </a:endParaRPr>
          </a:p>
        </p:txBody>
      </p:sp>
      <p:sp>
        <p:nvSpPr>
          <p:cNvPr id="157" name="Google Shape;157;g393c9ffa241_0_8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2025-07-05T12:48:20Z</dcterms:created>
  <dc:creator>Connors, Collin Dey</dc:creator>
</cp:coreProperties>
</file>