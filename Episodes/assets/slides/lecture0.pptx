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Play"/>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NCqVCMxp4PTPaGD/k6z9CPqap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Play-regular.fntdata"/><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it.miami.edu/ai-tools/index.html#known-ai-tools"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it.miami.edu/ai-tools/index.html#known-ai-tools"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it.miami.edu/ai-tools/index.html#known-ai-tools" TargetMode="External"/><Relationship Id="rId3" Type="http://schemas.openxmlformats.org/officeDocument/2006/relationships/hyperlink" Target="http://otter.ai"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pilot.microsoft.com/"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mini.google.com/"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d4ca9d3d1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6d4ca9d3d1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a:t>On the </a:t>
            </a:r>
            <a:r>
              <a:rPr lang="en-US"/>
              <a:t>Shoulders</a:t>
            </a:r>
            <a:r>
              <a:rPr lang="en-US"/>
              <a:t> of Giants: https://en.wikipedia.org/wiki/Standing_on_the_shoulders_of_giants</a:t>
            </a:r>
            <a:endParaRPr/>
          </a:p>
          <a:p>
            <a:pPr indent="0" lvl="0" marL="0" rtl="0" algn="l">
              <a:lnSpc>
                <a:spcPct val="100000"/>
              </a:lnSpc>
              <a:spcBef>
                <a:spcPts val="0"/>
              </a:spcBef>
              <a:spcAft>
                <a:spcPts val="0"/>
              </a:spcAft>
              <a:buClr>
                <a:schemeClr val="dk1"/>
              </a:buClr>
              <a:buSzPts val="1400"/>
              <a:buFont typeface="Arial"/>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87" name="Google Shape;87;g36d4ca9d3d1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Charles Babbage: https://en.wikipedia.org/wiki/Charles_Babbage#Early_life</a:t>
            </a:r>
            <a:endParaRPr/>
          </a:p>
          <a:p>
            <a:pPr indent="0" lvl="0" marL="0" rtl="0" algn="l">
              <a:lnSpc>
                <a:spcPct val="100000"/>
              </a:lnSpc>
              <a:spcBef>
                <a:spcPts val="0"/>
              </a:spcBef>
              <a:spcAft>
                <a:spcPts val="0"/>
              </a:spcAft>
              <a:buSzPts val="1400"/>
              <a:buNone/>
            </a:pPr>
            <a:r>
              <a:rPr b="0" i="0" lang="en-US" sz="1200">
                <a:solidFill>
                  <a:schemeClr val="dk1"/>
                </a:solidFill>
                <a:latin typeface="Arial"/>
                <a:ea typeface="Arial"/>
                <a:cs typeface="Arial"/>
                <a:sym typeface="Arial"/>
              </a:rPr>
              <a:t>Difference </a:t>
            </a:r>
            <a:r>
              <a:rPr lang="en-US"/>
              <a:t>Engine: https://en.wikipedia.org/wiki/Difference_engine</a:t>
            </a:r>
            <a:endParaRPr/>
          </a:p>
          <a:p>
            <a:pPr indent="0" lvl="0" marL="0" rtl="0" algn="l">
              <a:lnSpc>
                <a:spcPct val="100000"/>
              </a:lnSpc>
              <a:spcBef>
                <a:spcPts val="0"/>
              </a:spcBef>
              <a:spcAft>
                <a:spcPts val="0"/>
              </a:spcAft>
              <a:buSzPts val="1400"/>
              <a:buNone/>
            </a:pPr>
            <a:r>
              <a:rPr lang="en-US"/>
              <a:t>Ada Lovelace on the Analytical Engine: https://www.fourmilab.ch/babbage/sketch.html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Lecture Notes:</a:t>
            </a:r>
            <a:endParaRPr/>
          </a:p>
          <a:p>
            <a:pPr indent="0" lvl="0" marL="0" rtl="0" algn="l">
              <a:lnSpc>
                <a:spcPct val="115000"/>
              </a:lnSpc>
              <a:spcBef>
                <a:spcPts val="1200"/>
              </a:spcBef>
              <a:spcAft>
                <a:spcPts val="0"/>
              </a:spcAft>
              <a:buClr>
                <a:schemeClr val="dk1"/>
              </a:buClr>
              <a:buSzPts val="1100"/>
              <a:buFont typeface="Arial"/>
              <a:buNone/>
            </a:pPr>
            <a:r>
              <a:rPr b="1" lang="en-US" sz="1100"/>
              <a:t>Background &amp; Role</a:t>
            </a:r>
            <a:endParaRPr b="1" sz="1100"/>
          </a:p>
          <a:p>
            <a:pPr indent="-298450" lvl="0" marL="457200" rtl="0" algn="l">
              <a:lnSpc>
                <a:spcPct val="115000"/>
              </a:lnSpc>
              <a:spcBef>
                <a:spcPts val="1200"/>
              </a:spcBef>
              <a:spcAft>
                <a:spcPts val="0"/>
              </a:spcAft>
              <a:buClr>
                <a:schemeClr val="dk1"/>
              </a:buClr>
              <a:buSzPts val="1100"/>
              <a:buChar char="●"/>
            </a:pPr>
            <a:r>
              <a:rPr lang="en-US" sz="1100"/>
              <a:t>English mathematician, inventor, mechanical engineer.</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“Father of the Computer” — first to propose a </a:t>
            </a:r>
            <a:r>
              <a:rPr b="1" lang="en-US" sz="1100"/>
              <a:t>programmable</a:t>
            </a:r>
            <a:r>
              <a:rPr lang="en-US" sz="1100"/>
              <a:t> calculating machine.</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Aimed to eliminate human error in calculation tables (navigation, engineering).</a:t>
            </a:r>
            <a:br>
              <a:rPr lang="en-US" sz="1100"/>
            </a:br>
            <a:endParaRPr sz="1100"/>
          </a:p>
          <a:p>
            <a:pPr indent="0" lvl="0" marL="0" rtl="0" algn="l">
              <a:lnSpc>
                <a:spcPct val="115000"/>
              </a:lnSpc>
              <a:spcBef>
                <a:spcPts val="1200"/>
              </a:spcBef>
              <a:spcAft>
                <a:spcPts val="0"/>
              </a:spcAft>
              <a:buClr>
                <a:schemeClr val="dk1"/>
              </a:buClr>
              <a:buSzPts val="1100"/>
              <a:buFont typeface="Arial"/>
              <a:buNone/>
            </a:pPr>
            <a:r>
              <a:rPr b="1" lang="en-US" sz="1100"/>
              <a:t>The Difference Engine (1820s)</a:t>
            </a:r>
            <a:endParaRPr b="1" sz="1100"/>
          </a:p>
          <a:p>
            <a:pPr indent="-298450" lvl="0" marL="457200" rtl="0" algn="l">
              <a:lnSpc>
                <a:spcPct val="115000"/>
              </a:lnSpc>
              <a:spcBef>
                <a:spcPts val="1200"/>
              </a:spcBef>
              <a:spcAft>
                <a:spcPts val="0"/>
              </a:spcAft>
              <a:buClr>
                <a:schemeClr val="dk1"/>
              </a:buClr>
              <a:buSzPts val="1100"/>
              <a:buChar char="●"/>
            </a:pPr>
            <a:r>
              <a:rPr lang="en-US" sz="1100"/>
              <a:t>Purpose: Automate production of mathematical tables.</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Fully mechanical, decimal-based, crank-driven.</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Used the method of finite differences — no need for multiplication/division.</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Partially built; ran into manufacturing and funding issues.</a:t>
            </a:r>
            <a:br>
              <a:rPr lang="en-US" sz="1100"/>
            </a:br>
            <a:endParaRPr sz="1100"/>
          </a:p>
          <a:p>
            <a:pPr indent="0" lvl="0" marL="0" rtl="0" algn="l">
              <a:lnSpc>
                <a:spcPct val="115000"/>
              </a:lnSpc>
              <a:spcBef>
                <a:spcPts val="1200"/>
              </a:spcBef>
              <a:spcAft>
                <a:spcPts val="0"/>
              </a:spcAft>
              <a:buClr>
                <a:schemeClr val="dk1"/>
              </a:buClr>
              <a:buSzPts val="1100"/>
              <a:buFont typeface="Arial"/>
              <a:buNone/>
            </a:pPr>
            <a:r>
              <a:rPr b="1" lang="en-US" sz="1100"/>
              <a:t>The Analytical Engine (1837)</a:t>
            </a:r>
            <a:endParaRPr b="1" sz="1100"/>
          </a:p>
          <a:p>
            <a:pPr indent="-298450" lvl="0" marL="457200" rtl="0" algn="l">
              <a:lnSpc>
                <a:spcPct val="115000"/>
              </a:lnSpc>
              <a:spcBef>
                <a:spcPts val="1200"/>
              </a:spcBef>
              <a:spcAft>
                <a:spcPts val="0"/>
              </a:spcAft>
              <a:buClr>
                <a:schemeClr val="dk1"/>
              </a:buClr>
              <a:buSzPts val="1100"/>
              <a:buChar char="●"/>
            </a:pPr>
            <a:r>
              <a:rPr lang="en-US" sz="1100"/>
              <a:t>First </a:t>
            </a:r>
            <a:r>
              <a:rPr b="1" lang="en-US" sz="1100"/>
              <a:t>general-purpose computing design</a:t>
            </a:r>
            <a:r>
              <a:rPr lang="en-US" sz="1100"/>
              <a:t> — could run </a:t>
            </a:r>
            <a:r>
              <a:rPr b="1" lang="en-US" sz="1100"/>
              <a:t>any program</a:t>
            </a:r>
            <a:r>
              <a:rPr lang="en-US" sz="1100"/>
              <a:t> given enough instructions.</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Components analogous to modern computers:</a:t>
            </a:r>
            <a:br>
              <a:rPr lang="en-US" sz="1100"/>
            </a:br>
            <a:endParaRPr sz="1100"/>
          </a:p>
          <a:p>
            <a:pPr indent="-298450" lvl="1" marL="914400" rtl="0" algn="l">
              <a:lnSpc>
                <a:spcPct val="115000"/>
              </a:lnSpc>
              <a:spcBef>
                <a:spcPts val="0"/>
              </a:spcBef>
              <a:spcAft>
                <a:spcPts val="0"/>
              </a:spcAft>
              <a:buClr>
                <a:schemeClr val="dk1"/>
              </a:buClr>
              <a:buSzPts val="1100"/>
              <a:buChar char="○"/>
            </a:pPr>
            <a:r>
              <a:rPr b="1" lang="en-US" sz="1100"/>
              <a:t>Store</a:t>
            </a:r>
            <a:r>
              <a:rPr lang="en-US" sz="1100"/>
              <a:t> – held 1,000 numbers (40-digit precision) → like RAM.</a:t>
            </a:r>
            <a:br>
              <a:rPr lang="en-US" sz="1100"/>
            </a:br>
            <a:endParaRPr sz="1100"/>
          </a:p>
          <a:p>
            <a:pPr indent="-298450" lvl="1" marL="914400" rtl="0" algn="l">
              <a:lnSpc>
                <a:spcPct val="115000"/>
              </a:lnSpc>
              <a:spcBef>
                <a:spcPts val="0"/>
              </a:spcBef>
              <a:spcAft>
                <a:spcPts val="0"/>
              </a:spcAft>
              <a:buClr>
                <a:schemeClr val="dk1"/>
              </a:buClr>
              <a:buSzPts val="1100"/>
              <a:buChar char="○"/>
            </a:pPr>
            <a:r>
              <a:rPr b="1" lang="en-US" sz="1100"/>
              <a:t>Mill</a:t>
            </a:r>
            <a:r>
              <a:rPr lang="en-US" sz="1100"/>
              <a:t> – mechanical computation unit → like CPU.</a:t>
            </a:r>
            <a:br>
              <a:rPr lang="en-US" sz="1100"/>
            </a:br>
            <a:endParaRPr sz="1100"/>
          </a:p>
          <a:p>
            <a:pPr indent="-298450" lvl="1" marL="914400" rtl="0" algn="l">
              <a:lnSpc>
                <a:spcPct val="115000"/>
              </a:lnSpc>
              <a:spcBef>
                <a:spcPts val="0"/>
              </a:spcBef>
              <a:spcAft>
                <a:spcPts val="0"/>
              </a:spcAft>
              <a:buClr>
                <a:schemeClr val="dk1"/>
              </a:buClr>
              <a:buSzPts val="1100"/>
              <a:buChar char="○"/>
            </a:pPr>
            <a:r>
              <a:rPr b="1" lang="en-US" sz="1100"/>
              <a:t>Punch Cards</a:t>
            </a:r>
            <a:r>
              <a:rPr lang="en-US" sz="1100"/>
              <a:t> – program input (borrowed from Jacquard loom weaving patterns).</a:t>
            </a:r>
            <a:br>
              <a:rPr lang="en-US" sz="1100"/>
            </a:br>
            <a:endParaRPr sz="1100"/>
          </a:p>
          <a:p>
            <a:pPr indent="-298450" lvl="1" marL="914400" rtl="0" algn="l">
              <a:lnSpc>
                <a:spcPct val="115000"/>
              </a:lnSpc>
              <a:spcBef>
                <a:spcPts val="0"/>
              </a:spcBef>
              <a:spcAft>
                <a:spcPts val="0"/>
              </a:spcAft>
              <a:buClr>
                <a:schemeClr val="dk1"/>
              </a:buClr>
              <a:buSzPts val="1100"/>
              <a:buChar char="○"/>
            </a:pPr>
            <a:r>
              <a:rPr b="1" lang="en-US" sz="1100"/>
              <a:t>Control Unit</a:t>
            </a:r>
            <a:r>
              <a:rPr lang="en-US" sz="1100"/>
              <a:t> – sequence control through card arrangement.</a:t>
            </a:r>
            <a:br>
              <a:rPr lang="en-US" sz="1100"/>
            </a:br>
            <a:endParaRPr sz="1100"/>
          </a:p>
          <a:p>
            <a:pPr indent="-298450" lvl="1" marL="914400" rtl="0" algn="l">
              <a:lnSpc>
                <a:spcPct val="115000"/>
              </a:lnSpc>
              <a:spcBef>
                <a:spcPts val="0"/>
              </a:spcBef>
              <a:spcAft>
                <a:spcPts val="0"/>
              </a:spcAft>
              <a:buClr>
                <a:schemeClr val="dk1"/>
              </a:buClr>
              <a:buSzPts val="1100"/>
              <a:buChar char="○"/>
            </a:pPr>
            <a:r>
              <a:rPr b="1" lang="en-US" sz="1100"/>
              <a:t>Output</a:t>
            </a:r>
            <a:r>
              <a:rPr lang="en-US" sz="1100"/>
              <a:t> – printer, curve plotter, bell.</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Could handle </a:t>
            </a:r>
            <a:r>
              <a:rPr b="1" lang="en-US" sz="1100"/>
              <a:t>loops</a:t>
            </a:r>
            <a:r>
              <a:rPr lang="en-US" sz="1100"/>
              <a:t> and </a:t>
            </a:r>
            <a:r>
              <a:rPr b="1" lang="en-US" sz="1100"/>
              <a:t>conditional branching</a:t>
            </a:r>
            <a:r>
              <a:rPr lang="en-US" sz="1100"/>
              <a:t> — concepts still core to programming.</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Would have been </a:t>
            </a:r>
            <a:r>
              <a:rPr b="1" lang="en-US" sz="1100"/>
              <a:t>Turing-complete</a:t>
            </a:r>
            <a:r>
              <a:rPr lang="en-US" sz="1100"/>
              <a:t> if built.</a:t>
            </a:r>
            <a:br>
              <a:rPr lang="en-US" sz="1100"/>
            </a:br>
            <a:endParaRPr sz="1100"/>
          </a:p>
          <a:p>
            <a:pPr indent="0" lvl="0" marL="0" rtl="0" algn="l">
              <a:lnSpc>
                <a:spcPct val="115000"/>
              </a:lnSpc>
              <a:spcBef>
                <a:spcPts val="1200"/>
              </a:spcBef>
              <a:spcAft>
                <a:spcPts val="0"/>
              </a:spcAft>
              <a:buClr>
                <a:schemeClr val="dk1"/>
              </a:buClr>
              <a:buSzPts val="1100"/>
              <a:buFont typeface="Arial"/>
              <a:buNone/>
            </a:pPr>
            <a:r>
              <a:rPr b="1" lang="en-US" sz="1100"/>
              <a:t>Babbage vs. Joseph Clement</a:t>
            </a:r>
            <a:endParaRPr b="1" sz="1100"/>
          </a:p>
          <a:p>
            <a:pPr indent="-298450" lvl="0" marL="457200" rtl="0" algn="l">
              <a:lnSpc>
                <a:spcPct val="115000"/>
              </a:lnSpc>
              <a:spcBef>
                <a:spcPts val="1200"/>
              </a:spcBef>
              <a:spcAft>
                <a:spcPts val="0"/>
              </a:spcAft>
              <a:buClr>
                <a:schemeClr val="dk1"/>
              </a:buClr>
              <a:buSzPts val="1100"/>
              <a:buChar char="●"/>
            </a:pPr>
            <a:r>
              <a:rPr lang="en-US" sz="1100"/>
              <a:t>Joseph Clement – master engineer hired to construct the Difference Engine.</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Dispute arose over payment and ownership:</a:t>
            </a:r>
            <a:br>
              <a:rPr lang="en-US" sz="1100"/>
            </a:br>
            <a:endParaRPr sz="1100"/>
          </a:p>
          <a:p>
            <a:pPr indent="-298450" lvl="1" marL="914400" rtl="0" algn="l">
              <a:lnSpc>
                <a:spcPct val="115000"/>
              </a:lnSpc>
              <a:spcBef>
                <a:spcPts val="0"/>
              </a:spcBef>
              <a:spcAft>
                <a:spcPts val="0"/>
              </a:spcAft>
              <a:buClr>
                <a:schemeClr val="dk1"/>
              </a:buClr>
              <a:buSzPts val="1100"/>
              <a:buChar char="○"/>
            </a:pPr>
            <a:r>
              <a:rPr lang="en-US" sz="1100"/>
              <a:t>Clement insisted Babbage pay for moving heavy machinery to Babbage’s workshop.</a:t>
            </a:r>
            <a:br>
              <a:rPr lang="en-US" sz="1100"/>
            </a:br>
            <a:endParaRPr sz="1100"/>
          </a:p>
          <a:p>
            <a:pPr indent="-298450" lvl="1" marL="914400" rtl="0" algn="l">
              <a:lnSpc>
                <a:spcPct val="115000"/>
              </a:lnSpc>
              <a:spcBef>
                <a:spcPts val="0"/>
              </a:spcBef>
              <a:spcAft>
                <a:spcPts val="0"/>
              </a:spcAft>
              <a:buClr>
                <a:schemeClr val="dk1"/>
              </a:buClr>
              <a:buSzPts val="1100"/>
              <a:buChar char="○"/>
            </a:pPr>
            <a:r>
              <a:rPr lang="en-US" sz="1100"/>
              <a:t>Government funded project, but cost overruns led to friction.</a:t>
            </a:r>
            <a:br>
              <a:rPr lang="en-US" sz="1100"/>
            </a:br>
            <a:endParaRPr sz="1100"/>
          </a:p>
          <a:p>
            <a:pPr indent="-298450" lvl="1" marL="914400" rtl="0" algn="l">
              <a:lnSpc>
                <a:spcPct val="115000"/>
              </a:lnSpc>
              <a:spcBef>
                <a:spcPts val="0"/>
              </a:spcBef>
              <a:spcAft>
                <a:spcPts val="0"/>
              </a:spcAft>
              <a:buClr>
                <a:schemeClr val="dk1"/>
              </a:buClr>
              <a:buSzPts val="1100"/>
              <a:buChar char="○"/>
            </a:pPr>
            <a:r>
              <a:rPr lang="en-US" sz="1100"/>
              <a:t>Clement halted work in 1833; machines left incomplete.</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The falling-out delayed the Analytical Engine — Babbage lacked skilled machinists for precision parts.</a:t>
            </a:r>
            <a:br>
              <a:rPr lang="en-US" sz="1100"/>
            </a:br>
            <a:endParaRPr sz="1100"/>
          </a:p>
          <a:p>
            <a:pPr indent="0" lvl="0" marL="0" rtl="0" algn="l">
              <a:lnSpc>
                <a:spcPct val="115000"/>
              </a:lnSpc>
              <a:spcBef>
                <a:spcPts val="1200"/>
              </a:spcBef>
              <a:spcAft>
                <a:spcPts val="0"/>
              </a:spcAft>
              <a:buClr>
                <a:schemeClr val="dk1"/>
              </a:buClr>
              <a:buSzPts val="1100"/>
              <a:buFont typeface="Arial"/>
              <a:buNone/>
            </a:pPr>
            <a:r>
              <a:rPr b="1" lang="en-US" sz="1100"/>
              <a:t>Why Important</a:t>
            </a:r>
            <a:endParaRPr b="1" sz="1100"/>
          </a:p>
          <a:p>
            <a:pPr indent="-298450" lvl="0" marL="457200" rtl="0" algn="l">
              <a:lnSpc>
                <a:spcPct val="115000"/>
              </a:lnSpc>
              <a:spcBef>
                <a:spcPts val="1200"/>
              </a:spcBef>
              <a:spcAft>
                <a:spcPts val="0"/>
              </a:spcAft>
              <a:buClr>
                <a:schemeClr val="dk1"/>
              </a:buClr>
              <a:buSzPts val="1100"/>
              <a:buChar char="●"/>
            </a:pPr>
            <a:r>
              <a:rPr lang="en-US" sz="1100"/>
              <a:t>Defined architecture still recognizable today: </a:t>
            </a:r>
            <a:r>
              <a:rPr b="1" lang="en-US" sz="1100"/>
              <a:t>input → store → process → output</a:t>
            </a:r>
            <a:r>
              <a:rPr lang="en-US" sz="1100"/>
              <a:t>.</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Shifted thinking from “calculators” to “computers” — machines that could be </a:t>
            </a:r>
            <a:r>
              <a:rPr b="1" lang="en-US" sz="1100"/>
              <a:t>reprogrammed</a:t>
            </a:r>
            <a:r>
              <a:rPr lang="en-US" sz="1100"/>
              <a:t> for different tasks.</a:t>
            </a:r>
            <a:br>
              <a:rPr lang="en-US" sz="1100"/>
            </a:br>
            <a:endParaRPr sz="1100"/>
          </a:p>
          <a:p>
            <a:pPr indent="0" lvl="0" marL="0" rtl="0" algn="l">
              <a:lnSpc>
                <a:spcPct val="115000"/>
              </a:lnSpc>
              <a:spcBef>
                <a:spcPts val="1200"/>
              </a:spcBef>
              <a:spcAft>
                <a:spcPts val="0"/>
              </a:spcAft>
              <a:buClr>
                <a:schemeClr val="dk1"/>
              </a:buClr>
              <a:buSzPts val="1100"/>
              <a:buFont typeface="Arial"/>
              <a:buNone/>
            </a:pPr>
            <a:r>
              <a:rPr b="1" lang="en-US" sz="1100"/>
              <a:t>Extra Tidbits</a:t>
            </a:r>
            <a:endParaRPr b="1" sz="1100"/>
          </a:p>
          <a:p>
            <a:pPr indent="-298450" lvl="0" marL="457200" rtl="0" algn="l">
              <a:lnSpc>
                <a:spcPct val="115000"/>
              </a:lnSpc>
              <a:spcBef>
                <a:spcPts val="1200"/>
              </a:spcBef>
              <a:spcAft>
                <a:spcPts val="0"/>
              </a:spcAft>
              <a:buClr>
                <a:schemeClr val="dk1"/>
              </a:buClr>
              <a:buSzPts val="1100"/>
              <a:buChar char="●"/>
            </a:pPr>
            <a:r>
              <a:rPr lang="en-US" sz="1100"/>
              <a:t>If completed, would’ve been the size of a small steam locomotive.</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Planned to be powered by a steam engine.</a:t>
            </a:r>
            <a:br>
              <a:rPr lang="en-US" sz="1100"/>
            </a:br>
            <a:endParaRPr sz="1100"/>
          </a:p>
          <a:p>
            <a:pPr indent="-298450" lvl="0" marL="457200" rtl="0" algn="l">
              <a:lnSpc>
                <a:spcPct val="115000"/>
              </a:lnSpc>
              <a:spcBef>
                <a:spcPts val="0"/>
              </a:spcBef>
              <a:spcAft>
                <a:spcPts val="0"/>
              </a:spcAft>
              <a:buClr>
                <a:schemeClr val="dk1"/>
              </a:buClr>
              <a:buSzPts val="1100"/>
              <a:buChar char="●"/>
            </a:pPr>
            <a:r>
              <a:rPr lang="en-US" sz="1100"/>
              <a:t>Babbage published detailed plans but technology of the time struggled with required tolerances.</a:t>
            </a:r>
            <a:endParaRPr sz="1100"/>
          </a:p>
          <a:p>
            <a:pPr indent="0" lvl="0" marL="0" rtl="0" algn="l">
              <a:lnSpc>
                <a:spcPct val="100000"/>
              </a:lnSpc>
              <a:spcBef>
                <a:spcPts val="1200"/>
              </a:spcBef>
              <a:spcAft>
                <a:spcPts val="0"/>
              </a:spcAft>
              <a:buSzPts val="1400"/>
              <a:buNone/>
            </a:pPr>
            <a:r>
              <a:t/>
            </a:r>
            <a:endParaRPr/>
          </a:p>
        </p:txBody>
      </p:sp>
      <p:sp>
        <p:nvSpPr>
          <p:cNvPr id="98" name="Google Shape;9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3ac02c75a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63ac02c75a_1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UM AI Tools: </a:t>
            </a:r>
            <a:r>
              <a:rPr lang="en-US" u="sng">
                <a:solidFill>
                  <a:schemeClr val="hlink"/>
                </a:solidFill>
                <a:hlinkClick r:id="rId2"/>
              </a:rPr>
              <a:t>https://ai.it.miami.edu/ai-tools/index.html#known-ai-tools</a:t>
            </a:r>
            <a:endParaRPr/>
          </a:p>
          <a:p>
            <a:pPr indent="-317500" lvl="0" marL="457200" rtl="0" algn="l">
              <a:lnSpc>
                <a:spcPct val="100000"/>
              </a:lnSpc>
              <a:spcBef>
                <a:spcPts val="1200"/>
              </a:spcBef>
              <a:spcAft>
                <a:spcPts val="0"/>
              </a:spcAft>
              <a:buSzPts val="1400"/>
              <a:buChar char="●"/>
            </a:pPr>
            <a:r>
              <a:rPr lang="en-US"/>
              <a:t>Copilot on the Web</a:t>
            </a:r>
            <a:endParaRPr/>
          </a:p>
          <a:p>
            <a:pPr indent="-317500" lvl="0" marL="457200" rtl="0" algn="l">
              <a:lnSpc>
                <a:spcPct val="100000"/>
              </a:lnSpc>
              <a:spcBef>
                <a:spcPts val="0"/>
              </a:spcBef>
              <a:spcAft>
                <a:spcPts val="0"/>
              </a:spcAft>
              <a:buSzPts val="1400"/>
              <a:buChar char="●"/>
            </a:pPr>
            <a:r>
              <a:rPr lang="en-US"/>
              <a:t>Copilot for Microsoft 365</a:t>
            </a:r>
            <a:endParaRPr/>
          </a:p>
          <a:p>
            <a:pPr indent="-317500" lvl="0" marL="457200" rtl="0" algn="l">
              <a:lnSpc>
                <a:spcPct val="100000"/>
              </a:lnSpc>
              <a:spcBef>
                <a:spcPts val="0"/>
              </a:spcBef>
              <a:spcAft>
                <a:spcPts val="0"/>
              </a:spcAft>
              <a:buSzPts val="1400"/>
              <a:buChar char="●"/>
            </a:pPr>
            <a:r>
              <a:rPr lang="en-US"/>
              <a:t>Gemini</a:t>
            </a:r>
            <a:endParaRPr/>
          </a:p>
          <a:p>
            <a:pPr indent="-317500" lvl="0" marL="457200" rtl="0" algn="l">
              <a:lnSpc>
                <a:spcPct val="100000"/>
              </a:lnSpc>
              <a:spcBef>
                <a:spcPts val="0"/>
              </a:spcBef>
              <a:spcAft>
                <a:spcPts val="0"/>
              </a:spcAft>
              <a:buSzPts val="1400"/>
              <a:buChar char="●"/>
            </a:pPr>
            <a:r>
              <a:rPr lang="en-US"/>
              <a:t>Adobe Firefly</a:t>
            </a:r>
            <a:endParaRPr/>
          </a:p>
          <a:p>
            <a:pPr indent="-317500" lvl="0" marL="457200" rtl="0" algn="l">
              <a:lnSpc>
                <a:spcPct val="100000"/>
              </a:lnSpc>
              <a:spcBef>
                <a:spcPts val="0"/>
              </a:spcBef>
              <a:spcAft>
                <a:spcPts val="0"/>
              </a:spcAft>
              <a:buSzPts val="1400"/>
              <a:buChar char="●"/>
            </a:pPr>
            <a:r>
              <a:rPr lang="en-US"/>
              <a:t>Apple Intelligence on Mac</a:t>
            </a:r>
            <a:endParaRPr/>
          </a:p>
          <a:p>
            <a:pPr indent="-317500" lvl="0" marL="457200" rtl="0" algn="l">
              <a:lnSpc>
                <a:spcPct val="100000"/>
              </a:lnSpc>
              <a:spcBef>
                <a:spcPts val="0"/>
              </a:spcBef>
              <a:spcAft>
                <a:spcPts val="0"/>
              </a:spcAft>
              <a:buSzPts val="1400"/>
              <a:buChar char="●"/>
            </a:pPr>
            <a:r>
              <a:rPr lang="en-US"/>
              <a:t>Help Me Write</a:t>
            </a:r>
            <a:endParaRPr/>
          </a:p>
        </p:txBody>
      </p:sp>
      <p:sp>
        <p:nvSpPr>
          <p:cNvPr id="108" name="Google Shape;108;g363ac02c75a_1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f5473f643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39f5473f643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UM AI Tools: </a:t>
            </a:r>
            <a:r>
              <a:rPr lang="en-US" u="sng">
                <a:solidFill>
                  <a:schemeClr val="hlink"/>
                </a:solidFill>
                <a:hlinkClick r:id="rId2"/>
              </a:rPr>
              <a:t>https://ai.it.miami.edu/ai-tools/index.html#known-ai-tools</a:t>
            </a:r>
            <a:endParaRPr/>
          </a:p>
          <a:p>
            <a:pPr indent="-317500" lvl="0" marL="457200" rtl="0" algn="l">
              <a:lnSpc>
                <a:spcPct val="100000"/>
              </a:lnSpc>
              <a:spcBef>
                <a:spcPts val="1200"/>
              </a:spcBef>
              <a:spcAft>
                <a:spcPts val="0"/>
              </a:spcAft>
              <a:buSzPts val="1400"/>
              <a:buChar char="●"/>
            </a:pPr>
            <a:r>
              <a:rPr lang="en-US"/>
              <a:t>ChatGPT</a:t>
            </a:r>
            <a:endParaRPr/>
          </a:p>
          <a:p>
            <a:pPr indent="-317500" lvl="0" marL="457200" rtl="0" algn="l">
              <a:lnSpc>
                <a:spcPct val="100000"/>
              </a:lnSpc>
              <a:spcBef>
                <a:spcPts val="0"/>
              </a:spcBef>
              <a:spcAft>
                <a:spcPts val="0"/>
              </a:spcAft>
              <a:buSzPts val="1400"/>
              <a:buChar char="●"/>
            </a:pPr>
            <a:r>
              <a:rPr lang="en-US"/>
              <a:t>Claude</a:t>
            </a:r>
            <a:endParaRPr/>
          </a:p>
          <a:p>
            <a:pPr indent="-317500" lvl="0" marL="457200" rtl="0" algn="l">
              <a:lnSpc>
                <a:spcPct val="100000"/>
              </a:lnSpc>
              <a:spcBef>
                <a:spcPts val="0"/>
              </a:spcBef>
              <a:spcAft>
                <a:spcPts val="0"/>
              </a:spcAft>
              <a:buSzPts val="1400"/>
              <a:buChar char="●"/>
            </a:pPr>
            <a:r>
              <a:rPr lang="en-US"/>
              <a:t>Elicit</a:t>
            </a:r>
            <a:endParaRPr/>
          </a:p>
          <a:p>
            <a:pPr indent="-317500" lvl="0" marL="457200" rtl="0" algn="l">
              <a:lnSpc>
                <a:spcPct val="100000"/>
              </a:lnSpc>
              <a:spcBef>
                <a:spcPts val="0"/>
              </a:spcBef>
              <a:spcAft>
                <a:spcPts val="0"/>
              </a:spcAft>
              <a:buSzPts val="1400"/>
              <a:buChar char="●"/>
            </a:pPr>
            <a:r>
              <a:rPr lang="en-US"/>
              <a:t>Sora</a:t>
            </a:r>
            <a:endParaRPr/>
          </a:p>
          <a:p>
            <a:pPr indent="-317500" lvl="0" marL="457200" rtl="0" algn="l">
              <a:lnSpc>
                <a:spcPct val="100000"/>
              </a:lnSpc>
              <a:spcBef>
                <a:spcPts val="0"/>
              </a:spcBef>
              <a:spcAft>
                <a:spcPts val="0"/>
              </a:spcAft>
              <a:buSzPts val="1400"/>
              <a:buChar char="●"/>
            </a:pPr>
            <a:r>
              <a:rPr lang="en-US"/>
              <a:t>Wordtune Spices</a:t>
            </a:r>
            <a:endParaRPr/>
          </a:p>
          <a:p>
            <a:pPr indent="-317500" lvl="0" marL="457200" rtl="0" algn="l">
              <a:lnSpc>
                <a:spcPct val="100000"/>
              </a:lnSpc>
              <a:spcBef>
                <a:spcPts val="0"/>
              </a:spcBef>
              <a:spcAft>
                <a:spcPts val="0"/>
              </a:spcAft>
              <a:buSzPts val="1400"/>
              <a:buChar char="●"/>
            </a:pPr>
            <a:r>
              <a:rPr lang="en-US"/>
              <a:t>Scite</a:t>
            </a:r>
            <a:endParaRPr/>
          </a:p>
        </p:txBody>
      </p:sp>
      <p:sp>
        <p:nvSpPr>
          <p:cNvPr id="121" name="Google Shape;121;g39f5473f643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f5473f643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9f5473f643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Clr>
                <a:schemeClr val="dk1"/>
              </a:buClr>
              <a:buSzPts val="1200"/>
              <a:buFont typeface="Arial"/>
              <a:buNone/>
            </a:pPr>
            <a:r>
              <a:rPr lang="en-US"/>
              <a:t>UM AI Tools: </a:t>
            </a:r>
            <a:r>
              <a:rPr lang="en-US" u="sng">
                <a:solidFill>
                  <a:schemeClr val="hlink"/>
                </a:solidFill>
                <a:hlinkClick r:id="rId2"/>
              </a:rPr>
              <a:t>https://ai.it.miami.edu/ai-tools/index.html#known-ai-tools</a:t>
            </a:r>
            <a:endParaRPr/>
          </a:p>
          <a:p>
            <a:pPr indent="-317500" lvl="0" marL="457200" rtl="0" algn="l">
              <a:lnSpc>
                <a:spcPct val="100000"/>
              </a:lnSpc>
              <a:spcBef>
                <a:spcPts val="1200"/>
              </a:spcBef>
              <a:spcAft>
                <a:spcPts val="0"/>
              </a:spcAft>
              <a:buSzPts val="1400"/>
              <a:buChar char="●"/>
            </a:pPr>
            <a:r>
              <a:rPr lang="en-US"/>
              <a:t>Deepseek</a:t>
            </a:r>
            <a:endParaRPr/>
          </a:p>
          <a:p>
            <a:pPr indent="-317500" lvl="0" marL="457200" rtl="0" algn="l">
              <a:lnSpc>
                <a:spcPct val="100000"/>
              </a:lnSpc>
              <a:spcBef>
                <a:spcPts val="0"/>
              </a:spcBef>
              <a:spcAft>
                <a:spcPts val="0"/>
              </a:spcAft>
              <a:buSzPts val="1400"/>
              <a:buChar char="●"/>
            </a:pPr>
            <a:r>
              <a:rPr lang="en-US" u="sng">
                <a:solidFill>
                  <a:schemeClr val="hlink"/>
                </a:solidFill>
                <a:hlinkClick r:id="rId3"/>
              </a:rPr>
              <a:t>Otter.ai</a:t>
            </a:r>
            <a:endParaRPr/>
          </a:p>
          <a:p>
            <a:pPr indent="-317500" lvl="0" marL="457200" rtl="0" algn="l">
              <a:lnSpc>
                <a:spcPct val="100000"/>
              </a:lnSpc>
              <a:spcBef>
                <a:spcPts val="0"/>
              </a:spcBef>
              <a:spcAft>
                <a:spcPts val="0"/>
              </a:spcAft>
              <a:buSzPts val="1400"/>
              <a:buChar char="●"/>
            </a:pPr>
            <a:r>
              <a:rPr lang="en-US"/>
              <a:t>DeepfaceLab</a:t>
            </a:r>
            <a:endParaRPr/>
          </a:p>
          <a:p>
            <a:pPr indent="-317500" lvl="0" marL="457200" rtl="0" algn="l">
              <a:lnSpc>
                <a:spcPct val="100000"/>
              </a:lnSpc>
              <a:spcBef>
                <a:spcPts val="0"/>
              </a:spcBef>
              <a:spcAft>
                <a:spcPts val="0"/>
              </a:spcAft>
              <a:buSzPts val="1400"/>
              <a:buChar char="●"/>
            </a:pPr>
            <a:r>
              <a:rPr lang="en-US"/>
              <a:t>QuillBot</a:t>
            </a:r>
            <a:endParaRPr/>
          </a:p>
          <a:p>
            <a:pPr indent="-317500" lvl="0" marL="457200" rtl="0" algn="l">
              <a:lnSpc>
                <a:spcPct val="100000"/>
              </a:lnSpc>
              <a:spcBef>
                <a:spcPts val="0"/>
              </a:spcBef>
              <a:spcAft>
                <a:spcPts val="0"/>
              </a:spcAft>
              <a:buSzPts val="1400"/>
              <a:buChar char="●"/>
            </a:pPr>
            <a:r>
              <a:rPr lang="en-US"/>
              <a:t>Fireflies.ai</a:t>
            </a:r>
            <a:endParaRPr/>
          </a:p>
          <a:p>
            <a:pPr indent="0" lvl="0" marL="457200" rtl="0" algn="l">
              <a:lnSpc>
                <a:spcPct val="100000"/>
              </a:lnSpc>
              <a:spcBef>
                <a:spcPts val="1200"/>
              </a:spcBef>
              <a:spcAft>
                <a:spcPts val="0"/>
              </a:spcAft>
              <a:buNone/>
            </a:pPr>
            <a:r>
              <a:t/>
            </a:r>
            <a:endParaRPr/>
          </a:p>
        </p:txBody>
      </p:sp>
      <p:sp>
        <p:nvSpPr>
          <p:cNvPr id="134" name="Google Shape;134;g39f5473f643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2d5fccfe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a2d5fccfe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lang="en-US" u="sng">
                <a:solidFill>
                  <a:schemeClr val="hlink"/>
                </a:solidFill>
                <a:hlinkClick r:id="rId2"/>
              </a:rPr>
              <a:t>https://copilot.microsoft.com/</a:t>
            </a:r>
            <a:endParaRPr/>
          </a:p>
          <a:p>
            <a:pPr indent="0" lvl="0" marL="0" rtl="0" algn="l">
              <a:lnSpc>
                <a:spcPct val="100000"/>
              </a:lnSpc>
              <a:spcBef>
                <a:spcPts val="1200"/>
              </a:spcBef>
              <a:spcAft>
                <a:spcPts val="0"/>
              </a:spcAft>
              <a:buNone/>
            </a:pPr>
            <a:r>
              <a:t/>
            </a: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How do I know I am signed in correctly?</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Chat</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Agents</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Custom Agents?</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Notebooks</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Create</a:t>
            </a:r>
            <a:endParaRPr/>
          </a:p>
        </p:txBody>
      </p:sp>
      <p:sp>
        <p:nvSpPr>
          <p:cNvPr id="147" name="Google Shape;147;g3a2d5fccfe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2d5fccfe7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g3a2d5fccfe7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lang="en-US" u="sng">
                <a:solidFill>
                  <a:schemeClr val="hlink"/>
                </a:solidFill>
                <a:hlinkClick r:id="rId2"/>
              </a:rPr>
              <a:t>https://gemini.google.com/</a:t>
            </a: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How do I know I have the right one</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Models</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Deep Research</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Guided Learning</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Images</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Gems</a:t>
            </a:r>
            <a:endParaRPr>
              <a:latin typeface="Avenir"/>
              <a:ea typeface="Avenir"/>
              <a:cs typeface="Avenir"/>
              <a:sym typeface="Avenir"/>
            </a:endParaRPr>
          </a:p>
          <a:p>
            <a:pPr indent="-304800" lvl="0" marL="457200" rtl="0" algn="l">
              <a:lnSpc>
                <a:spcPct val="90000"/>
              </a:lnSpc>
              <a:spcBef>
                <a:spcPts val="0"/>
              </a:spcBef>
              <a:spcAft>
                <a:spcPts val="0"/>
              </a:spcAft>
              <a:buClr>
                <a:schemeClr val="dk1"/>
              </a:buClr>
              <a:buSzPts val="1200"/>
              <a:buFont typeface="Avenir"/>
              <a:buChar char="●"/>
            </a:pPr>
            <a:r>
              <a:rPr lang="en-US">
                <a:latin typeface="Avenir"/>
                <a:ea typeface="Avenir"/>
                <a:cs typeface="Avenir"/>
                <a:sym typeface="Avenir"/>
              </a:rPr>
              <a:t>Notebook LLM</a:t>
            </a:r>
            <a:endParaRPr/>
          </a:p>
        </p:txBody>
      </p:sp>
      <p:sp>
        <p:nvSpPr>
          <p:cNvPr id="155" name="Google Shape;155;g3a2d5fccfe7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2d5fccfe7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a2d5fccfe7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t/>
            </a:r>
            <a:endParaRPr/>
          </a:p>
        </p:txBody>
      </p:sp>
      <p:sp>
        <p:nvSpPr>
          <p:cNvPr id="163" name="Google Shape;163;g3a2d5fccfe7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2d5fccfe7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a2d5fccfe7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t/>
            </a:r>
            <a:endParaRPr/>
          </a:p>
        </p:txBody>
      </p:sp>
      <p:sp>
        <p:nvSpPr>
          <p:cNvPr id="171" name="Google Shape;171;g3a2d5fccfe7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330647f8b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3a330647f8b_1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None/>
            </a:pPr>
            <a:r>
              <a:rPr lang="en-US"/>
              <a:t>https://guides.library.miami.edu/newspapers</a:t>
            </a:r>
            <a:endParaRPr/>
          </a:p>
        </p:txBody>
      </p:sp>
      <p:sp>
        <p:nvSpPr>
          <p:cNvPr id="179" name="Google Shape;179;g3a330647f8b_1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6.jpg"/><Relationship Id="rId5" Type="http://schemas.openxmlformats.org/officeDocument/2006/relationships/image" Target="../media/image5.png"/><Relationship Id="rId6" Type="http://schemas.openxmlformats.org/officeDocument/2006/relationships/image" Target="../media/image8.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8" name="Shape 88"/>
        <p:cNvGrpSpPr/>
        <p:nvPr/>
      </p:nvGrpSpPr>
      <p:grpSpPr>
        <a:xfrm>
          <a:off x="0" y="0"/>
          <a:ext cx="0" cy="0"/>
          <a:chOff x="0" y="0"/>
          <a:chExt cx="0" cy="0"/>
        </a:xfrm>
      </p:grpSpPr>
      <p:sp>
        <p:nvSpPr>
          <p:cNvPr id="89" name="Google Shape;89;g36d4ca9d3d1_0_26"/>
          <p:cNvSpPr txBox="1"/>
          <p:nvPr>
            <p:ph type="ctrTitle"/>
          </p:nvPr>
        </p:nvSpPr>
        <p:spPr>
          <a:xfrm>
            <a:off x="-69825" y="325750"/>
            <a:ext cx="9259200" cy="8997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venir"/>
              <a:buNone/>
            </a:pPr>
            <a:r>
              <a:rPr lang="en-US">
                <a:latin typeface="Avenir"/>
                <a:ea typeface="Avenir"/>
                <a:cs typeface="Avenir"/>
                <a:sym typeface="Avenir"/>
              </a:rPr>
              <a:t>On the Shoulders Of Giants</a:t>
            </a:r>
            <a:endParaRPr/>
          </a:p>
        </p:txBody>
      </p:sp>
      <p:sp>
        <p:nvSpPr>
          <p:cNvPr id="90" name="Google Shape;90;g36d4ca9d3d1_0_2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1" name="Google Shape;91;g36d4ca9d3d1_0_26"/>
          <p:cNvSpPr txBox="1"/>
          <p:nvPr/>
        </p:nvSpPr>
        <p:spPr>
          <a:xfrm>
            <a:off x="6500800" y="2158225"/>
            <a:ext cx="4483200" cy="877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700"/>
              <a:buFont typeface="Arial"/>
              <a:buNone/>
            </a:pPr>
            <a:r>
              <a:rPr b="0" i="1" lang="en-US" sz="1700" u="none" cap="none" strike="noStrike">
                <a:solidFill>
                  <a:schemeClr val="dk1"/>
                </a:solidFill>
                <a:latin typeface="Avenir"/>
                <a:ea typeface="Avenir"/>
                <a:cs typeface="Avenir"/>
                <a:sym typeface="Avenir"/>
              </a:rPr>
              <a:t>“</a:t>
            </a:r>
            <a:r>
              <a:rPr i="1" lang="en-US" sz="1700">
                <a:solidFill>
                  <a:schemeClr val="dk1"/>
                </a:solidFill>
                <a:latin typeface="Avenir"/>
                <a:ea typeface="Avenir"/>
                <a:cs typeface="Avenir"/>
                <a:sym typeface="Avenir"/>
              </a:rPr>
              <a:t>If I have seen further, it is by standing on the shoulders of giants.</a:t>
            </a:r>
            <a:r>
              <a:rPr b="0" i="1" lang="en-US" sz="1700" u="none" cap="none" strike="noStrike">
                <a:solidFill>
                  <a:schemeClr val="dk1"/>
                </a:solidFill>
                <a:latin typeface="Avenir"/>
                <a:ea typeface="Avenir"/>
                <a:cs typeface="Avenir"/>
                <a:sym typeface="Avenir"/>
              </a:rPr>
              <a:t>” </a:t>
            </a:r>
            <a:endParaRPr b="0" i="1" sz="1700" u="none" cap="none" strike="noStrike">
              <a:solidFill>
                <a:schemeClr val="dk1"/>
              </a:solidFill>
              <a:latin typeface="Avenir"/>
              <a:ea typeface="Avenir"/>
              <a:cs typeface="Avenir"/>
              <a:sym typeface="Avenir"/>
            </a:endParaRPr>
          </a:p>
          <a:p>
            <a:pPr indent="0" lvl="0" marL="0" marR="0" rtl="0" algn="r">
              <a:lnSpc>
                <a:spcPct val="100000"/>
              </a:lnSpc>
              <a:spcBef>
                <a:spcPts val="0"/>
              </a:spcBef>
              <a:spcAft>
                <a:spcPts val="0"/>
              </a:spcAft>
              <a:buClr>
                <a:srgbClr val="000000"/>
              </a:buClr>
              <a:buSzPts val="1700"/>
              <a:buFont typeface="Arial"/>
              <a:buNone/>
            </a:pPr>
            <a:r>
              <a:rPr b="0" i="0" lang="en-US" sz="1700" u="none" cap="none" strike="noStrike">
                <a:solidFill>
                  <a:schemeClr val="dk1"/>
                </a:solidFill>
                <a:latin typeface="Avenir"/>
                <a:ea typeface="Avenir"/>
                <a:cs typeface="Avenir"/>
                <a:sym typeface="Avenir"/>
              </a:rPr>
              <a:t>- </a:t>
            </a:r>
            <a:r>
              <a:rPr lang="en-US" sz="1700">
                <a:solidFill>
                  <a:schemeClr val="dk1"/>
                </a:solidFill>
                <a:latin typeface="Avenir"/>
                <a:ea typeface="Avenir"/>
                <a:cs typeface="Avenir"/>
                <a:sym typeface="Avenir"/>
              </a:rPr>
              <a:t>ISAAC NEWTON</a:t>
            </a:r>
            <a:r>
              <a:rPr b="0" i="0" lang="en-US" sz="1700" u="none" cap="none" strike="noStrike">
                <a:solidFill>
                  <a:schemeClr val="dk1"/>
                </a:solidFill>
                <a:latin typeface="Avenir"/>
                <a:ea typeface="Avenir"/>
                <a:cs typeface="Avenir"/>
                <a:sym typeface="Avenir"/>
              </a:rPr>
              <a:t>  (</a:t>
            </a:r>
            <a:r>
              <a:rPr lang="en-US" sz="1700">
                <a:solidFill>
                  <a:schemeClr val="dk1"/>
                </a:solidFill>
                <a:latin typeface="Avenir"/>
                <a:ea typeface="Avenir"/>
                <a:cs typeface="Avenir"/>
                <a:sym typeface="Avenir"/>
              </a:rPr>
              <a:t>1676</a:t>
            </a:r>
            <a:r>
              <a:rPr b="0" i="0" lang="en-US" sz="1700" u="none" cap="none" strike="noStrike">
                <a:solidFill>
                  <a:schemeClr val="dk1"/>
                </a:solidFill>
                <a:latin typeface="Avenir"/>
                <a:ea typeface="Avenir"/>
                <a:cs typeface="Avenir"/>
                <a:sym typeface="Avenir"/>
              </a:rPr>
              <a:t>)</a:t>
            </a:r>
            <a:endParaRPr b="0" i="0" sz="1300" u="none" cap="none" strike="noStrike">
              <a:solidFill>
                <a:srgbClr val="000000"/>
              </a:solidFill>
              <a:latin typeface="Arial"/>
              <a:ea typeface="Arial"/>
              <a:cs typeface="Arial"/>
              <a:sym typeface="Arial"/>
            </a:endParaRPr>
          </a:p>
        </p:txBody>
      </p:sp>
      <p:sp>
        <p:nvSpPr>
          <p:cNvPr id="92" name="Google Shape;92;g36d4ca9d3d1_0_26"/>
          <p:cNvSpPr txBox="1"/>
          <p:nvPr/>
        </p:nvSpPr>
        <p:spPr>
          <a:xfrm>
            <a:off x="3425530" y="4102008"/>
            <a:ext cx="6102300" cy="923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venir"/>
                <a:ea typeface="Avenir"/>
                <a:cs typeface="Avenir"/>
                <a:sym typeface="Avenir"/>
              </a:rPr>
              <a:t>This lecture </a:t>
            </a:r>
            <a:r>
              <a:rPr lang="en-US" sz="1800">
                <a:solidFill>
                  <a:schemeClr val="dk1"/>
                </a:solidFill>
                <a:latin typeface="Avenir"/>
                <a:ea typeface="Avenir"/>
                <a:cs typeface="Avenir"/>
                <a:sym typeface="Avenir"/>
              </a:rPr>
              <a:t>introduces students to the AI resources at the </a:t>
            </a:r>
            <a:r>
              <a:rPr lang="en-US" sz="1800">
                <a:solidFill>
                  <a:schemeClr val="dk1"/>
                </a:solidFill>
                <a:latin typeface="Avenir"/>
                <a:ea typeface="Avenir"/>
                <a:cs typeface="Avenir"/>
                <a:sym typeface="Avenir"/>
              </a:rPr>
              <a:t>University</a:t>
            </a:r>
            <a:r>
              <a:rPr lang="en-US" sz="1800">
                <a:solidFill>
                  <a:schemeClr val="dk1"/>
                </a:solidFill>
                <a:latin typeface="Avenir"/>
                <a:ea typeface="Avenir"/>
                <a:cs typeface="Avenir"/>
                <a:sym typeface="Avenir"/>
              </a:rPr>
              <a:t> of Miami including how to access Microsoft CoPilot, Google Gemini, and Adobe Firefly</a:t>
            </a:r>
            <a:endParaRPr b="0" i="0" sz="1400" u="none" cap="none" strike="noStrike">
              <a:solidFill>
                <a:srgbClr val="000000"/>
              </a:solidFill>
              <a:latin typeface="Arial"/>
              <a:ea typeface="Arial"/>
              <a:cs typeface="Arial"/>
              <a:sym typeface="Arial"/>
            </a:endParaRPr>
          </a:p>
        </p:txBody>
      </p:sp>
      <p:pic>
        <p:nvPicPr>
          <p:cNvPr id="93" name="Google Shape;93;g36d4ca9d3d1_0_26"/>
          <p:cNvPicPr preferRelativeResize="0"/>
          <p:nvPr/>
        </p:nvPicPr>
        <p:blipFill rotWithShape="1">
          <a:blip r:embed="rId3">
            <a:alphaModFix/>
          </a:blip>
          <a:srcRect b="0" l="0" r="0" t="0"/>
          <a:stretch/>
        </p:blipFill>
        <p:spPr>
          <a:xfrm>
            <a:off x="10830750" y="6020300"/>
            <a:ext cx="675450" cy="532900"/>
          </a:xfrm>
          <a:prstGeom prst="rect">
            <a:avLst/>
          </a:prstGeom>
          <a:noFill/>
          <a:ln>
            <a:noFill/>
          </a:ln>
        </p:spPr>
      </p:pic>
      <p:pic>
        <p:nvPicPr>
          <p:cNvPr id="94" name="Google Shape;94;g36d4ca9d3d1_0_26"/>
          <p:cNvPicPr preferRelativeResize="0"/>
          <p:nvPr/>
        </p:nvPicPr>
        <p:blipFill>
          <a:blip r:embed="rId4">
            <a:alphaModFix/>
          </a:blip>
          <a:stretch>
            <a:fillRect/>
          </a:stretch>
        </p:blipFill>
        <p:spPr>
          <a:xfrm>
            <a:off x="472825" y="3919975"/>
            <a:ext cx="2871300" cy="15744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9" name="Shape 99"/>
        <p:cNvGrpSpPr/>
        <p:nvPr/>
      </p:nvGrpSpPr>
      <p:grpSpPr>
        <a:xfrm>
          <a:off x="0" y="0"/>
          <a:ext cx="0" cy="0"/>
          <a:chOff x="0" y="0"/>
          <a:chExt cx="0" cy="0"/>
        </a:xfrm>
      </p:grpSpPr>
      <p:sp>
        <p:nvSpPr>
          <p:cNvPr id="100" name="Google Shape;100;p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01" name="Google Shape;101;p5"/>
          <p:cNvPicPr preferRelativeResize="0"/>
          <p:nvPr/>
        </p:nvPicPr>
        <p:blipFill rotWithShape="1">
          <a:blip r:embed="rId3">
            <a:alphaModFix/>
          </a:blip>
          <a:srcRect b="0" l="18290" r="9130" t="18273"/>
          <a:stretch/>
        </p:blipFill>
        <p:spPr>
          <a:xfrm>
            <a:off x="1562725" y="3018750"/>
            <a:ext cx="1493100" cy="1493100"/>
          </a:xfrm>
          <a:prstGeom prst="ellipse">
            <a:avLst/>
          </a:prstGeom>
          <a:noFill/>
          <a:ln>
            <a:noFill/>
          </a:ln>
          <a:effectLst>
            <a:outerShdw blurRad="57150" rotWithShape="0" algn="bl" dir="5400000" dist="19050">
              <a:srgbClr val="000000">
                <a:alpha val="49803"/>
              </a:srgbClr>
            </a:outerShdw>
          </a:effectLst>
        </p:spPr>
      </p:pic>
      <p:sp>
        <p:nvSpPr>
          <p:cNvPr id="102" name="Google Shape;102;p5"/>
          <p:cNvSpPr txBox="1"/>
          <p:nvPr/>
        </p:nvSpPr>
        <p:spPr>
          <a:xfrm>
            <a:off x="3495825" y="2966388"/>
            <a:ext cx="6373500" cy="1597800"/>
          </a:xfrm>
          <a:prstGeom prst="rect">
            <a:avLst/>
          </a:prstGeom>
          <a:noFill/>
          <a:ln>
            <a:noFill/>
          </a:ln>
        </p:spPr>
        <p:txBody>
          <a:bodyPr anchorCtr="0" anchor="t" bIns="91425" lIns="91425" spcFirstLastPara="1" rIns="91425" wrap="square" tIns="91425">
            <a:spAutoFit/>
          </a:bodyPr>
          <a:lstStyle/>
          <a:p>
            <a:pPr indent="0" lvl="0" marL="228600" marR="0" rtl="0" algn="l">
              <a:lnSpc>
                <a:spcPct val="90000"/>
              </a:lnSpc>
              <a:spcBef>
                <a:spcPts val="0"/>
              </a:spcBef>
              <a:spcAft>
                <a:spcPts val="0"/>
              </a:spcAft>
              <a:buClr>
                <a:srgbClr val="000000"/>
              </a:buClr>
              <a:buSzPts val="3600"/>
              <a:buFont typeface="Arial"/>
              <a:buNone/>
            </a:pPr>
            <a:r>
              <a:rPr b="1" i="0" lang="en-US" sz="3600" u="none" cap="none" strike="noStrike">
                <a:solidFill>
                  <a:schemeClr val="dk1"/>
                </a:solidFill>
                <a:latin typeface="Avenir"/>
                <a:ea typeface="Avenir"/>
                <a:cs typeface="Avenir"/>
                <a:sym typeface="Avenir"/>
              </a:rPr>
              <a:t>Hüseyin Koçak </a:t>
            </a:r>
            <a:endParaRPr b="1" i="0" sz="36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1000"/>
              <a:buFont typeface="Arial"/>
              <a:buNone/>
            </a:pPr>
            <a:r>
              <a:t/>
            </a:r>
            <a:endParaRPr b="1" i="0" sz="10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2800"/>
              <a:buFont typeface="Arial"/>
              <a:buNone/>
            </a:pPr>
            <a:r>
              <a:rPr b="0" i="0" lang="en-US" sz="2800" u="none" cap="none" strike="noStrike">
                <a:solidFill>
                  <a:schemeClr val="dk1"/>
                </a:solidFill>
                <a:latin typeface="Avenir"/>
                <a:ea typeface="Avenir"/>
                <a:cs typeface="Avenir"/>
                <a:sym typeface="Avenir"/>
              </a:rPr>
              <a:t>University of Miami</a:t>
            </a:r>
            <a:endParaRPr b="0" i="0" sz="28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2800"/>
              <a:buFont typeface="Arial"/>
              <a:buNone/>
            </a:pPr>
            <a:r>
              <a:rPr b="0" i="0" lang="en-US" sz="2800" u="none" cap="none" strike="noStrike">
                <a:solidFill>
                  <a:schemeClr val="dk1"/>
                </a:solidFill>
                <a:latin typeface="Avenir"/>
                <a:ea typeface="Avenir"/>
                <a:cs typeface="Avenir"/>
                <a:sym typeface="Avenir"/>
              </a:rPr>
              <a:t>hk@cs.miami.edu</a:t>
            </a:r>
            <a:endParaRPr b="0" i="0" sz="1400" u="none" cap="none" strike="noStrike">
              <a:solidFill>
                <a:srgbClr val="000000"/>
              </a:solidFill>
              <a:latin typeface="Arial"/>
              <a:ea typeface="Arial"/>
              <a:cs typeface="Arial"/>
              <a:sym typeface="Arial"/>
            </a:endParaRPr>
          </a:p>
        </p:txBody>
      </p:sp>
      <p:sp>
        <p:nvSpPr>
          <p:cNvPr id="103" name="Google Shape;103;p5"/>
          <p:cNvSpPr txBox="1"/>
          <p:nvPr/>
        </p:nvSpPr>
        <p:spPr>
          <a:xfrm>
            <a:off x="3495825" y="565800"/>
            <a:ext cx="6998400" cy="1597800"/>
          </a:xfrm>
          <a:prstGeom prst="rect">
            <a:avLst/>
          </a:prstGeom>
          <a:noFill/>
          <a:ln>
            <a:noFill/>
          </a:ln>
        </p:spPr>
        <p:txBody>
          <a:bodyPr anchorCtr="0" anchor="t" bIns="91425" lIns="91425" spcFirstLastPara="1" rIns="91425" wrap="square" tIns="91425">
            <a:spAutoFit/>
          </a:bodyPr>
          <a:lstStyle/>
          <a:p>
            <a:pPr indent="0" lvl="0" marL="228600" marR="0" rtl="0" algn="l">
              <a:lnSpc>
                <a:spcPct val="90000"/>
              </a:lnSpc>
              <a:spcBef>
                <a:spcPts val="0"/>
              </a:spcBef>
              <a:spcAft>
                <a:spcPts val="0"/>
              </a:spcAft>
              <a:buClr>
                <a:srgbClr val="000000"/>
              </a:buClr>
              <a:buSzPts val="3600"/>
              <a:buFont typeface="Arial"/>
              <a:buNone/>
            </a:pPr>
            <a:r>
              <a:rPr b="1" i="0" lang="en-US" sz="3600" u="none" cap="none" strike="noStrike">
                <a:solidFill>
                  <a:schemeClr val="dk1"/>
                </a:solidFill>
                <a:latin typeface="Avenir"/>
                <a:ea typeface="Avenir"/>
                <a:cs typeface="Avenir"/>
                <a:sym typeface="Avenir"/>
              </a:rPr>
              <a:t>Collin Connors</a:t>
            </a:r>
            <a:endParaRPr b="1" i="0" sz="36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1000"/>
              <a:buFont typeface="Arial"/>
              <a:buNone/>
            </a:pPr>
            <a:r>
              <a:t/>
            </a:r>
            <a:endParaRPr b="1" i="0" sz="10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2800"/>
              <a:buFont typeface="Arial"/>
              <a:buNone/>
            </a:pPr>
            <a:r>
              <a:rPr b="0" i="0" lang="en-US" sz="2800" u="none" cap="none" strike="noStrike">
                <a:solidFill>
                  <a:schemeClr val="dk1"/>
                </a:solidFill>
                <a:latin typeface="Avenir"/>
                <a:ea typeface="Avenir"/>
                <a:cs typeface="Avenir"/>
                <a:sym typeface="Avenir"/>
              </a:rPr>
              <a:t>University of Miami / ERMProtect</a:t>
            </a:r>
            <a:endParaRPr b="0" i="0" sz="2800" u="none" cap="none" strike="noStrike">
              <a:solidFill>
                <a:schemeClr val="dk1"/>
              </a:solidFill>
              <a:latin typeface="Avenir"/>
              <a:ea typeface="Avenir"/>
              <a:cs typeface="Avenir"/>
              <a:sym typeface="Avenir"/>
            </a:endParaRPr>
          </a:p>
          <a:p>
            <a:pPr indent="0" lvl="0" marL="228600" marR="0" rtl="0" algn="l">
              <a:lnSpc>
                <a:spcPct val="90000"/>
              </a:lnSpc>
              <a:spcBef>
                <a:spcPts val="0"/>
              </a:spcBef>
              <a:spcAft>
                <a:spcPts val="0"/>
              </a:spcAft>
              <a:buClr>
                <a:srgbClr val="000000"/>
              </a:buClr>
              <a:buSzPts val="2800"/>
              <a:buFont typeface="Arial"/>
              <a:buNone/>
            </a:pPr>
            <a:r>
              <a:rPr b="0" i="0" lang="en-US" sz="2800" u="none" cap="none" strike="noStrike">
                <a:solidFill>
                  <a:schemeClr val="dk1"/>
                </a:solidFill>
                <a:latin typeface="Avenir"/>
                <a:ea typeface="Avenir"/>
                <a:cs typeface="Avenir"/>
                <a:sym typeface="Avenir"/>
              </a:rPr>
              <a:t>cdc104@miami.edu</a:t>
            </a:r>
            <a:endParaRPr b="0" i="0" sz="1400" u="none" cap="none" strike="noStrike">
              <a:solidFill>
                <a:srgbClr val="000000"/>
              </a:solidFill>
              <a:latin typeface="Arial"/>
              <a:ea typeface="Arial"/>
              <a:cs typeface="Arial"/>
              <a:sym typeface="Arial"/>
            </a:endParaRPr>
          </a:p>
        </p:txBody>
      </p:sp>
      <p:pic>
        <p:nvPicPr>
          <p:cNvPr id="104" name="Google Shape;104;p5" title="Headshot.jpg"/>
          <p:cNvPicPr preferRelativeResize="0"/>
          <p:nvPr/>
        </p:nvPicPr>
        <p:blipFill rotWithShape="1">
          <a:blip r:embed="rId4">
            <a:alphaModFix/>
          </a:blip>
          <a:srcRect b="0" l="0" r="0" t="0"/>
          <a:stretch/>
        </p:blipFill>
        <p:spPr>
          <a:xfrm>
            <a:off x="1562725" y="821550"/>
            <a:ext cx="1493100" cy="1493100"/>
          </a:xfrm>
          <a:prstGeom prst="ellipse">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9" name="Shape 109"/>
        <p:cNvGrpSpPr/>
        <p:nvPr/>
      </p:nvGrpSpPr>
      <p:grpSpPr>
        <a:xfrm>
          <a:off x="0" y="0"/>
          <a:ext cx="0" cy="0"/>
          <a:chOff x="0" y="0"/>
          <a:chExt cx="0" cy="0"/>
        </a:xfrm>
      </p:grpSpPr>
      <p:sp>
        <p:nvSpPr>
          <p:cNvPr id="110" name="Google Shape;110;g363ac02c75a_1_5"/>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Cat</a:t>
            </a:r>
            <a:r>
              <a:rPr lang="en-US">
                <a:latin typeface="Avenir"/>
                <a:ea typeface="Avenir"/>
                <a:cs typeface="Avenir"/>
                <a:sym typeface="Avenir"/>
              </a:rPr>
              <a:t>egories of</a:t>
            </a:r>
            <a:r>
              <a:rPr lang="en-US">
                <a:latin typeface="Avenir"/>
                <a:ea typeface="Avenir"/>
                <a:cs typeface="Avenir"/>
                <a:sym typeface="Avenir"/>
              </a:rPr>
              <a:t> AI at UM</a:t>
            </a:r>
            <a:endParaRPr/>
          </a:p>
        </p:txBody>
      </p:sp>
      <p:sp>
        <p:nvSpPr>
          <p:cNvPr id="111" name="Google Shape;111;g363ac02c75a_1_5"/>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2" name="Google Shape;112;g363ac02c75a_1_5"/>
          <p:cNvSpPr txBox="1"/>
          <p:nvPr>
            <p:ph idx="1" type="body"/>
          </p:nvPr>
        </p:nvSpPr>
        <p:spPr>
          <a:xfrm>
            <a:off x="540600" y="2182675"/>
            <a:ext cx="5529900" cy="42222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0"/>
              </a:spcBef>
              <a:spcAft>
                <a:spcPts val="0"/>
              </a:spcAft>
              <a:buSzPts val="1800"/>
              <a:buFont typeface="Avenir"/>
              <a:buChar char="●"/>
            </a:pPr>
            <a:r>
              <a:rPr lang="en-US">
                <a:highlight>
                  <a:srgbClr val="00FF00"/>
                </a:highlight>
                <a:latin typeface="Avenir"/>
                <a:ea typeface="Avenir"/>
                <a:cs typeface="Avenir"/>
                <a:sym typeface="Avenir"/>
              </a:rPr>
              <a:t>Green:</a:t>
            </a:r>
            <a:r>
              <a:rPr lang="en-US">
                <a:latin typeface="Avenir"/>
                <a:ea typeface="Avenir"/>
                <a:cs typeface="Avenir"/>
                <a:sym typeface="Avenir"/>
              </a:rPr>
              <a:t> Only use the University of Miami enterprise version of the tool. Must be logged into UM account to use with sensitive or private data. Never use for confidential or regulated data without first working with IT. To start working with IT for confidential data use, contact the IT Service Desk.</a:t>
            </a:r>
            <a:endParaRPr>
              <a:highlight>
                <a:srgbClr val="00FF00"/>
              </a:highlight>
              <a:latin typeface="Avenir"/>
              <a:ea typeface="Avenir"/>
              <a:cs typeface="Avenir"/>
              <a:sym typeface="Avenir"/>
            </a:endParaRPr>
          </a:p>
          <a:p>
            <a:pPr indent="0" lvl="0" marL="457200" rtl="0" algn="l">
              <a:lnSpc>
                <a:spcPct val="90000"/>
              </a:lnSpc>
              <a:spcBef>
                <a:spcPts val="0"/>
              </a:spcBef>
              <a:spcAft>
                <a:spcPts val="0"/>
              </a:spcAft>
              <a:buSzPts val="1800"/>
              <a:buNone/>
            </a:pPr>
            <a:r>
              <a:t/>
            </a:r>
            <a:endParaRPr>
              <a:latin typeface="Avenir"/>
              <a:ea typeface="Avenir"/>
              <a:cs typeface="Avenir"/>
              <a:sym typeface="Avenir"/>
            </a:endParaRPr>
          </a:p>
        </p:txBody>
      </p:sp>
      <p:sp>
        <p:nvSpPr>
          <p:cNvPr id="113" name="Google Shape;113;g363ac02c75a_1_5"/>
          <p:cNvSpPr/>
          <p:nvPr/>
        </p:nvSpPr>
        <p:spPr>
          <a:xfrm>
            <a:off x="7056926" y="1410076"/>
            <a:ext cx="1209900" cy="1174800"/>
          </a:xfrm>
          <a:prstGeom prst="ellipse">
            <a:avLst/>
          </a:prstGeom>
          <a:blipFill rotWithShape="1">
            <a:blip r:embed="rId3">
              <a:alphaModFix/>
            </a:blip>
            <a:stretch>
              <a:fillRect b="0" l="0" r="0" t="0"/>
            </a:stretch>
          </a:blip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4" name="Google Shape;114;g363ac02c75a_1_5"/>
          <p:cNvSpPr/>
          <p:nvPr/>
        </p:nvSpPr>
        <p:spPr>
          <a:xfrm>
            <a:off x="8998534" y="2182680"/>
            <a:ext cx="1209900" cy="1090800"/>
          </a:xfrm>
          <a:prstGeom prst="ellipse">
            <a:avLst/>
          </a:prstGeom>
          <a:blipFill rotWithShape="1">
            <a:blip r:embed="rId4">
              <a:alphaModFix/>
            </a:blip>
            <a:stretch>
              <a:fillRect b="0" l="0" r="0" t="0"/>
            </a:stretch>
          </a:blip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15" name="Google Shape;115;g363ac02c75a_1_5"/>
          <p:cNvPicPr preferRelativeResize="0"/>
          <p:nvPr/>
        </p:nvPicPr>
        <p:blipFill>
          <a:blip r:embed="rId5">
            <a:alphaModFix/>
          </a:blip>
          <a:stretch>
            <a:fillRect/>
          </a:stretch>
        </p:blipFill>
        <p:spPr>
          <a:xfrm>
            <a:off x="7001187" y="3273478"/>
            <a:ext cx="1090800" cy="1090800"/>
          </a:xfrm>
          <a:prstGeom prst="rect">
            <a:avLst/>
          </a:prstGeom>
          <a:noFill/>
          <a:ln>
            <a:noFill/>
          </a:ln>
        </p:spPr>
      </p:pic>
      <p:pic>
        <p:nvPicPr>
          <p:cNvPr id="116" name="Google Shape;116;g363ac02c75a_1_5"/>
          <p:cNvPicPr preferRelativeResize="0"/>
          <p:nvPr/>
        </p:nvPicPr>
        <p:blipFill rotWithShape="1">
          <a:blip r:embed="rId6">
            <a:alphaModFix/>
          </a:blip>
          <a:srcRect b="63238" l="10762" r="78451" t="10578"/>
          <a:stretch/>
        </p:blipFill>
        <p:spPr>
          <a:xfrm>
            <a:off x="7105225" y="5230075"/>
            <a:ext cx="1161600" cy="1174800"/>
          </a:xfrm>
          <a:prstGeom prst="ellipse">
            <a:avLst/>
          </a:prstGeom>
          <a:noFill/>
          <a:ln>
            <a:noFill/>
          </a:ln>
          <a:effectLst>
            <a:outerShdw blurRad="57150" rotWithShape="0" algn="bl" dir="5400000" dist="19050">
              <a:srgbClr val="000000">
                <a:alpha val="50000"/>
              </a:srgbClr>
            </a:outerShdw>
          </a:effectLst>
        </p:spPr>
      </p:pic>
      <p:pic>
        <p:nvPicPr>
          <p:cNvPr id="117" name="Google Shape;117;g363ac02c75a_1_5"/>
          <p:cNvPicPr preferRelativeResize="0"/>
          <p:nvPr/>
        </p:nvPicPr>
        <p:blipFill>
          <a:blip r:embed="rId7">
            <a:alphaModFix/>
          </a:blip>
          <a:stretch>
            <a:fillRect/>
          </a:stretch>
        </p:blipFill>
        <p:spPr>
          <a:xfrm>
            <a:off x="9022676" y="4155275"/>
            <a:ext cx="1161600" cy="1161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2" name="Shape 122"/>
        <p:cNvGrpSpPr/>
        <p:nvPr/>
      </p:nvGrpSpPr>
      <p:grpSpPr>
        <a:xfrm>
          <a:off x="0" y="0"/>
          <a:ext cx="0" cy="0"/>
          <a:chOff x="0" y="0"/>
          <a:chExt cx="0" cy="0"/>
        </a:xfrm>
      </p:grpSpPr>
      <p:sp>
        <p:nvSpPr>
          <p:cNvPr id="123" name="Google Shape;123;g39f5473f643_0_20"/>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Categories of AI at UM</a:t>
            </a:r>
            <a:endParaRPr/>
          </a:p>
        </p:txBody>
      </p:sp>
      <p:sp>
        <p:nvSpPr>
          <p:cNvPr id="124" name="Google Shape;124;g39f5473f643_0_2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25" name="Google Shape;125;g39f5473f643_0_20"/>
          <p:cNvSpPr txBox="1"/>
          <p:nvPr>
            <p:ph idx="1" type="body"/>
          </p:nvPr>
        </p:nvSpPr>
        <p:spPr>
          <a:xfrm>
            <a:off x="540600" y="2182675"/>
            <a:ext cx="55410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highlight>
                  <a:srgbClr val="FFFF00"/>
                </a:highlight>
                <a:latin typeface="Avenir"/>
                <a:ea typeface="Avenir"/>
                <a:cs typeface="Avenir"/>
                <a:sym typeface="Avenir"/>
              </a:rPr>
              <a:t>Yellow: </a:t>
            </a:r>
            <a:r>
              <a:rPr lang="en-US">
                <a:latin typeface="Avenir"/>
                <a:ea typeface="Avenir"/>
                <a:cs typeface="Avenir"/>
                <a:sym typeface="Avenir"/>
              </a:rPr>
              <a:t>Public data use only. Use with caution as many free tools collect your data such as browser history and IP address. Recommend using in an incognito/private browser.</a:t>
            </a:r>
            <a:endParaRPr>
              <a:latin typeface="Avenir"/>
              <a:ea typeface="Avenir"/>
              <a:cs typeface="Avenir"/>
              <a:sym typeface="Avenir"/>
            </a:endParaRPr>
          </a:p>
          <a:p>
            <a:pPr indent="0" lvl="0" marL="457200" rtl="0" algn="l">
              <a:lnSpc>
                <a:spcPct val="90000"/>
              </a:lnSpc>
              <a:spcBef>
                <a:spcPts val="0"/>
              </a:spcBef>
              <a:spcAft>
                <a:spcPts val="0"/>
              </a:spcAft>
              <a:buSzPts val="1800"/>
              <a:buNone/>
            </a:pPr>
            <a:r>
              <a:t/>
            </a:r>
            <a:endParaRPr>
              <a:latin typeface="Avenir"/>
              <a:ea typeface="Avenir"/>
              <a:cs typeface="Avenir"/>
              <a:sym typeface="Avenir"/>
            </a:endParaRPr>
          </a:p>
        </p:txBody>
      </p:sp>
      <p:sp>
        <p:nvSpPr>
          <p:cNvPr id="126" name="Google Shape;126;g39f5473f643_0_20"/>
          <p:cNvSpPr/>
          <p:nvPr/>
        </p:nvSpPr>
        <p:spPr>
          <a:xfrm>
            <a:off x="9434846" y="1518478"/>
            <a:ext cx="1209900" cy="1074600"/>
          </a:xfrm>
          <a:prstGeom prst="ellipse">
            <a:avLst/>
          </a:prstGeom>
          <a:blipFill rotWithShape="1">
            <a:blip r:embed="rId3">
              <a:alphaModFix/>
            </a:blip>
            <a:stretch>
              <a:fillRect b="0" l="0" r="0" t="0"/>
            </a:stretch>
          </a:blipFill>
          <a:ln>
            <a:noFill/>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id="127" name="Google Shape;127;g39f5473f643_0_20"/>
          <p:cNvPicPr preferRelativeResize="0"/>
          <p:nvPr/>
        </p:nvPicPr>
        <p:blipFill rotWithShape="1">
          <a:blip r:embed="rId4">
            <a:alphaModFix/>
          </a:blip>
          <a:srcRect b="35760" l="24917" r="22756" t="14433"/>
          <a:stretch/>
        </p:blipFill>
        <p:spPr>
          <a:xfrm>
            <a:off x="7370850" y="2593075"/>
            <a:ext cx="1209900" cy="1151400"/>
          </a:xfrm>
          <a:prstGeom prst="ellipse">
            <a:avLst/>
          </a:prstGeom>
          <a:noFill/>
          <a:ln>
            <a:noFill/>
          </a:ln>
          <a:effectLst>
            <a:outerShdw blurRad="57150" rotWithShape="0" algn="bl" dir="5400000" dist="19050">
              <a:srgbClr val="000000">
                <a:alpha val="50000"/>
              </a:srgbClr>
            </a:outerShdw>
          </a:effectLst>
        </p:spPr>
      </p:pic>
      <p:pic>
        <p:nvPicPr>
          <p:cNvPr id="128" name="Google Shape;128;g39f5473f643_0_20"/>
          <p:cNvPicPr preferRelativeResize="0"/>
          <p:nvPr/>
        </p:nvPicPr>
        <p:blipFill rotWithShape="1">
          <a:blip r:embed="rId5">
            <a:alphaModFix/>
          </a:blip>
          <a:srcRect b="41056" l="10415" r="66607" t="15410"/>
          <a:stretch/>
        </p:blipFill>
        <p:spPr>
          <a:xfrm>
            <a:off x="9377875" y="3495250"/>
            <a:ext cx="1157700" cy="1151400"/>
          </a:xfrm>
          <a:prstGeom prst="ellipse">
            <a:avLst/>
          </a:prstGeom>
          <a:noFill/>
          <a:ln>
            <a:noFill/>
          </a:ln>
          <a:effectLst>
            <a:outerShdw blurRad="57150" rotWithShape="0" algn="bl" dir="5400000" dist="19050">
              <a:srgbClr val="000000">
                <a:alpha val="50000"/>
              </a:srgbClr>
            </a:outerShdw>
          </a:effectLst>
        </p:spPr>
      </p:pic>
      <p:pic>
        <p:nvPicPr>
          <p:cNvPr id="129" name="Google Shape;129;g39f5473f643_0_20"/>
          <p:cNvPicPr preferRelativeResize="0"/>
          <p:nvPr/>
        </p:nvPicPr>
        <p:blipFill rotWithShape="1">
          <a:blip r:embed="rId6">
            <a:alphaModFix/>
          </a:blip>
          <a:srcRect b="52440" l="8025" r="79111" t="20745"/>
          <a:stretch/>
        </p:blipFill>
        <p:spPr>
          <a:xfrm>
            <a:off x="7495225" y="4610775"/>
            <a:ext cx="1157700" cy="1149300"/>
          </a:xfrm>
          <a:prstGeom prst="ellipse">
            <a:avLst/>
          </a:prstGeom>
          <a:noFill/>
          <a:ln>
            <a:noFill/>
          </a:ln>
        </p:spPr>
      </p:pic>
      <p:pic>
        <p:nvPicPr>
          <p:cNvPr id="130" name="Google Shape;130;g39f5473f643_0_20"/>
          <p:cNvPicPr preferRelativeResize="0"/>
          <p:nvPr/>
        </p:nvPicPr>
        <p:blipFill>
          <a:blip r:embed="rId7">
            <a:alphaModFix/>
          </a:blip>
          <a:stretch>
            <a:fillRect/>
          </a:stretch>
        </p:blipFill>
        <p:spPr>
          <a:xfrm>
            <a:off x="9351775" y="5315100"/>
            <a:ext cx="1209900" cy="1209900"/>
          </a:xfrm>
          <a:prstGeom prst="ellipse">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5" name="Shape 135"/>
        <p:cNvGrpSpPr/>
        <p:nvPr/>
      </p:nvGrpSpPr>
      <p:grpSpPr>
        <a:xfrm>
          <a:off x="0" y="0"/>
          <a:ext cx="0" cy="0"/>
          <a:chOff x="0" y="0"/>
          <a:chExt cx="0" cy="0"/>
        </a:xfrm>
      </p:grpSpPr>
      <p:sp>
        <p:nvSpPr>
          <p:cNvPr id="136" name="Google Shape;136;g39f5473f643_0_39"/>
          <p:cNvSpPr txBox="1"/>
          <p:nvPr>
            <p:ph type="title"/>
          </p:nvPr>
        </p:nvSpPr>
        <p:spPr>
          <a:xfrm>
            <a:off x="696037" y="401075"/>
            <a:ext cx="8302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Categories of AI at UM</a:t>
            </a:r>
            <a:endParaRPr/>
          </a:p>
        </p:txBody>
      </p:sp>
      <p:sp>
        <p:nvSpPr>
          <p:cNvPr id="137" name="Google Shape;137;g39f5473f643_0_39"/>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8" name="Google Shape;138;g39f5473f643_0_39"/>
          <p:cNvSpPr txBox="1"/>
          <p:nvPr>
            <p:ph idx="1" type="body"/>
          </p:nvPr>
        </p:nvSpPr>
        <p:spPr>
          <a:xfrm>
            <a:off x="540600" y="2182675"/>
            <a:ext cx="55410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highlight>
                  <a:srgbClr val="FF0000"/>
                </a:highlight>
                <a:latin typeface="Avenir"/>
                <a:ea typeface="Avenir"/>
                <a:cs typeface="Avenir"/>
                <a:sym typeface="Avenir"/>
              </a:rPr>
              <a:t>Red</a:t>
            </a:r>
            <a:r>
              <a:rPr lang="en-US">
                <a:highlight>
                  <a:srgbClr val="FF0000"/>
                </a:highlight>
                <a:latin typeface="Avenir"/>
                <a:ea typeface="Avenir"/>
                <a:cs typeface="Avenir"/>
                <a:sym typeface="Avenir"/>
              </a:rPr>
              <a:t>: </a:t>
            </a:r>
            <a:r>
              <a:rPr lang="en-US">
                <a:latin typeface="Avenir"/>
                <a:ea typeface="Avenir"/>
                <a:cs typeface="Avenir"/>
                <a:sym typeface="Avenir"/>
              </a:rPr>
              <a:t>Do not use due to potential security risks.</a:t>
            </a:r>
            <a:endParaRPr>
              <a:latin typeface="Avenir"/>
              <a:ea typeface="Avenir"/>
              <a:cs typeface="Avenir"/>
              <a:sym typeface="Avenir"/>
            </a:endParaRPr>
          </a:p>
          <a:p>
            <a:pPr indent="0" lvl="0" marL="457200" rtl="0" algn="l">
              <a:lnSpc>
                <a:spcPct val="90000"/>
              </a:lnSpc>
              <a:spcBef>
                <a:spcPts val="0"/>
              </a:spcBef>
              <a:spcAft>
                <a:spcPts val="0"/>
              </a:spcAft>
              <a:buSzPts val="1800"/>
              <a:buNone/>
            </a:pPr>
            <a:r>
              <a:t/>
            </a:r>
            <a:endParaRPr>
              <a:latin typeface="Avenir"/>
              <a:ea typeface="Avenir"/>
              <a:cs typeface="Avenir"/>
              <a:sym typeface="Avenir"/>
            </a:endParaRPr>
          </a:p>
        </p:txBody>
      </p:sp>
      <p:pic>
        <p:nvPicPr>
          <p:cNvPr id="139" name="Google Shape;139;g39f5473f643_0_39"/>
          <p:cNvPicPr preferRelativeResize="0"/>
          <p:nvPr/>
        </p:nvPicPr>
        <p:blipFill>
          <a:blip r:embed="rId3">
            <a:alphaModFix/>
          </a:blip>
          <a:stretch>
            <a:fillRect/>
          </a:stretch>
        </p:blipFill>
        <p:spPr>
          <a:xfrm>
            <a:off x="5994950" y="2007775"/>
            <a:ext cx="1209900" cy="1209900"/>
          </a:xfrm>
          <a:prstGeom prst="rect">
            <a:avLst/>
          </a:prstGeom>
          <a:noFill/>
          <a:ln>
            <a:noFill/>
          </a:ln>
        </p:spPr>
      </p:pic>
      <p:pic>
        <p:nvPicPr>
          <p:cNvPr id="140" name="Google Shape;140;g39f5473f643_0_39"/>
          <p:cNvPicPr preferRelativeResize="0"/>
          <p:nvPr/>
        </p:nvPicPr>
        <p:blipFill rotWithShape="1">
          <a:blip r:embed="rId4">
            <a:alphaModFix/>
          </a:blip>
          <a:srcRect b="21203" l="31229" r="32091" t="16506"/>
          <a:stretch/>
        </p:blipFill>
        <p:spPr>
          <a:xfrm>
            <a:off x="9052775" y="2007775"/>
            <a:ext cx="1267500" cy="1209900"/>
          </a:xfrm>
          <a:prstGeom prst="ellipse">
            <a:avLst/>
          </a:prstGeom>
          <a:noFill/>
          <a:ln>
            <a:noFill/>
          </a:ln>
        </p:spPr>
      </p:pic>
      <p:pic>
        <p:nvPicPr>
          <p:cNvPr id="141" name="Google Shape;141;g39f5473f643_0_39"/>
          <p:cNvPicPr preferRelativeResize="0"/>
          <p:nvPr/>
        </p:nvPicPr>
        <p:blipFill rotWithShape="1">
          <a:blip r:embed="rId5">
            <a:alphaModFix/>
          </a:blip>
          <a:srcRect b="27609" l="9937" r="61408" t="27388"/>
          <a:stretch/>
        </p:blipFill>
        <p:spPr>
          <a:xfrm>
            <a:off x="7499700" y="3630925"/>
            <a:ext cx="1103100" cy="1004700"/>
          </a:xfrm>
          <a:prstGeom prst="ellipse">
            <a:avLst/>
          </a:prstGeom>
          <a:noFill/>
          <a:ln>
            <a:noFill/>
          </a:ln>
        </p:spPr>
      </p:pic>
      <p:pic>
        <p:nvPicPr>
          <p:cNvPr id="142" name="Google Shape;142;g39f5473f643_0_39"/>
          <p:cNvPicPr preferRelativeResize="0"/>
          <p:nvPr/>
        </p:nvPicPr>
        <p:blipFill rotWithShape="1">
          <a:blip r:embed="rId6">
            <a:alphaModFix/>
          </a:blip>
          <a:srcRect b="21247" l="9908" r="56525" t="19370"/>
          <a:stretch/>
        </p:blipFill>
        <p:spPr>
          <a:xfrm>
            <a:off x="9097200" y="5079175"/>
            <a:ext cx="1332300" cy="1325700"/>
          </a:xfrm>
          <a:prstGeom prst="ellipse">
            <a:avLst/>
          </a:prstGeom>
          <a:noFill/>
          <a:ln>
            <a:noFill/>
          </a:ln>
        </p:spPr>
      </p:pic>
      <p:pic>
        <p:nvPicPr>
          <p:cNvPr id="143" name="Google Shape;143;g39f5473f643_0_39"/>
          <p:cNvPicPr preferRelativeResize="0"/>
          <p:nvPr/>
        </p:nvPicPr>
        <p:blipFill>
          <a:blip r:embed="rId7">
            <a:alphaModFix/>
          </a:blip>
          <a:stretch>
            <a:fillRect/>
          </a:stretch>
        </p:blipFill>
        <p:spPr>
          <a:xfrm>
            <a:off x="6081603" y="5006900"/>
            <a:ext cx="1182550" cy="1182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8" name="Shape 148"/>
        <p:cNvGrpSpPr/>
        <p:nvPr/>
      </p:nvGrpSpPr>
      <p:grpSpPr>
        <a:xfrm>
          <a:off x="0" y="0"/>
          <a:ext cx="0" cy="0"/>
          <a:chOff x="0" y="0"/>
          <a:chExt cx="0" cy="0"/>
        </a:xfrm>
      </p:grpSpPr>
      <p:sp>
        <p:nvSpPr>
          <p:cNvPr id="149" name="Google Shape;149;g3a2d5fccfe7_0_0"/>
          <p:cNvSpPr txBox="1"/>
          <p:nvPr>
            <p:ph type="title"/>
          </p:nvPr>
        </p:nvSpPr>
        <p:spPr>
          <a:xfrm>
            <a:off x="696023" y="401075"/>
            <a:ext cx="9383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Introduction to Microsoft Copilot</a:t>
            </a:r>
            <a:endParaRPr/>
          </a:p>
        </p:txBody>
      </p:sp>
      <p:sp>
        <p:nvSpPr>
          <p:cNvPr id="150" name="Google Shape;150;g3a2d5fccfe7_0_0"/>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1" name="Google Shape;151;g3a2d5fccfe7_0_0"/>
          <p:cNvSpPr txBox="1"/>
          <p:nvPr>
            <p:ph idx="1" type="body"/>
          </p:nvPr>
        </p:nvSpPr>
        <p:spPr>
          <a:xfrm>
            <a:off x="540600" y="1726775"/>
            <a:ext cx="10255500" cy="4678200"/>
          </a:xfrm>
          <a:prstGeom prst="rect">
            <a:avLst/>
          </a:prstGeom>
          <a:noFill/>
          <a:ln>
            <a:noFill/>
          </a:ln>
        </p:spPr>
        <p:txBody>
          <a:bodyPr anchorCtr="0" anchor="t" bIns="45700" lIns="91425" spcFirstLastPara="1" rIns="91425" wrap="square" tIns="45700">
            <a:normAutofit fontScale="92500" lnSpcReduction="20000"/>
          </a:bodyPr>
          <a:lstStyle/>
          <a:p>
            <a:pPr indent="-334327" lvl="0" marL="457200" rtl="0" algn="l">
              <a:lnSpc>
                <a:spcPct val="90000"/>
              </a:lnSpc>
              <a:spcBef>
                <a:spcPts val="0"/>
              </a:spcBef>
              <a:spcAft>
                <a:spcPts val="0"/>
              </a:spcAft>
              <a:buSzPct val="64285"/>
              <a:buFont typeface="Avenir"/>
              <a:buChar char="•"/>
            </a:pPr>
            <a:r>
              <a:rPr b="1" lang="en-US" u="sng">
                <a:latin typeface="Avenir"/>
                <a:ea typeface="Avenir"/>
                <a:cs typeface="Avenir"/>
                <a:sym typeface="Avenir"/>
              </a:rPr>
              <a:t>Copilot on the web is not HIPAA compliant yet.</a:t>
            </a:r>
            <a:r>
              <a:rPr lang="en-US">
                <a:latin typeface="Avenir"/>
                <a:ea typeface="Avenir"/>
                <a:cs typeface="Avenir"/>
                <a:sym typeface="Avenir"/>
              </a:rPr>
              <a:t> Copilot unlocks generative AI for capabilities around asking questions and generating responses from the web. It does, however, have some limitations, such as conducting custom searches within University of Miami firewalls.</a:t>
            </a:r>
            <a:endParaRPr>
              <a:latin typeface="Avenir"/>
              <a:ea typeface="Avenir"/>
              <a:cs typeface="Avenir"/>
              <a:sym typeface="Avenir"/>
            </a:endParaRPr>
          </a:p>
          <a:p>
            <a:pPr indent="0" lvl="0" marL="914400" rtl="0" algn="l">
              <a:lnSpc>
                <a:spcPct val="90000"/>
              </a:lnSpc>
              <a:spcBef>
                <a:spcPts val="0"/>
              </a:spcBef>
              <a:spcAft>
                <a:spcPts val="0"/>
              </a:spcAft>
              <a:buNone/>
            </a:pPr>
            <a:r>
              <a:t/>
            </a:r>
            <a:endParaRPr>
              <a:latin typeface="Avenir"/>
              <a:ea typeface="Avenir"/>
              <a:cs typeface="Avenir"/>
              <a:sym typeface="Avenir"/>
            </a:endParaRPr>
          </a:p>
          <a:p>
            <a:pPr indent="-334327" lvl="0" marL="457200" rtl="0" algn="l">
              <a:lnSpc>
                <a:spcPct val="90000"/>
              </a:lnSpc>
              <a:spcBef>
                <a:spcPts val="0"/>
              </a:spcBef>
              <a:spcAft>
                <a:spcPts val="0"/>
              </a:spcAft>
              <a:buSzPct val="64285"/>
              <a:buFont typeface="Avenir"/>
              <a:buChar char="•"/>
            </a:pPr>
            <a:r>
              <a:rPr lang="en-US">
                <a:latin typeface="Avenir"/>
                <a:ea typeface="Avenir"/>
                <a:cs typeface="Avenir"/>
                <a:sym typeface="Avenir"/>
              </a:rPr>
              <a:t> When using Copilot with Data Protection, exercise care when entering information into the prompt. Copilot with Data Protection is being offered for use with Public data only, as defined in our Data Classification Policy. Confidential (Restricted), Private, or Sensitive data may not be entered into Copilot with Data Protection. As with other services, do not include personal information about yourself or others in prompts. Similarly, when using the service, you must ensure adherence to copyright and intellectual property protections. </a:t>
            </a:r>
            <a:endParaRPr>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6" name="Shape 156"/>
        <p:cNvGrpSpPr/>
        <p:nvPr/>
      </p:nvGrpSpPr>
      <p:grpSpPr>
        <a:xfrm>
          <a:off x="0" y="0"/>
          <a:ext cx="0" cy="0"/>
          <a:chOff x="0" y="0"/>
          <a:chExt cx="0" cy="0"/>
        </a:xfrm>
      </p:grpSpPr>
      <p:sp>
        <p:nvSpPr>
          <p:cNvPr id="157" name="Google Shape;157;g3a2d5fccfe7_0_12"/>
          <p:cNvSpPr txBox="1"/>
          <p:nvPr>
            <p:ph type="title"/>
          </p:nvPr>
        </p:nvSpPr>
        <p:spPr>
          <a:xfrm>
            <a:off x="696023" y="401075"/>
            <a:ext cx="9383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Introduction to Gemini</a:t>
            </a:r>
            <a:endParaRPr/>
          </a:p>
        </p:txBody>
      </p:sp>
      <p:sp>
        <p:nvSpPr>
          <p:cNvPr id="158" name="Google Shape;158;g3a2d5fccfe7_0_12"/>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9" name="Google Shape;159;g3a2d5fccfe7_0_12"/>
          <p:cNvSpPr txBox="1"/>
          <p:nvPr>
            <p:ph idx="1" type="body"/>
          </p:nvPr>
        </p:nvSpPr>
        <p:spPr>
          <a:xfrm>
            <a:off x="540600" y="2182675"/>
            <a:ext cx="102555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b="1" lang="en-US" u="sng">
                <a:latin typeface="Avenir"/>
                <a:ea typeface="Avenir"/>
                <a:cs typeface="Avenir"/>
                <a:sym typeface="Avenir"/>
              </a:rPr>
              <a:t>Gemini is not HIPAA compliant yet.</a:t>
            </a:r>
            <a:r>
              <a:rPr lang="en-US">
                <a:latin typeface="Avenir"/>
                <a:ea typeface="Avenir"/>
                <a:cs typeface="Avenir"/>
                <a:sym typeface="Avenir"/>
              </a:rPr>
              <a:t> Gemini unlocks generative AI for capabilities around asking questions and generating responses from the web. It does, however, have some limitations, such as conducting custom searches within University of Miami firewalls</a:t>
            </a:r>
            <a:endParaRPr>
              <a:latin typeface="Avenir"/>
              <a:ea typeface="Avenir"/>
              <a:cs typeface="Avenir"/>
              <a:sym typeface="Avenir"/>
            </a:endParaRPr>
          </a:p>
          <a:p>
            <a:pPr indent="0" lvl="0" marL="914400" rtl="0" algn="l">
              <a:lnSpc>
                <a:spcPct val="90000"/>
              </a:lnSpc>
              <a:spcBef>
                <a:spcPts val="0"/>
              </a:spcBef>
              <a:spcAft>
                <a:spcPts val="0"/>
              </a:spcAft>
              <a:buNone/>
            </a:pPr>
            <a:r>
              <a:t/>
            </a:r>
            <a:endParaRPr>
              <a:latin typeface="Avenir"/>
              <a:ea typeface="Avenir"/>
              <a:cs typeface="Avenir"/>
              <a:sym typeface="Aveni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4" name="Shape 164"/>
        <p:cNvGrpSpPr/>
        <p:nvPr/>
      </p:nvGrpSpPr>
      <p:grpSpPr>
        <a:xfrm>
          <a:off x="0" y="0"/>
          <a:ext cx="0" cy="0"/>
          <a:chOff x="0" y="0"/>
          <a:chExt cx="0" cy="0"/>
        </a:xfrm>
      </p:grpSpPr>
      <p:sp>
        <p:nvSpPr>
          <p:cNvPr id="165" name="Google Shape;165;g3a2d5fccfe7_0_19"/>
          <p:cNvSpPr txBox="1"/>
          <p:nvPr>
            <p:ph type="title"/>
          </p:nvPr>
        </p:nvSpPr>
        <p:spPr>
          <a:xfrm>
            <a:off x="696023" y="401075"/>
            <a:ext cx="9383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Introduction to Firefly</a:t>
            </a:r>
            <a:endParaRPr/>
          </a:p>
        </p:txBody>
      </p:sp>
      <p:sp>
        <p:nvSpPr>
          <p:cNvPr id="166" name="Google Shape;166;g3a2d5fccfe7_0_19"/>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7" name="Google Shape;167;g3a2d5fccfe7_0_19"/>
          <p:cNvSpPr txBox="1"/>
          <p:nvPr>
            <p:ph idx="1" type="body"/>
          </p:nvPr>
        </p:nvSpPr>
        <p:spPr>
          <a:xfrm>
            <a:off x="540600" y="2182675"/>
            <a:ext cx="102555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Create Images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Edit Images</a:t>
            </a:r>
            <a:endParaRPr>
              <a:latin typeface="Avenir"/>
              <a:ea typeface="Avenir"/>
              <a:cs typeface="Avenir"/>
              <a:sym typeface="Aveni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2" name="Shape 172"/>
        <p:cNvGrpSpPr/>
        <p:nvPr/>
      </p:nvGrpSpPr>
      <p:grpSpPr>
        <a:xfrm>
          <a:off x="0" y="0"/>
          <a:ext cx="0" cy="0"/>
          <a:chOff x="0" y="0"/>
          <a:chExt cx="0" cy="0"/>
        </a:xfrm>
      </p:grpSpPr>
      <p:sp>
        <p:nvSpPr>
          <p:cNvPr id="173" name="Google Shape;173;g3a2d5fccfe7_0_36"/>
          <p:cNvSpPr txBox="1"/>
          <p:nvPr>
            <p:ph type="title"/>
          </p:nvPr>
        </p:nvSpPr>
        <p:spPr>
          <a:xfrm>
            <a:off x="696023" y="401075"/>
            <a:ext cx="9383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AI Projects at the U</a:t>
            </a:r>
            <a:endParaRPr/>
          </a:p>
        </p:txBody>
      </p:sp>
      <p:sp>
        <p:nvSpPr>
          <p:cNvPr id="174" name="Google Shape;174;g3a2d5fccfe7_0_3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175" name="Google Shape;175;g3a2d5fccfe7_0_36"/>
          <p:cNvPicPr preferRelativeResize="0"/>
          <p:nvPr/>
        </p:nvPicPr>
        <p:blipFill>
          <a:blip r:embed="rId3">
            <a:alphaModFix/>
          </a:blip>
          <a:stretch>
            <a:fillRect/>
          </a:stretch>
        </p:blipFill>
        <p:spPr>
          <a:xfrm>
            <a:off x="1331550" y="1670400"/>
            <a:ext cx="8600818" cy="48264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0" name="Shape 180"/>
        <p:cNvGrpSpPr/>
        <p:nvPr/>
      </p:nvGrpSpPr>
      <p:grpSpPr>
        <a:xfrm>
          <a:off x="0" y="0"/>
          <a:ext cx="0" cy="0"/>
          <a:chOff x="0" y="0"/>
          <a:chExt cx="0" cy="0"/>
        </a:xfrm>
      </p:grpSpPr>
      <p:sp>
        <p:nvSpPr>
          <p:cNvPr id="181" name="Google Shape;181;g3a330647f8b_1_6"/>
          <p:cNvSpPr txBox="1"/>
          <p:nvPr>
            <p:ph type="title"/>
          </p:nvPr>
        </p:nvSpPr>
        <p:spPr>
          <a:xfrm>
            <a:off x="696023" y="401075"/>
            <a:ext cx="9383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venir"/>
              <a:buNone/>
            </a:pPr>
            <a:r>
              <a:rPr lang="en-US">
                <a:latin typeface="Avenir"/>
                <a:ea typeface="Avenir"/>
                <a:cs typeface="Avenir"/>
                <a:sym typeface="Avenir"/>
              </a:rPr>
              <a:t>AI in the News</a:t>
            </a:r>
            <a:endParaRPr/>
          </a:p>
        </p:txBody>
      </p:sp>
      <p:sp>
        <p:nvSpPr>
          <p:cNvPr id="182" name="Google Shape;182;g3a330647f8b_1_6"/>
          <p:cNvSpPr/>
          <p:nvPr/>
        </p:nvSpPr>
        <p:spPr>
          <a:xfrm>
            <a:off x="0" y="0"/>
            <a:ext cx="161400" cy="6858000"/>
          </a:xfrm>
          <a:prstGeom prst="rect">
            <a:avLst/>
          </a:prstGeom>
          <a:gradFill>
            <a:gsLst>
              <a:gs pos="0">
                <a:srgbClr val="F47321"/>
              </a:gs>
              <a:gs pos="87000">
                <a:srgbClr val="005030"/>
              </a:gs>
              <a:gs pos="100000">
                <a:srgbClr val="005030"/>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3" name="Google Shape;183;g3a330647f8b_1_6"/>
          <p:cNvSpPr txBox="1"/>
          <p:nvPr>
            <p:ph idx="1" type="body"/>
          </p:nvPr>
        </p:nvSpPr>
        <p:spPr>
          <a:xfrm>
            <a:off x="540600" y="2182675"/>
            <a:ext cx="44430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The Economist</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Financial Times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The LA Times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New York Times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Wall Street Journal</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Washington Post</a:t>
            </a:r>
            <a:endParaRPr>
              <a:latin typeface="Avenir"/>
              <a:ea typeface="Avenir"/>
              <a:cs typeface="Avenir"/>
              <a:sym typeface="Avenir"/>
            </a:endParaRPr>
          </a:p>
        </p:txBody>
      </p:sp>
      <p:sp>
        <p:nvSpPr>
          <p:cNvPr id="184" name="Google Shape;184;g3a330647f8b_1_6"/>
          <p:cNvSpPr txBox="1"/>
          <p:nvPr>
            <p:ph idx="1" type="body"/>
          </p:nvPr>
        </p:nvSpPr>
        <p:spPr>
          <a:xfrm>
            <a:off x="5535225" y="2291250"/>
            <a:ext cx="4443000" cy="4222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MIT Technology Review</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Hugging Face Trending Papers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AI Servier Provider’s Blogs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AI Newsletters</a:t>
            </a:r>
            <a:endParaRPr>
              <a:latin typeface="Avenir"/>
              <a:ea typeface="Avenir"/>
              <a:cs typeface="Avenir"/>
              <a:sym typeface="Avenir"/>
            </a:endParaRPr>
          </a:p>
          <a:p>
            <a:pPr indent="-342900" lvl="0" marL="457200" rtl="0" algn="l">
              <a:lnSpc>
                <a:spcPct val="90000"/>
              </a:lnSpc>
              <a:spcBef>
                <a:spcPts val="0"/>
              </a:spcBef>
              <a:spcAft>
                <a:spcPts val="0"/>
              </a:spcAft>
              <a:buSzPts val="1800"/>
              <a:buFont typeface="Avenir"/>
              <a:buChar char="●"/>
            </a:pPr>
            <a:r>
              <a:rPr lang="en-US">
                <a:latin typeface="Avenir"/>
                <a:ea typeface="Avenir"/>
                <a:cs typeface="Avenir"/>
                <a:sym typeface="Avenir"/>
              </a:rPr>
              <a:t>AI Podcasts</a:t>
            </a:r>
            <a:endParaRPr>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2025-07-05T12:48:20Z</dcterms:created>
  <dc:creator>Connors, Collin Dey</dc:creator>
</cp:coreProperties>
</file>