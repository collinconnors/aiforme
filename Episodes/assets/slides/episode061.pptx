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i9PIbHo29uZHKeegLQCjLZV2qK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519149-25FB-4271-AFD4-DE01F3D88B21}">
  <a:tblStyle styleId="{93519149-25FB-4271-AFD4-DE01F3D88B2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ena.ai/"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awesomelistsio/awesome-ai-benchmarks-evaluation" TargetMode="External"/><Relationship Id="rId3" Type="http://schemas.openxmlformats.org/officeDocument/2006/relationships/hyperlink" Target="https://arxiv.org/abs/2406.01574" TargetMode="External"/><Relationship Id="rId4" Type="http://schemas.openxmlformats.org/officeDocument/2006/relationships/hyperlink" Target="https://github.com/TIGER-AI-Lab/MMLU-Pro" TargetMode="External"/><Relationship Id="rId5" Type="http://schemas.openxmlformats.org/officeDocument/2006/relationships/hyperlink" Target="http://vals.ai" TargetMode="External"/><Relationship Id="rId6" Type="http://schemas.openxmlformats.org/officeDocument/2006/relationships/hyperlink" Target="https://www.vals.ai/benchmarks/mmlu_pro"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awesomelistsio/awesome-ai-benchmarks-evaluation" TargetMode="External"/><Relationship Id="rId3" Type="http://schemas.openxmlformats.org/officeDocument/2006/relationships/hyperlink" Target="https://arxiv.org/abs/2311.12022" TargetMode="External"/><Relationship Id="rId4" Type="http://schemas.openxmlformats.org/officeDocument/2006/relationships/hyperlink" Target="http://vals.ai" TargetMode="External"/><Relationship Id="rId5" Type="http://schemas.openxmlformats.org/officeDocument/2006/relationships/hyperlink" Target="https://www.vals.ai/benchmarks/gpqa"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k.com/plans" TargetMode="External"/><Relationship Id="rId3" Type="http://schemas.openxmlformats.org/officeDocument/2006/relationships/hyperlink" Target="https://kimik2ai.com/pricing/"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s41598-024-76682-6"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906.02243" TargetMode="External"/><Relationship Id="rId3" Type="http://schemas.openxmlformats.org/officeDocument/2006/relationships/hyperlink" Target="https://dl.acm.org/doi/full/10.1145/3724499" TargetMode="External"/><Relationship Id="rId4" Type="http://schemas.openxmlformats.org/officeDocument/2006/relationships/hyperlink" Target="https://www.cell.com/joule/fulltext/S2542-4351(23)00365-3"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906.02243" TargetMode="External"/><Relationship Id="rId3" Type="http://schemas.openxmlformats.org/officeDocument/2006/relationships/hyperlink" Target="https://dl.acm.org/doi/full/10.1145/3724499" TargetMode="External"/><Relationship Id="rId4" Type="http://schemas.openxmlformats.org/officeDocument/2006/relationships/hyperlink" Target="https://www.cell.com/joule/fulltext/S2542-4351(23)00365-3"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34d9c8326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934d9c8326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98" name="Google Shape;98;g3934d9c8326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34d9c8326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934d9c8326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116" name="Google Shape;116;g3934d9c8326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36df5c928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936df5c928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LLM Arena: </a:t>
            </a:r>
            <a:r>
              <a:rPr lang="en-US" u="sng">
                <a:solidFill>
                  <a:schemeClr val="hlink"/>
                </a:solidFill>
                <a:hlinkClick r:id="rId2"/>
              </a:rPr>
              <a:t>https://arena.ai/</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25" name="Google Shape;125;g3936df5c928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36df5c92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936df5c92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Awesome AI Benchmarks and Evaluations: </a:t>
            </a:r>
            <a:r>
              <a:rPr lang="en-US" u="sng">
                <a:solidFill>
                  <a:schemeClr val="hlink"/>
                </a:solidFill>
                <a:hlinkClick r:id="rId2"/>
              </a:rPr>
              <a:t>https://github.com/awesomelistsio/awesome-ai-benchmarks-evaluation</a:t>
            </a:r>
            <a:endParaRPr/>
          </a:p>
          <a:p>
            <a:pPr indent="0" lvl="0" marL="0" rtl="0" algn="l">
              <a:lnSpc>
                <a:spcPct val="100000"/>
              </a:lnSpc>
              <a:spcBef>
                <a:spcPts val="1200"/>
              </a:spcBef>
              <a:spcAft>
                <a:spcPts val="0"/>
              </a:spcAft>
              <a:buClr>
                <a:schemeClr val="dk1"/>
              </a:buClr>
              <a:buSzPts val="1200"/>
              <a:buFont typeface="Arial"/>
              <a:buNone/>
            </a:pPr>
            <a:r>
              <a:rPr lang="en-US"/>
              <a:t>MMLU-Pro: A More Robust and Challenging Multi-Task Language Understanding Benchmark: </a:t>
            </a:r>
            <a:r>
              <a:rPr lang="en-US" u="sng">
                <a:solidFill>
                  <a:schemeClr val="hlink"/>
                </a:solidFill>
                <a:hlinkClick r:id="rId3"/>
              </a:rPr>
              <a:t>https://arxiv.org/abs/2406.01574</a:t>
            </a:r>
            <a:endParaRPr/>
          </a:p>
          <a:p>
            <a:pPr indent="0" lvl="0" marL="0" rtl="0" algn="l">
              <a:lnSpc>
                <a:spcPct val="100000"/>
              </a:lnSpc>
              <a:spcBef>
                <a:spcPts val="1200"/>
              </a:spcBef>
              <a:spcAft>
                <a:spcPts val="0"/>
              </a:spcAft>
              <a:buClr>
                <a:schemeClr val="dk1"/>
              </a:buClr>
              <a:buSzPts val="1200"/>
              <a:buFont typeface="Arial"/>
              <a:buNone/>
            </a:pPr>
            <a:r>
              <a:rPr lang="en-US"/>
              <a:t>MMLU-Pro Github: </a:t>
            </a:r>
            <a:r>
              <a:rPr lang="en-US" u="sng">
                <a:solidFill>
                  <a:schemeClr val="hlink"/>
                </a:solidFill>
                <a:hlinkClick r:id="rId4"/>
              </a:rPr>
              <a:t>https://github.com/TIGER-AI-Lab/MMLU-Pro</a:t>
            </a:r>
            <a:endParaRPr/>
          </a:p>
          <a:p>
            <a:pPr indent="0" lvl="0" marL="0" rtl="0" algn="l">
              <a:lnSpc>
                <a:spcPct val="100000"/>
              </a:lnSpc>
              <a:spcBef>
                <a:spcPts val="1200"/>
              </a:spcBef>
              <a:spcAft>
                <a:spcPts val="0"/>
              </a:spcAft>
              <a:buClr>
                <a:schemeClr val="dk1"/>
              </a:buClr>
              <a:buSzPts val="1200"/>
              <a:buFont typeface="Arial"/>
              <a:buNone/>
            </a:pPr>
            <a:r>
              <a:rPr lang="en-US"/>
              <a:t>MMLU-Pro Dataset: https://huggingface.co/datasets/TIGER-Lab/MMLU-Pro</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5"/>
              </a:rPr>
              <a:t>Vals.ai</a:t>
            </a:r>
            <a:r>
              <a:rPr lang="en-US"/>
              <a:t> MMLU Pro : </a:t>
            </a:r>
            <a:r>
              <a:rPr lang="en-US" u="sng">
                <a:solidFill>
                  <a:schemeClr val="hlink"/>
                </a:solidFill>
                <a:hlinkClick r:id="rId6"/>
              </a:rPr>
              <a:t>https://www.vals.ai/benchmarks/mmlu_pro</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33" name="Google Shape;133;g3936df5c92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36df5c92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936df5c92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Awesome AI Benchmarks and Evaluations: </a:t>
            </a:r>
            <a:r>
              <a:rPr lang="en-US" u="sng">
                <a:solidFill>
                  <a:schemeClr val="hlink"/>
                </a:solidFill>
                <a:hlinkClick r:id="rId2"/>
              </a:rPr>
              <a:t>https://github.com/awesomelistsio/awesome-ai-benchmarks-evaluation</a:t>
            </a:r>
            <a:endParaRPr/>
          </a:p>
          <a:p>
            <a:pPr indent="0" lvl="0" marL="0" rtl="0" algn="l">
              <a:lnSpc>
                <a:spcPct val="100000"/>
              </a:lnSpc>
              <a:spcBef>
                <a:spcPts val="1200"/>
              </a:spcBef>
              <a:spcAft>
                <a:spcPts val="0"/>
              </a:spcAft>
              <a:buClr>
                <a:schemeClr val="dk1"/>
              </a:buClr>
              <a:buSzPts val="1200"/>
              <a:buFont typeface="Arial"/>
              <a:buNone/>
            </a:pPr>
            <a:r>
              <a:rPr lang="en-US"/>
              <a:t>GPQA A Graduate-Level Google-Proof Q&amp;A Benchmark: </a:t>
            </a:r>
            <a:r>
              <a:rPr lang="en-US" u="sng">
                <a:solidFill>
                  <a:schemeClr val="hlink"/>
                </a:solidFill>
                <a:hlinkClick r:id="rId3"/>
              </a:rPr>
              <a:t>https://arxiv.org/abs/2311.12022</a:t>
            </a:r>
            <a:endParaRPr/>
          </a:p>
          <a:p>
            <a:pPr indent="0" lvl="0" marL="0" rtl="0" algn="l">
              <a:lnSpc>
                <a:spcPct val="100000"/>
              </a:lnSpc>
              <a:spcBef>
                <a:spcPts val="1200"/>
              </a:spcBef>
              <a:spcAft>
                <a:spcPts val="0"/>
              </a:spcAft>
              <a:buClr>
                <a:schemeClr val="dk1"/>
              </a:buClr>
              <a:buSzPts val="1200"/>
              <a:buFont typeface="Arial"/>
              <a:buNone/>
            </a:pPr>
            <a:r>
              <a:rPr lang="en-US"/>
              <a:t>GPQA Dataset: https://huggingface.co/datasets/Idavidrein/gpqa</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4"/>
              </a:rPr>
              <a:t>vals.ai</a:t>
            </a:r>
            <a:r>
              <a:rPr lang="en-US"/>
              <a:t> GPQA: </a:t>
            </a:r>
            <a:r>
              <a:rPr lang="en-US" u="sng">
                <a:solidFill>
                  <a:schemeClr val="hlink"/>
                </a:solidFill>
                <a:hlinkClick r:id="rId5"/>
              </a:rPr>
              <a:t>https://www.vals.ai/benchmarks/gpqa</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2" name="Google Shape;142;g3936df5c928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34d9c8326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934d9c8326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150" name="Google Shape;150;g3934d9c8326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36df5c928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936df5c928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ChatGPT Pricing: https://chatgpt.com/pricing</a:t>
            </a:r>
            <a:endParaRPr/>
          </a:p>
          <a:p>
            <a:pPr indent="0" lvl="0" marL="0" rtl="0" algn="l">
              <a:lnSpc>
                <a:spcPct val="100000"/>
              </a:lnSpc>
              <a:spcBef>
                <a:spcPts val="1200"/>
              </a:spcBef>
              <a:spcAft>
                <a:spcPts val="0"/>
              </a:spcAft>
              <a:buClr>
                <a:schemeClr val="dk1"/>
              </a:buClr>
              <a:buSzPts val="1200"/>
              <a:buFont typeface="Arial"/>
              <a:buNone/>
            </a:pPr>
            <a:r>
              <a:rPr lang="en-US"/>
              <a:t>Gemini Pricing: https://gemini.google/subscriptions/</a:t>
            </a:r>
            <a:endParaRPr/>
          </a:p>
          <a:p>
            <a:pPr indent="0" lvl="0" marL="0" rtl="0" algn="l">
              <a:lnSpc>
                <a:spcPct val="100000"/>
              </a:lnSpc>
              <a:spcBef>
                <a:spcPts val="1200"/>
              </a:spcBef>
              <a:spcAft>
                <a:spcPts val="0"/>
              </a:spcAft>
              <a:buClr>
                <a:schemeClr val="dk1"/>
              </a:buClr>
              <a:buSzPts val="1200"/>
              <a:buFont typeface="Arial"/>
              <a:buNone/>
            </a:pPr>
            <a:r>
              <a:rPr lang="en-US"/>
              <a:t>Claude Pricing:https://claude.com/pricing</a:t>
            </a:r>
            <a:endParaRPr/>
          </a:p>
          <a:p>
            <a:pPr indent="0" lvl="0" marL="0" rtl="0" algn="l">
              <a:lnSpc>
                <a:spcPct val="100000"/>
              </a:lnSpc>
              <a:spcBef>
                <a:spcPts val="1200"/>
              </a:spcBef>
              <a:spcAft>
                <a:spcPts val="0"/>
              </a:spcAft>
              <a:buClr>
                <a:schemeClr val="dk1"/>
              </a:buClr>
              <a:buSzPts val="1200"/>
              <a:buFont typeface="Arial"/>
              <a:buNone/>
            </a:pPr>
            <a:r>
              <a:rPr lang="en-US"/>
              <a:t>Grok Pricing: </a:t>
            </a:r>
            <a:r>
              <a:rPr lang="en-US" u="sng">
                <a:solidFill>
                  <a:schemeClr val="hlink"/>
                </a:solidFill>
                <a:hlinkClick r:id="rId2"/>
              </a:rPr>
              <a:t>https://grok.com/plans</a:t>
            </a:r>
            <a:endParaRPr/>
          </a:p>
          <a:p>
            <a:pPr indent="0" lvl="0" marL="0" rtl="0" algn="l">
              <a:lnSpc>
                <a:spcPct val="100000"/>
              </a:lnSpc>
              <a:spcBef>
                <a:spcPts val="1200"/>
              </a:spcBef>
              <a:spcAft>
                <a:spcPts val="0"/>
              </a:spcAft>
              <a:buClr>
                <a:schemeClr val="dk1"/>
              </a:buClr>
              <a:buSzPts val="1200"/>
              <a:buFont typeface="Arial"/>
              <a:buNone/>
            </a:pPr>
            <a:r>
              <a:rPr lang="en-US"/>
              <a:t>Kimi Pricing: </a:t>
            </a:r>
            <a:r>
              <a:rPr lang="en-US" u="sng">
                <a:solidFill>
                  <a:schemeClr val="hlink"/>
                </a:solidFill>
                <a:hlinkClick r:id="rId3"/>
              </a:rPr>
              <a:t>https://kimik2ai.com/pricing/</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59" name="Google Shape;159;g3936df5c928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36df5c92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936df5c928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Reconciling the contrasting narratives on the environmental impact of large language models: </a:t>
            </a:r>
            <a:r>
              <a:rPr lang="en-US" u="sng">
                <a:solidFill>
                  <a:schemeClr val="hlink"/>
                </a:solidFill>
                <a:hlinkClick r:id="rId2"/>
              </a:rPr>
              <a:t>https://www.nature.com/articles/s41598-024-76682-6</a:t>
            </a:r>
            <a:endParaRPr/>
          </a:p>
          <a:p>
            <a:pPr indent="0" lvl="0" marL="0" rtl="0" algn="l">
              <a:lnSpc>
                <a:spcPct val="100000"/>
              </a:lnSpc>
              <a:spcBef>
                <a:spcPts val="1200"/>
              </a:spcBef>
              <a:spcAft>
                <a:spcPts val="0"/>
              </a:spcAft>
              <a:buClr>
                <a:schemeClr val="dk1"/>
              </a:buClr>
              <a:buSzPts val="1200"/>
              <a:buFont typeface="Arial"/>
              <a:buNone/>
            </a:pPr>
            <a:r>
              <a:rPr lang="en-US"/>
              <a:t>HuggingFace </a:t>
            </a:r>
            <a:r>
              <a:rPr lang="en-US"/>
              <a:t>Energy</a:t>
            </a:r>
            <a:r>
              <a:rPr lang="en-US"/>
              <a:t> Score: https://huggingface.co/spaces/AIEnergyScore/Leaderboard</a:t>
            </a:r>
            <a:endParaRPr/>
          </a:p>
        </p:txBody>
      </p:sp>
      <p:sp>
        <p:nvSpPr>
          <p:cNvPr id="167" name="Google Shape;167;g3936df5c928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36df5c928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936df5c928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Energy and Policy Considerations for Deep Learning in NLP: </a:t>
            </a:r>
            <a:r>
              <a:rPr lang="en-US" u="sng">
                <a:solidFill>
                  <a:schemeClr val="hlink"/>
                </a:solidFill>
                <a:hlinkClick r:id="rId2"/>
              </a:rPr>
              <a:t>https://arxiv.org/abs/1906.02243</a:t>
            </a:r>
            <a:endParaRPr/>
          </a:p>
          <a:p>
            <a:pPr indent="0" lvl="0" marL="0" rtl="0" algn="l">
              <a:lnSpc>
                <a:spcPct val="100000"/>
              </a:lnSpc>
              <a:spcBef>
                <a:spcPts val="1200"/>
              </a:spcBef>
              <a:spcAft>
                <a:spcPts val="0"/>
              </a:spcAft>
              <a:buClr>
                <a:schemeClr val="dk1"/>
              </a:buClr>
              <a:buSzPts val="1200"/>
              <a:buFont typeface="Arial"/>
              <a:buNone/>
            </a:pPr>
            <a:r>
              <a:rPr lang="en-US"/>
              <a:t>Making AI Less </a:t>
            </a:r>
            <a:r>
              <a:rPr lang="en-US"/>
              <a:t>Thirsty</a:t>
            </a:r>
            <a:r>
              <a:rPr lang="en-US"/>
              <a:t>: </a:t>
            </a:r>
            <a:r>
              <a:rPr lang="en-US" u="sng">
                <a:solidFill>
                  <a:schemeClr val="hlink"/>
                </a:solidFill>
                <a:hlinkClick r:id="rId3"/>
              </a:rPr>
              <a:t>https://dl.acm.org/doi/full/10.1145/3724499</a:t>
            </a:r>
            <a:endParaRPr/>
          </a:p>
          <a:p>
            <a:pPr indent="0" lvl="0" marL="0" rtl="0" algn="l">
              <a:lnSpc>
                <a:spcPct val="100000"/>
              </a:lnSpc>
              <a:spcBef>
                <a:spcPts val="1200"/>
              </a:spcBef>
              <a:spcAft>
                <a:spcPts val="0"/>
              </a:spcAft>
              <a:buClr>
                <a:schemeClr val="dk1"/>
              </a:buClr>
              <a:buSzPts val="1200"/>
              <a:buFont typeface="Arial"/>
              <a:buNone/>
            </a:pPr>
            <a:r>
              <a:rPr lang="en-US"/>
              <a:t>The growing energy footprint of artificial intelligence: </a:t>
            </a:r>
            <a:r>
              <a:rPr lang="en-US" u="sng">
                <a:solidFill>
                  <a:schemeClr val="hlink"/>
                </a:solidFill>
                <a:hlinkClick r:id="rId4"/>
              </a:rPr>
              <a:t>https://www.cell.com/joule/fulltext/S2542-4351(23)00365-3</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75" name="Google Shape;175;g3936df5c928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36df5c928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936df5c928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Energy and Policy Considerations for Deep Learning in NLP: </a:t>
            </a:r>
            <a:r>
              <a:rPr lang="en-US" u="sng">
                <a:solidFill>
                  <a:schemeClr val="hlink"/>
                </a:solidFill>
                <a:hlinkClick r:id="rId2"/>
              </a:rPr>
              <a:t>https://arxiv.org/abs/1906.02243</a:t>
            </a:r>
            <a:endParaRPr/>
          </a:p>
          <a:p>
            <a:pPr indent="0" lvl="0" marL="0" rtl="0" algn="l">
              <a:lnSpc>
                <a:spcPct val="100000"/>
              </a:lnSpc>
              <a:spcBef>
                <a:spcPts val="1200"/>
              </a:spcBef>
              <a:spcAft>
                <a:spcPts val="0"/>
              </a:spcAft>
              <a:buClr>
                <a:schemeClr val="dk1"/>
              </a:buClr>
              <a:buSzPts val="1200"/>
              <a:buFont typeface="Arial"/>
              <a:buNone/>
            </a:pPr>
            <a:r>
              <a:rPr lang="en-US"/>
              <a:t>Making AI Less Thirsty: </a:t>
            </a:r>
            <a:r>
              <a:rPr lang="en-US" u="sng">
                <a:solidFill>
                  <a:schemeClr val="hlink"/>
                </a:solidFill>
                <a:hlinkClick r:id="rId3"/>
              </a:rPr>
              <a:t>https://dl.acm.org/doi/full/10.1145/3724499</a:t>
            </a:r>
            <a:endParaRPr/>
          </a:p>
          <a:p>
            <a:pPr indent="0" lvl="0" marL="0" rtl="0" algn="l">
              <a:lnSpc>
                <a:spcPct val="100000"/>
              </a:lnSpc>
              <a:spcBef>
                <a:spcPts val="1200"/>
              </a:spcBef>
              <a:spcAft>
                <a:spcPts val="0"/>
              </a:spcAft>
              <a:buClr>
                <a:schemeClr val="dk1"/>
              </a:buClr>
              <a:buSzPts val="1200"/>
              <a:buFont typeface="Arial"/>
              <a:buNone/>
            </a:pPr>
            <a:r>
              <a:rPr lang="en-US"/>
              <a:t>The growing energy footprint of artificial intelligence: </a:t>
            </a:r>
            <a:r>
              <a:rPr lang="en-US" u="sng">
                <a:solidFill>
                  <a:schemeClr val="hlink"/>
                </a:solidFill>
                <a:hlinkClick r:id="rId4"/>
              </a:rPr>
              <a:t>https://www.cell.com/joule/fulltext/S2542-4351(23)00365-3</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83" name="Google Shape;183;g3936df5c928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jpg"/><Relationship Id="rId13" Type="http://schemas.openxmlformats.org/officeDocument/2006/relationships/image" Target="../media/image10.png"/><Relationship Id="rId12"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2.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2.jp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161400" y="237800"/>
            <a:ext cx="11201400" cy="899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Evaluating Large </a:t>
            </a:r>
            <a:r>
              <a:rPr lang="en-US">
                <a:latin typeface="Avenir"/>
                <a:ea typeface="Avenir"/>
                <a:cs typeface="Avenir"/>
                <a:sym typeface="Avenir"/>
              </a:rPr>
              <a:t>Language</a:t>
            </a:r>
            <a:r>
              <a:rPr lang="en-US">
                <a:latin typeface="Avenir"/>
                <a:ea typeface="Avenir"/>
                <a:cs typeface="Avenir"/>
                <a:sym typeface="Avenir"/>
              </a:rPr>
              <a:t> Models</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4468100" y="1723375"/>
            <a:ext cx="6304200" cy="815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i="1" lang="en-US" sz="1500">
                <a:solidFill>
                  <a:schemeClr val="dk1"/>
                </a:solidFill>
                <a:latin typeface="Avenir"/>
                <a:ea typeface="Avenir"/>
                <a:cs typeface="Avenir"/>
                <a:sym typeface="Avenir"/>
              </a:rPr>
              <a:t>When you can measure what you are speaking about, and express it in numbers, you know something about it</a:t>
            </a:r>
            <a:endParaRPr b="0" i="0" sz="1600" u="none" cap="none" strike="noStrike">
              <a:solidFill>
                <a:schemeClr val="dk1"/>
              </a:solidFill>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LORD KELVIN</a:t>
            </a: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1883</a:t>
            </a:r>
            <a:r>
              <a:rPr b="1" i="0" lang="en-US" sz="1700" u="none" cap="none" strike="noStrike">
                <a:solidFill>
                  <a:schemeClr val="dk1"/>
                </a:solidFill>
                <a:latin typeface="Avenir"/>
                <a:ea typeface="Avenir"/>
                <a:cs typeface="Avenir"/>
                <a:sym typeface="Avenir"/>
              </a:rPr>
              <a:t>)</a:t>
            </a:r>
            <a:endParaRPr b="1"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79230" y="3824808"/>
            <a:ext cx="6102300" cy="2031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This lecture introduces a practical framework for evaluating Large Language Models (LLMs) by combining qualitative judgment with quantitative benchmarks. Students will learn how to compare models using standardized tests. By the end, you will be able to independently research, compare, and critically evaluate LLMs for different use cases.</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rotWithShape="1">
          <a:blip r:embed="rId4">
            <a:alphaModFix/>
          </a:blip>
          <a:srcRect b="0" l="0" r="50602" t="0"/>
          <a:stretch/>
        </p:blipFill>
        <p:spPr>
          <a:xfrm>
            <a:off x="227322" y="3841600"/>
            <a:ext cx="3132300" cy="19983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934d9c8326_0_2"/>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Why do we Measure</a:t>
            </a:r>
            <a:endParaRPr/>
          </a:p>
        </p:txBody>
      </p:sp>
      <p:sp>
        <p:nvSpPr>
          <p:cNvPr id="101" name="Google Shape;101;g3934d9c8326_0_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2" name="Google Shape;102;g3934d9c8326_0_2" title="download.jpg"/>
          <p:cNvPicPr preferRelativeResize="0"/>
          <p:nvPr/>
        </p:nvPicPr>
        <p:blipFill>
          <a:blip r:embed="rId3">
            <a:alphaModFix/>
          </a:blip>
          <a:stretch>
            <a:fillRect/>
          </a:stretch>
        </p:blipFill>
        <p:spPr>
          <a:xfrm>
            <a:off x="313800" y="1822450"/>
            <a:ext cx="3381375" cy="1352550"/>
          </a:xfrm>
          <a:prstGeom prst="rect">
            <a:avLst/>
          </a:prstGeom>
          <a:noFill/>
          <a:ln>
            <a:noFill/>
          </a:ln>
        </p:spPr>
      </p:pic>
      <p:pic>
        <p:nvPicPr>
          <p:cNvPr id="103" name="Google Shape;103;g3934d9c8326_0_2" title="download.png"/>
          <p:cNvPicPr preferRelativeResize="0"/>
          <p:nvPr/>
        </p:nvPicPr>
        <p:blipFill>
          <a:blip r:embed="rId4">
            <a:alphaModFix/>
          </a:blip>
          <a:stretch>
            <a:fillRect/>
          </a:stretch>
        </p:blipFill>
        <p:spPr>
          <a:xfrm>
            <a:off x="313800" y="3327400"/>
            <a:ext cx="2857500" cy="1600200"/>
          </a:xfrm>
          <a:prstGeom prst="rect">
            <a:avLst/>
          </a:prstGeom>
          <a:noFill/>
          <a:ln>
            <a:noFill/>
          </a:ln>
        </p:spPr>
      </p:pic>
      <p:pic>
        <p:nvPicPr>
          <p:cNvPr id="104" name="Google Shape;104;g3934d9c8326_0_2" title="download.png"/>
          <p:cNvPicPr preferRelativeResize="0"/>
          <p:nvPr/>
        </p:nvPicPr>
        <p:blipFill>
          <a:blip r:embed="rId5">
            <a:alphaModFix/>
          </a:blip>
          <a:stretch>
            <a:fillRect/>
          </a:stretch>
        </p:blipFill>
        <p:spPr>
          <a:xfrm>
            <a:off x="3847575" y="1822450"/>
            <a:ext cx="4619625" cy="990600"/>
          </a:xfrm>
          <a:prstGeom prst="rect">
            <a:avLst/>
          </a:prstGeom>
          <a:noFill/>
          <a:ln>
            <a:noFill/>
          </a:ln>
        </p:spPr>
      </p:pic>
      <p:pic>
        <p:nvPicPr>
          <p:cNvPr id="105" name="Google Shape;105;g3934d9c8326_0_2" title="download.jpg"/>
          <p:cNvPicPr preferRelativeResize="0"/>
          <p:nvPr/>
        </p:nvPicPr>
        <p:blipFill>
          <a:blip r:embed="rId6">
            <a:alphaModFix/>
          </a:blip>
          <a:stretch>
            <a:fillRect/>
          </a:stretch>
        </p:blipFill>
        <p:spPr>
          <a:xfrm>
            <a:off x="3847575" y="2965450"/>
            <a:ext cx="3143250" cy="895350"/>
          </a:xfrm>
          <a:prstGeom prst="rect">
            <a:avLst/>
          </a:prstGeom>
          <a:noFill/>
          <a:ln>
            <a:noFill/>
          </a:ln>
        </p:spPr>
      </p:pic>
      <p:pic>
        <p:nvPicPr>
          <p:cNvPr id="106" name="Google Shape;106;g3934d9c8326_0_2" title="download.png"/>
          <p:cNvPicPr preferRelativeResize="0"/>
          <p:nvPr/>
        </p:nvPicPr>
        <p:blipFill>
          <a:blip r:embed="rId7">
            <a:alphaModFix/>
          </a:blip>
          <a:stretch>
            <a:fillRect/>
          </a:stretch>
        </p:blipFill>
        <p:spPr>
          <a:xfrm>
            <a:off x="3323700" y="4013200"/>
            <a:ext cx="2857500" cy="1600200"/>
          </a:xfrm>
          <a:prstGeom prst="rect">
            <a:avLst/>
          </a:prstGeom>
          <a:noFill/>
          <a:ln>
            <a:noFill/>
          </a:ln>
        </p:spPr>
      </p:pic>
      <p:pic>
        <p:nvPicPr>
          <p:cNvPr id="107" name="Google Shape;107;g3934d9c8326_0_2" title="download.png"/>
          <p:cNvPicPr preferRelativeResize="0"/>
          <p:nvPr/>
        </p:nvPicPr>
        <p:blipFill>
          <a:blip r:embed="rId8">
            <a:alphaModFix/>
          </a:blip>
          <a:stretch>
            <a:fillRect/>
          </a:stretch>
        </p:blipFill>
        <p:spPr>
          <a:xfrm>
            <a:off x="6077302" y="155188"/>
            <a:ext cx="1921650" cy="1441237"/>
          </a:xfrm>
          <a:prstGeom prst="rect">
            <a:avLst/>
          </a:prstGeom>
          <a:noFill/>
          <a:ln>
            <a:noFill/>
          </a:ln>
        </p:spPr>
      </p:pic>
      <p:pic>
        <p:nvPicPr>
          <p:cNvPr id="108" name="Google Shape;108;g3934d9c8326_0_2" title="download.png"/>
          <p:cNvPicPr preferRelativeResize="0"/>
          <p:nvPr/>
        </p:nvPicPr>
        <p:blipFill>
          <a:blip r:embed="rId9">
            <a:alphaModFix/>
          </a:blip>
          <a:stretch>
            <a:fillRect/>
          </a:stretch>
        </p:blipFill>
        <p:spPr>
          <a:xfrm>
            <a:off x="313800" y="5765800"/>
            <a:ext cx="3143250" cy="923925"/>
          </a:xfrm>
          <a:prstGeom prst="rect">
            <a:avLst/>
          </a:prstGeom>
          <a:noFill/>
          <a:ln>
            <a:noFill/>
          </a:ln>
        </p:spPr>
      </p:pic>
      <p:pic>
        <p:nvPicPr>
          <p:cNvPr id="109" name="Google Shape;109;g3934d9c8326_0_2" title="download.jpg"/>
          <p:cNvPicPr preferRelativeResize="0"/>
          <p:nvPr/>
        </p:nvPicPr>
        <p:blipFill>
          <a:blip r:embed="rId10">
            <a:alphaModFix/>
          </a:blip>
          <a:stretch>
            <a:fillRect/>
          </a:stretch>
        </p:blipFill>
        <p:spPr>
          <a:xfrm>
            <a:off x="6333600" y="5032375"/>
            <a:ext cx="2514409" cy="1673225"/>
          </a:xfrm>
          <a:prstGeom prst="rect">
            <a:avLst/>
          </a:prstGeom>
          <a:noFill/>
          <a:ln>
            <a:noFill/>
          </a:ln>
        </p:spPr>
      </p:pic>
      <p:pic>
        <p:nvPicPr>
          <p:cNvPr id="110" name="Google Shape;110;g3934d9c8326_0_2" title="download.png"/>
          <p:cNvPicPr preferRelativeResize="0"/>
          <p:nvPr/>
        </p:nvPicPr>
        <p:blipFill>
          <a:blip r:embed="rId11">
            <a:alphaModFix/>
          </a:blip>
          <a:stretch>
            <a:fillRect/>
          </a:stretch>
        </p:blipFill>
        <p:spPr>
          <a:xfrm>
            <a:off x="9000409" y="5032375"/>
            <a:ext cx="2857500" cy="1600200"/>
          </a:xfrm>
          <a:prstGeom prst="rect">
            <a:avLst/>
          </a:prstGeom>
          <a:noFill/>
          <a:ln>
            <a:noFill/>
          </a:ln>
        </p:spPr>
      </p:pic>
      <p:pic>
        <p:nvPicPr>
          <p:cNvPr id="111" name="Google Shape;111;g3934d9c8326_0_2" title="download.png"/>
          <p:cNvPicPr preferRelativeResize="0"/>
          <p:nvPr/>
        </p:nvPicPr>
        <p:blipFill>
          <a:blip r:embed="rId12">
            <a:alphaModFix/>
          </a:blip>
          <a:stretch>
            <a:fillRect/>
          </a:stretch>
        </p:blipFill>
        <p:spPr>
          <a:xfrm>
            <a:off x="8619600" y="1415475"/>
            <a:ext cx="2724150" cy="1676400"/>
          </a:xfrm>
          <a:prstGeom prst="rect">
            <a:avLst/>
          </a:prstGeom>
          <a:noFill/>
          <a:ln>
            <a:noFill/>
          </a:ln>
        </p:spPr>
      </p:pic>
      <p:pic>
        <p:nvPicPr>
          <p:cNvPr id="112" name="Google Shape;112;g3934d9c8326_0_2" title="download.png"/>
          <p:cNvPicPr preferRelativeResize="0"/>
          <p:nvPr/>
        </p:nvPicPr>
        <p:blipFill>
          <a:blip r:embed="rId13">
            <a:alphaModFix/>
          </a:blip>
          <a:stretch>
            <a:fillRect/>
          </a:stretch>
        </p:blipFill>
        <p:spPr>
          <a:xfrm>
            <a:off x="7212300" y="3244275"/>
            <a:ext cx="1635700" cy="1635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7" name="Shape 117"/>
        <p:cNvGrpSpPr/>
        <p:nvPr/>
      </p:nvGrpSpPr>
      <p:grpSpPr>
        <a:xfrm>
          <a:off x="0" y="0"/>
          <a:ext cx="0" cy="0"/>
          <a:chOff x="0" y="0"/>
          <a:chExt cx="0" cy="0"/>
        </a:xfrm>
      </p:grpSpPr>
      <p:sp>
        <p:nvSpPr>
          <p:cNvPr id="118" name="Google Shape;118;g3934d9c8326_0_37"/>
          <p:cNvSpPr txBox="1"/>
          <p:nvPr>
            <p:ph type="title"/>
          </p:nvPr>
        </p:nvSpPr>
        <p:spPr>
          <a:xfrm>
            <a:off x="465372" y="344350"/>
            <a:ext cx="100398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Hierarchy</a:t>
            </a:r>
            <a:r>
              <a:rPr lang="en-US">
                <a:latin typeface="Avenir"/>
                <a:ea typeface="Avenir"/>
                <a:cs typeface="Avenir"/>
                <a:sym typeface="Avenir"/>
              </a:rPr>
              <a:t> of a Large </a:t>
            </a:r>
            <a:r>
              <a:rPr lang="en-US">
                <a:latin typeface="Avenir"/>
                <a:ea typeface="Avenir"/>
                <a:cs typeface="Avenir"/>
                <a:sym typeface="Avenir"/>
              </a:rPr>
              <a:t>Language</a:t>
            </a:r>
            <a:r>
              <a:rPr lang="en-US">
                <a:latin typeface="Avenir"/>
                <a:ea typeface="Avenir"/>
                <a:cs typeface="Avenir"/>
                <a:sym typeface="Avenir"/>
              </a:rPr>
              <a:t> Model</a:t>
            </a:r>
            <a:endParaRPr/>
          </a:p>
        </p:txBody>
      </p:sp>
      <p:sp>
        <p:nvSpPr>
          <p:cNvPr id="119" name="Google Shape;119;g3934d9c8326_0_37"/>
          <p:cNvSpPr txBox="1"/>
          <p:nvPr>
            <p:ph idx="1" type="body"/>
          </p:nvPr>
        </p:nvSpPr>
        <p:spPr>
          <a:xfrm>
            <a:off x="382250" y="1825625"/>
            <a:ext cx="5284800" cy="48978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0"/>
              </a:spcBef>
              <a:spcAft>
                <a:spcPts val="0"/>
              </a:spcAft>
              <a:buSzPts val="1800"/>
              <a:buFont typeface="Avenir"/>
              <a:buChar char="●"/>
            </a:pPr>
            <a:r>
              <a:rPr b="1" lang="en-US" u="sng">
                <a:latin typeface="Avenir"/>
                <a:ea typeface="Avenir"/>
                <a:cs typeface="Avenir"/>
                <a:sym typeface="Avenir"/>
              </a:rPr>
              <a:t>OpenAI </a:t>
            </a:r>
            <a:r>
              <a:rPr lang="en-US">
                <a:latin typeface="Avenir"/>
                <a:ea typeface="Avenir"/>
                <a:cs typeface="Avenir"/>
                <a:sym typeface="Avenir"/>
              </a:rPr>
              <a:t>- Company that builds and operates the models and products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u="sng">
                <a:latin typeface="Avenir"/>
                <a:ea typeface="Avenir"/>
                <a:cs typeface="Avenir"/>
                <a:sym typeface="Avenir"/>
              </a:rPr>
              <a:t>ChatGPT</a:t>
            </a:r>
            <a:r>
              <a:rPr lang="en-US">
                <a:latin typeface="Avenir"/>
                <a:ea typeface="Avenir"/>
                <a:cs typeface="Avenir"/>
                <a:sym typeface="Avenir"/>
              </a:rPr>
              <a:t> - End-user app that lets you talk to models with a UI and built-in features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u="sng">
                <a:latin typeface="Avenir"/>
                <a:ea typeface="Avenir"/>
                <a:cs typeface="Avenir"/>
                <a:sym typeface="Avenir"/>
              </a:rPr>
              <a:t>GPT-5.2 </a:t>
            </a:r>
            <a:r>
              <a:rPr lang="en-US">
                <a:latin typeface="Avenir"/>
                <a:ea typeface="Avenir"/>
                <a:cs typeface="Avenir"/>
                <a:sym typeface="Avenir"/>
              </a:rPr>
              <a:t>- GPT-5.2 is a model family; a particular generation/version of OpenAI’s GPT models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u="sng">
                <a:latin typeface="Avenir"/>
                <a:ea typeface="Avenir"/>
                <a:cs typeface="Avenir"/>
                <a:sym typeface="Avenir"/>
              </a:rPr>
              <a:t>GPT-5.2 Search</a:t>
            </a:r>
            <a:r>
              <a:rPr lang="en-US">
                <a:latin typeface="Avenir"/>
                <a:ea typeface="Avenir"/>
                <a:cs typeface="Avenir"/>
                <a:sym typeface="Avenir"/>
              </a:rPr>
              <a:t>- A specific model within the GPT-5.2 model framework</a:t>
            </a:r>
            <a:endParaRPr>
              <a:latin typeface="Avenir"/>
              <a:ea typeface="Avenir"/>
              <a:cs typeface="Avenir"/>
              <a:sym typeface="Avenir"/>
            </a:endParaRPr>
          </a:p>
        </p:txBody>
      </p:sp>
      <p:sp>
        <p:nvSpPr>
          <p:cNvPr id="120" name="Google Shape;120;g3934d9c8326_0_3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1" name="Google Shape;121;g3934d9c8326_0_37"/>
          <p:cNvPicPr preferRelativeResize="0"/>
          <p:nvPr/>
        </p:nvPicPr>
        <p:blipFill rotWithShape="1">
          <a:blip r:embed="rId3">
            <a:alphaModFix/>
          </a:blip>
          <a:srcRect b="1193" l="0" r="0" t="19767"/>
          <a:stretch/>
        </p:blipFill>
        <p:spPr>
          <a:xfrm>
            <a:off x="5870850" y="2244477"/>
            <a:ext cx="6054600" cy="32505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6" name="Shape 126"/>
        <p:cNvGrpSpPr/>
        <p:nvPr/>
      </p:nvGrpSpPr>
      <p:grpSpPr>
        <a:xfrm>
          <a:off x="0" y="0"/>
          <a:ext cx="0" cy="0"/>
          <a:chOff x="0" y="0"/>
          <a:chExt cx="0" cy="0"/>
        </a:xfrm>
      </p:grpSpPr>
      <p:sp>
        <p:nvSpPr>
          <p:cNvPr id="127" name="Google Shape;127;g3936df5c928_0_13"/>
          <p:cNvSpPr txBox="1"/>
          <p:nvPr>
            <p:ph type="title"/>
          </p:nvPr>
        </p:nvSpPr>
        <p:spPr>
          <a:xfrm>
            <a:off x="465372" y="344350"/>
            <a:ext cx="100398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Qualitative Performance</a:t>
            </a:r>
            <a:endParaRPr/>
          </a:p>
        </p:txBody>
      </p:sp>
      <p:sp>
        <p:nvSpPr>
          <p:cNvPr id="128" name="Google Shape;128;g3936df5c928_0_1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9" name="Google Shape;129;g3936df5c928_0_13"/>
          <p:cNvPicPr preferRelativeResize="0"/>
          <p:nvPr/>
        </p:nvPicPr>
        <p:blipFill>
          <a:blip r:embed="rId3">
            <a:alphaModFix/>
          </a:blip>
          <a:stretch>
            <a:fillRect/>
          </a:stretch>
        </p:blipFill>
        <p:spPr>
          <a:xfrm>
            <a:off x="1362075" y="1825625"/>
            <a:ext cx="9467850" cy="428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4" name="Shape 134"/>
        <p:cNvGrpSpPr/>
        <p:nvPr/>
      </p:nvGrpSpPr>
      <p:grpSpPr>
        <a:xfrm>
          <a:off x="0" y="0"/>
          <a:ext cx="0" cy="0"/>
          <a:chOff x="0" y="0"/>
          <a:chExt cx="0" cy="0"/>
        </a:xfrm>
      </p:grpSpPr>
      <p:sp>
        <p:nvSpPr>
          <p:cNvPr id="135" name="Google Shape;135;g3936df5c928_0_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Quantitative Performance</a:t>
            </a:r>
            <a:endParaRPr/>
          </a:p>
        </p:txBody>
      </p:sp>
      <p:sp>
        <p:nvSpPr>
          <p:cNvPr id="136" name="Google Shape;136;g3936df5c928_0_0"/>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Massive Multitask </a:t>
            </a:r>
            <a:r>
              <a:rPr lang="en-US">
                <a:latin typeface="Avenir"/>
                <a:ea typeface="Avenir"/>
                <a:cs typeface="Avenir"/>
                <a:sym typeface="Avenir"/>
              </a:rPr>
              <a:t>Language</a:t>
            </a:r>
            <a:r>
              <a:rPr lang="en-US">
                <a:latin typeface="Avenir"/>
                <a:ea typeface="Avenir"/>
                <a:cs typeface="Avenir"/>
                <a:sym typeface="Avenir"/>
              </a:rPr>
              <a:t> Understanding Pro (MMLU Pro)</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8051 multiple choice questions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Gemini 3 Pro: 90.10%</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GPT4o 72.6%</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37" name="Google Shape;137;g3936df5c928_0_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38" name="Google Shape;138;g3936df5c928_0_0"/>
          <p:cNvPicPr preferRelativeResize="0"/>
          <p:nvPr/>
        </p:nvPicPr>
        <p:blipFill>
          <a:blip r:embed="rId3">
            <a:alphaModFix/>
          </a:blip>
          <a:stretch>
            <a:fillRect/>
          </a:stretch>
        </p:blipFill>
        <p:spPr>
          <a:xfrm>
            <a:off x="5709002" y="2948477"/>
            <a:ext cx="5366650" cy="377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3" name="Shape 143"/>
        <p:cNvGrpSpPr/>
        <p:nvPr/>
      </p:nvGrpSpPr>
      <p:grpSpPr>
        <a:xfrm>
          <a:off x="0" y="0"/>
          <a:ext cx="0" cy="0"/>
          <a:chOff x="0" y="0"/>
          <a:chExt cx="0" cy="0"/>
        </a:xfrm>
      </p:grpSpPr>
      <p:sp>
        <p:nvSpPr>
          <p:cNvPr id="144" name="Google Shape;144;g3936df5c928_0_24"/>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Quantitative Performance</a:t>
            </a:r>
            <a:endParaRPr/>
          </a:p>
        </p:txBody>
      </p:sp>
      <p:sp>
        <p:nvSpPr>
          <p:cNvPr id="145" name="Google Shape;145;g3936df5c928_0_24"/>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Graduate Level Google Proof Question and Answer (GPQA)</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448 multiple choice questions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Expert Humans: 72.5%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Non Expert Humans: 34%</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Gemini 3 Pro: 30.5%</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GPT4 with search - 41.0%</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Gemini 3 pro &amp; GPT5.2 91.67%</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46" name="Google Shape;146;g3936df5c928_0_2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1" name="Shape 151"/>
        <p:cNvGrpSpPr/>
        <p:nvPr/>
      </p:nvGrpSpPr>
      <p:grpSpPr>
        <a:xfrm>
          <a:off x="0" y="0"/>
          <a:ext cx="0" cy="0"/>
          <a:chOff x="0" y="0"/>
          <a:chExt cx="0" cy="0"/>
        </a:xfrm>
      </p:grpSpPr>
      <p:sp>
        <p:nvSpPr>
          <p:cNvPr id="152" name="Google Shape;152;g3934d9c8326_0_96"/>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Security, Privacy, Compliance</a:t>
            </a:r>
            <a:endParaRPr/>
          </a:p>
        </p:txBody>
      </p:sp>
      <p:sp>
        <p:nvSpPr>
          <p:cNvPr id="153" name="Google Shape;153;g3934d9c8326_0_96"/>
          <p:cNvSpPr txBox="1"/>
          <p:nvPr>
            <p:ph idx="1" type="body"/>
          </p:nvPr>
        </p:nvSpPr>
        <p:spPr>
          <a:xfrm>
            <a:off x="382250" y="1825625"/>
            <a:ext cx="59208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Where is the company based?</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Where does my data live?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What can the company do with my data?</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What standards does the company comply with?</a:t>
            </a:r>
            <a:endParaRPr>
              <a:latin typeface="Avenir"/>
              <a:ea typeface="Avenir"/>
              <a:cs typeface="Avenir"/>
              <a:sym typeface="Avenir"/>
            </a:endParaRPr>
          </a:p>
        </p:txBody>
      </p:sp>
      <p:sp>
        <p:nvSpPr>
          <p:cNvPr id="154" name="Google Shape;154;g3934d9c8326_0_9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55" name="Google Shape;155;g3934d9c8326_0_96"/>
          <p:cNvPicPr preferRelativeResize="0"/>
          <p:nvPr/>
        </p:nvPicPr>
        <p:blipFill>
          <a:blip r:embed="rId3">
            <a:alphaModFix/>
          </a:blip>
          <a:stretch>
            <a:fillRect/>
          </a:stretch>
        </p:blipFill>
        <p:spPr>
          <a:xfrm>
            <a:off x="6303125" y="2045588"/>
            <a:ext cx="5763175" cy="4457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0" name="Shape 160"/>
        <p:cNvGrpSpPr/>
        <p:nvPr/>
      </p:nvGrpSpPr>
      <p:grpSpPr>
        <a:xfrm>
          <a:off x="0" y="0"/>
          <a:ext cx="0" cy="0"/>
          <a:chOff x="0" y="0"/>
          <a:chExt cx="0" cy="0"/>
        </a:xfrm>
      </p:grpSpPr>
      <p:sp>
        <p:nvSpPr>
          <p:cNvPr id="161" name="Google Shape;161;g3936df5c928_0_105"/>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Cost for Model</a:t>
            </a:r>
            <a:endParaRPr/>
          </a:p>
        </p:txBody>
      </p:sp>
      <p:sp>
        <p:nvSpPr>
          <p:cNvPr id="162" name="Google Shape;162;g3936df5c928_0_105"/>
          <p:cNvSpPr txBox="1"/>
          <p:nvPr>
            <p:ph idx="1" type="body"/>
          </p:nvPr>
        </p:nvSpPr>
        <p:spPr>
          <a:xfrm>
            <a:off x="382250" y="1825625"/>
            <a:ext cx="114846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ChatGPT Pro- $20 per month</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Google Gemini AI Pro - $20 per month</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Claude Pro - $17 per month</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Grok SuperGrok - $30 per month</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Kimi K2 Moderato - $19 per month</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Qwen Chat - Free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Deepseek Chat - Free</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63" name="Google Shape;163;g3936df5c928_0_10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sp>
        <p:nvSpPr>
          <p:cNvPr id="169" name="Google Shape;169;g3936df5c928_0_39"/>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Cost of using the Model</a:t>
            </a:r>
            <a:endParaRPr/>
          </a:p>
        </p:txBody>
      </p:sp>
      <p:sp>
        <p:nvSpPr>
          <p:cNvPr id="170" name="Google Shape;170;g3936df5c928_0_3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171" name="Google Shape;171;g3936df5c928_0_39"/>
          <p:cNvGraphicFramePr/>
          <p:nvPr/>
        </p:nvGraphicFramePr>
        <p:xfrm>
          <a:off x="665250" y="2289975"/>
          <a:ext cx="3000000" cy="3000000"/>
        </p:xfrm>
        <a:graphic>
          <a:graphicData uri="http://schemas.openxmlformats.org/drawingml/2006/table">
            <a:tbl>
              <a:tblPr>
                <a:noFill/>
                <a:tableStyleId>{93519149-25FB-4271-AFD4-DE01F3D88B21}</a:tableStyleId>
              </a:tblPr>
              <a:tblGrid>
                <a:gridCol w="2104075"/>
                <a:gridCol w="2104075"/>
                <a:gridCol w="2104075"/>
                <a:gridCol w="2104075"/>
                <a:gridCol w="2104075"/>
              </a:tblGrid>
              <a:tr h="701400">
                <a:tc>
                  <a:txBody>
                    <a:bodyPr/>
                    <a:lstStyle/>
                    <a:p>
                      <a:pPr indent="0" lvl="0" marL="0" rtl="0" algn="l">
                        <a:spcBef>
                          <a:spcPts val="0"/>
                        </a:spcBef>
                        <a:spcAft>
                          <a:spcPts val="0"/>
                        </a:spcAft>
                        <a:buNone/>
                      </a:pPr>
                      <a:r>
                        <a:t/>
                      </a:r>
                      <a:endParaRPr sz="2400"/>
                    </a:p>
                  </a:txBody>
                  <a:tcPr marT="91425" marB="91425" marR="91425" marL="91425"/>
                </a:tc>
                <a:tc>
                  <a:txBody>
                    <a:bodyPr/>
                    <a:lstStyle/>
                    <a:p>
                      <a:pPr indent="0" lvl="0" marL="0" rtl="0" algn="l">
                        <a:spcBef>
                          <a:spcPts val="0"/>
                        </a:spcBef>
                        <a:spcAft>
                          <a:spcPts val="0"/>
                        </a:spcAft>
                        <a:buNone/>
                      </a:pPr>
                      <a:r>
                        <a:rPr b="1" lang="en-US" sz="2400"/>
                        <a:t>Energy</a:t>
                      </a:r>
                      <a:endParaRPr b="1" sz="2400"/>
                    </a:p>
                  </a:txBody>
                  <a:tcPr marT="91425" marB="91425" marR="91425" marL="91425"/>
                </a:tc>
                <a:tc>
                  <a:txBody>
                    <a:bodyPr/>
                    <a:lstStyle/>
                    <a:p>
                      <a:pPr indent="0" lvl="0" marL="0" rtl="0" algn="l">
                        <a:spcBef>
                          <a:spcPts val="0"/>
                        </a:spcBef>
                        <a:spcAft>
                          <a:spcPts val="0"/>
                        </a:spcAft>
                        <a:buNone/>
                      </a:pPr>
                      <a:r>
                        <a:rPr b="1" lang="en-US" sz="2400"/>
                        <a:t>Water</a:t>
                      </a:r>
                      <a:endParaRPr b="1" sz="2400"/>
                    </a:p>
                  </a:txBody>
                  <a:tcPr marT="91425" marB="91425" marR="91425" marL="91425"/>
                </a:tc>
                <a:tc>
                  <a:txBody>
                    <a:bodyPr/>
                    <a:lstStyle/>
                    <a:p>
                      <a:pPr indent="0" lvl="0" marL="0" rtl="0" algn="l">
                        <a:spcBef>
                          <a:spcPts val="0"/>
                        </a:spcBef>
                        <a:spcAft>
                          <a:spcPts val="0"/>
                        </a:spcAft>
                        <a:buNone/>
                      </a:pPr>
                      <a:r>
                        <a:rPr b="1" lang="en-US" sz="2400"/>
                        <a:t>Carbon</a:t>
                      </a:r>
                      <a:endParaRPr b="1" sz="2400"/>
                    </a:p>
                  </a:txBody>
                  <a:tcPr marT="91425" marB="91425" marR="91425" marL="91425"/>
                </a:tc>
                <a:tc>
                  <a:txBody>
                    <a:bodyPr/>
                    <a:lstStyle/>
                    <a:p>
                      <a:pPr indent="0" lvl="0" marL="0" rtl="0" algn="l">
                        <a:spcBef>
                          <a:spcPts val="0"/>
                        </a:spcBef>
                        <a:spcAft>
                          <a:spcPts val="0"/>
                        </a:spcAft>
                        <a:buNone/>
                      </a:pPr>
                      <a:r>
                        <a:rPr b="1" lang="en-US" sz="2400"/>
                        <a:t>Dollars</a:t>
                      </a:r>
                      <a:endParaRPr b="1" sz="2400"/>
                    </a:p>
                  </a:txBody>
                  <a:tcPr marT="91425" marB="91425" marR="91425" marL="91425"/>
                </a:tc>
              </a:tr>
              <a:tr h="701400">
                <a:tc>
                  <a:txBody>
                    <a:bodyPr/>
                    <a:lstStyle/>
                    <a:p>
                      <a:pPr indent="0" lvl="0" marL="0" rtl="0" algn="l">
                        <a:spcBef>
                          <a:spcPts val="0"/>
                        </a:spcBef>
                        <a:spcAft>
                          <a:spcPts val="0"/>
                        </a:spcAft>
                        <a:buNone/>
                      </a:pPr>
                      <a:r>
                        <a:rPr b="1" lang="en-US" sz="2400"/>
                        <a:t>Human</a:t>
                      </a:r>
                      <a:endParaRPr b="1" sz="2400"/>
                    </a:p>
                  </a:txBody>
                  <a:tcPr marT="91425" marB="91425" marR="91425" marL="91425"/>
                </a:tc>
                <a:tc>
                  <a:txBody>
                    <a:bodyPr/>
                    <a:lstStyle/>
                    <a:p>
                      <a:pPr indent="0" lvl="0" marL="0" rtl="0" algn="l">
                        <a:spcBef>
                          <a:spcPts val="0"/>
                        </a:spcBef>
                        <a:spcAft>
                          <a:spcPts val="0"/>
                        </a:spcAft>
                        <a:buNone/>
                      </a:pPr>
                      <a:r>
                        <a:rPr lang="en-US" sz="2400"/>
                        <a:t>0.85 kWh</a:t>
                      </a:r>
                      <a:endParaRPr sz="2400"/>
                    </a:p>
                  </a:txBody>
                  <a:tcPr marT="91425" marB="91425" marR="91425" marL="91425"/>
                </a:tc>
                <a:tc>
                  <a:txBody>
                    <a:bodyPr/>
                    <a:lstStyle/>
                    <a:p>
                      <a:pPr indent="0" lvl="0" marL="0" rtl="0" algn="l">
                        <a:spcBef>
                          <a:spcPts val="0"/>
                        </a:spcBef>
                        <a:spcAft>
                          <a:spcPts val="0"/>
                        </a:spcAft>
                        <a:buNone/>
                      </a:pPr>
                      <a:r>
                        <a:rPr lang="en-US" sz="2400"/>
                        <a:t>5.68L</a:t>
                      </a:r>
                      <a:endParaRPr sz="2400"/>
                    </a:p>
                  </a:txBody>
                  <a:tcPr marT="91425" marB="91425" marR="91425" marL="91425"/>
                </a:tc>
                <a:tc>
                  <a:txBody>
                    <a:bodyPr/>
                    <a:lstStyle/>
                    <a:p>
                      <a:pPr indent="0" lvl="0" marL="0" rtl="0" algn="l">
                        <a:spcBef>
                          <a:spcPts val="0"/>
                        </a:spcBef>
                        <a:spcAft>
                          <a:spcPts val="0"/>
                        </a:spcAft>
                        <a:buNone/>
                      </a:pPr>
                      <a:r>
                        <a:rPr lang="en-US" sz="2400"/>
                        <a:t>800 grams</a:t>
                      </a:r>
                      <a:endParaRPr sz="2400"/>
                    </a:p>
                  </a:txBody>
                  <a:tcPr marT="91425" marB="91425" marR="91425" marL="91425"/>
                </a:tc>
                <a:tc>
                  <a:txBody>
                    <a:bodyPr/>
                    <a:lstStyle/>
                    <a:p>
                      <a:pPr indent="0" lvl="0" marL="0" rtl="0" algn="l">
                        <a:spcBef>
                          <a:spcPts val="0"/>
                        </a:spcBef>
                        <a:spcAft>
                          <a:spcPts val="0"/>
                        </a:spcAft>
                        <a:buNone/>
                      </a:pPr>
                      <a:r>
                        <a:rPr lang="en-US" sz="2400"/>
                        <a:t>$12.08</a:t>
                      </a:r>
                      <a:endParaRPr sz="2400"/>
                    </a:p>
                  </a:txBody>
                  <a:tcPr marT="91425" marB="91425" marR="91425" marL="91425"/>
                </a:tc>
              </a:tr>
              <a:tr h="701400">
                <a:tc>
                  <a:txBody>
                    <a:bodyPr/>
                    <a:lstStyle/>
                    <a:p>
                      <a:pPr indent="0" lvl="0" marL="0" rtl="0" algn="l">
                        <a:spcBef>
                          <a:spcPts val="0"/>
                        </a:spcBef>
                        <a:spcAft>
                          <a:spcPts val="0"/>
                        </a:spcAft>
                        <a:buNone/>
                      </a:pPr>
                      <a:r>
                        <a:rPr b="1" lang="en-US" sz="2400"/>
                        <a:t>Llamma3</a:t>
                      </a:r>
                      <a:endParaRPr b="1" sz="2400"/>
                    </a:p>
                  </a:txBody>
                  <a:tcPr marT="91425" marB="91425" marR="91425" marL="91425"/>
                </a:tc>
                <a:tc>
                  <a:txBody>
                    <a:bodyPr/>
                    <a:lstStyle/>
                    <a:p>
                      <a:pPr indent="0" lvl="0" marL="0" rtl="0" algn="l">
                        <a:spcBef>
                          <a:spcPts val="0"/>
                        </a:spcBef>
                        <a:spcAft>
                          <a:spcPts val="0"/>
                        </a:spcAft>
                        <a:buNone/>
                      </a:pPr>
                      <a:r>
                        <a:rPr lang="en-US" sz="2400"/>
                        <a:t>0.0195 kWh</a:t>
                      </a:r>
                      <a:endParaRPr sz="2400"/>
                    </a:p>
                  </a:txBody>
                  <a:tcPr marT="91425" marB="91425" marR="91425" marL="91425"/>
                </a:tc>
                <a:tc>
                  <a:txBody>
                    <a:bodyPr/>
                    <a:lstStyle/>
                    <a:p>
                      <a:pPr indent="0" lvl="0" marL="0" rtl="0" algn="l">
                        <a:spcBef>
                          <a:spcPts val="0"/>
                        </a:spcBef>
                        <a:spcAft>
                          <a:spcPts val="0"/>
                        </a:spcAft>
                        <a:buNone/>
                      </a:pPr>
                      <a:r>
                        <a:rPr lang="en-US" sz="2400"/>
                        <a:t>70.5 ml</a:t>
                      </a:r>
                      <a:endParaRPr sz="2400"/>
                    </a:p>
                  </a:txBody>
                  <a:tcPr marT="91425" marB="91425" marR="91425" marL="91425"/>
                </a:tc>
                <a:tc>
                  <a:txBody>
                    <a:bodyPr/>
                    <a:lstStyle/>
                    <a:p>
                      <a:pPr indent="0" lvl="0" marL="0" rtl="0" algn="l">
                        <a:spcBef>
                          <a:spcPts val="0"/>
                        </a:spcBef>
                        <a:spcAft>
                          <a:spcPts val="0"/>
                        </a:spcAft>
                        <a:buNone/>
                      </a:pPr>
                      <a:r>
                        <a:rPr lang="en-US" sz="2400"/>
                        <a:t>7.6 grams</a:t>
                      </a:r>
                      <a:endParaRPr sz="2400"/>
                    </a:p>
                  </a:txBody>
                  <a:tcPr marT="91425" marB="91425" marR="91425" marL="91425"/>
                </a:tc>
                <a:tc>
                  <a:txBody>
                    <a:bodyPr/>
                    <a:lstStyle/>
                    <a:p>
                      <a:pPr indent="0" lvl="0" marL="0" rtl="0" algn="l">
                        <a:spcBef>
                          <a:spcPts val="0"/>
                        </a:spcBef>
                        <a:spcAft>
                          <a:spcPts val="0"/>
                        </a:spcAft>
                        <a:buNone/>
                      </a:pPr>
                      <a:r>
                        <a:rPr lang="en-US" sz="2400"/>
                        <a:t>$0.08</a:t>
                      </a:r>
                      <a:endParaRPr sz="2400"/>
                    </a:p>
                  </a:txBody>
                  <a:tcPr marT="91425" marB="91425" marR="91425" marL="91425"/>
                </a:tc>
              </a:tr>
              <a:tr h="701400">
                <a:tc>
                  <a:txBody>
                    <a:bodyPr/>
                    <a:lstStyle/>
                    <a:p>
                      <a:pPr indent="0" lvl="0" marL="0" rtl="0" algn="l">
                        <a:spcBef>
                          <a:spcPts val="0"/>
                        </a:spcBef>
                        <a:spcAft>
                          <a:spcPts val="0"/>
                        </a:spcAft>
                        <a:buNone/>
                      </a:pPr>
                      <a:r>
                        <a:rPr b="1" lang="en-US" sz="2400"/>
                        <a:t>Gemma</a:t>
                      </a:r>
                      <a:endParaRPr b="1" sz="2400"/>
                    </a:p>
                  </a:txBody>
                  <a:tcPr marT="91425" marB="91425" marR="91425" marL="91425"/>
                </a:tc>
                <a:tc>
                  <a:txBody>
                    <a:bodyPr/>
                    <a:lstStyle/>
                    <a:p>
                      <a:pPr indent="0" lvl="0" marL="0" rtl="0" algn="l">
                        <a:spcBef>
                          <a:spcPts val="0"/>
                        </a:spcBef>
                        <a:spcAft>
                          <a:spcPts val="0"/>
                        </a:spcAft>
                        <a:buNone/>
                      </a:pPr>
                      <a:r>
                        <a:rPr lang="en-US" sz="2400"/>
                        <a:t>0.00024 kWh</a:t>
                      </a:r>
                      <a:endParaRPr sz="2400"/>
                    </a:p>
                  </a:txBody>
                  <a:tcPr marT="91425" marB="91425" marR="91425" marL="91425"/>
                </a:tc>
                <a:tc>
                  <a:txBody>
                    <a:bodyPr/>
                    <a:lstStyle/>
                    <a:p>
                      <a:pPr indent="0" lvl="0" marL="0" rtl="0" algn="l">
                        <a:spcBef>
                          <a:spcPts val="0"/>
                        </a:spcBef>
                        <a:spcAft>
                          <a:spcPts val="0"/>
                        </a:spcAft>
                        <a:buNone/>
                      </a:pPr>
                      <a:r>
                        <a:rPr lang="en-US" sz="2400"/>
                        <a:t>1.69 ml</a:t>
                      </a:r>
                      <a:endParaRPr sz="2400"/>
                    </a:p>
                  </a:txBody>
                  <a:tcPr marT="91425" marB="91425" marR="91425" marL="91425"/>
                </a:tc>
                <a:tc>
                  <a:txBody>
                    <a:bodyPr/>
                    <a:lstStyle/>
                    <a:p>
                      <a:pPr indent="0" lvl="0" marL="0" rtl="0" algn="l">
                        <a:spcBef>
                          <a:spcPts val="0"/>
                        </a:spcBef>
                        <a:spcAft>
                          <a:spcPts val="0"/>
                        </a:spcAft>
                        <a:buNone/>
                      </a:pPr>
                      <a:r>
                        <a:rPr lang="en-US" sz="2400"/>
                        <a:t>0.18 gram</a:t>
                      </a:r>
                      <a:endParaRPr sz="2400"/>
                    </a:p>
                  </a:txBody>
                  <a:tcPr marT="91425" marB="91425" marR="91425" marL="91425"/>
                </a:tc>
                <a:tc>
                  <a:txBody>
                    <a:bodyPr/>
                    <a:lstStyle/>
                    <a:p>
                      <a:pPr indent="0" lvl="0" marL="0" rtl="0" algn="l">
                        <a:spcBef>
                          <a:spcPts val="0"/>
                        </a:spcBef>
                        <a:spcAft>
                          <a:spcPts val="0"/>
                        </a:spcAft>
                        <a:buNone/>
                      </a:pPr>
                      <a:r>
                        <a:rPr lang="en-US" sz="2400"/>
                        <a:t>$0.01</a:t>
                      </a:r>
                      <a:endParaRPr sz="24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6" name="Shape 176"/>
        <p:cNvGrpSpPr/>
        <p:nvPr/>
      </p:nvGrpSpPr>
      <p:grpSpPr>
        <a:xfrm>
          <a:off x="0" y="0"/>
          <a:ext cx="0" cy="0"/>
          <a:chOff x="0" y="0"/>
          <a:chExt cx="0" cy="0"/>
        </a:xfrm>
      </p:grpSpPr>
      <p:sp>
        <p:nvSpPr>
          <p:cNvPr id="177" name="Google Shape;177;g3936df5c928_0_75"/>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Cost of training the model</a:t>
            </a:r>
            <a:endParaRPr/>
          </a:p>
        </p:txBody>
      </p:sp>
      <p:sp>
        <p:nvSpPr>
          <p:cNvPr id="178" name="Google Shape;178;g3936df5c928_0_75"/>
          <p:cNvSpPr txBox="1"/>
          <p:nvPr>
            <p:ph idx="1" type="body"/>
          </p:nvPr>
        </p:nvSpPr>
        <p:spPr>
          <a:xfrm>
            <a:off x="382250" y="1825625"/>
            <a:ext cx="114846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GPT3 Parameters - 175 Billion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GPT3 </a:t>
            </a:r>
            <a:r>
              <a:rPr lang="en-US">
                <a:latin typeface="Avenir"/>
                <a:ea typeface="Avenir"/>
                <a:cs typeface="Avenir"/>
                <a:sym typeface="Avenir"/>
              </a:rPr>
              <a:t>Energy</a:t>
            </a:r>
            <a:r>
              <a:rPr lang="en-US">
                <a:latin typeface="Avenir"/>
                <a:ea typeface="Avenir"/>
                <a:cs typeface="Avenir"/>
                <a:sym typeface="Avenir"/>
              </a:rPr>
              <a:t> - 1,287,000 kWh ~120 US homes for 1 year</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GPT3 Water- 700,000 liters ~¼ of an </a:t>
            </a:r>
            <a:r>
              <a:rPr lang="en-US">
                <a:latin typeface="Avenir"/>
                <a:ea typeface="Avenir"/>
                <a:cs typeface="Avenir"/>
                <a:sym typeface="Avenir"/>
              </a:rPr>
              <a:t>olympic</a:t>
            </a:r>
            <a:r>
              <a:rPr lang="en-US">
                <a:latin typeface="Avenir"/>
                <a:ea typeface="Avenir"/>
                <a:cs typeface="Avenir"/>
                <a:sym typeface="Avenir"/>
              </a:rPr>
              <a:t> swimming pool</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GPT3 Carbon - 514,800 kg ~112 years of cars</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179" name="Google Shape;179;g3936df5c928_0_7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4" name="Shape 184"/>
        <p:cNvGrpSpPr/>
        <p:nvPr/>
      </p:nvGrpSpPr>
      <p:grpSpPr>
        <a:xfrm>
          <a:off x="0" y="0"/>
          <a:ext cx="0" cy="0"/>
          <a:chOff x="0" y="0"/>
          <a:chExt cx="0" cy="0"/>
        </a:xfrm>
      </p:grpSpPr>
      <p:sp>
        <p:nvSpPr>
          <p:cNvPr id="185" name="Google Shape;185;g3936df5c928_0_118"/>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Intangibles</a:t>
            </a:r>
            <a:endParaRPr/>
          </a:p>
        </p:txBody>
      </p:sp>
      <p:sp>
        <p:nvSpPr>
          <p:cNvPr id="186" name="Google Shape;186;g3936df5c928_0_118"/>
          <p:cNvSpPr txBox="1"/>
          <p:nvPr>
            <p:ph idx="1" type="body"/>
          </p:nvPr>
        </p:nvSpPr>
        <p:spPr>
          <a:xfrm>
            <a:off x="382250" y="1825625"/>
            <a:ext cx="114846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Company Reputation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Company ESG and Ethical Posture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Transparency and </a:t>
            </a:r>
            <a:r>
              <a:rPr lang="en-US">
                <a:latin typeface="Avenir"/>
                <a:ea typeface="Avenir"/>
                <a:cs typeface="Avenir"/>
                <a:sym typeface="Avenir"/>
              </a:rPr>
              <a:t>Openness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Governance and </a:t>
            </a:r>
            <a:r>
              <a:rPr lang="en-US">
                <a:latin typeface="Avenir"/>
                <a:ea typeface="Avenir"/>
                <a:cs typeface="Avenir"/>
                <a:sym typeface="Avenir"/>
              </a:rPr>
              <a:t>Accountability</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Product Stability and Direction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Research and </a:t>
            </a:r>
            <a:r>
              <a:rPr lang="en-US">
                <a:latin typeface="Avenir"/>
                <a:ea typeface="Avenir"/>
                <a:cs typeface="Avenir"/>
                <a:sym typeface="Avenir"/>
              </a:rPr>
              <a:t>Safety</a:t>
            </a:r>
            <a:r>
              <a:rPr lang="en-US">
                <a:latin typeface="Avenir"/>
                <a:ea typeface="Avenir"/>
                <a:cs typeface="Avenir"/>
                <a:sym typeface="Avenir"/>
              </a:rPr>
              <a:t> Culture</a:t>
            </a:r>
            <a:endParaRPr>
              <a:latin typeface="Avenir"/>
              <a:ea typeface="Avenir"/>
              <a:cs typeface="Avenir"/>
              <a:sym typeface="Avenir"/>
            </a:endParaRPr>
          </a:p>
        </p:txBody>
      </p:sp>
      <p:sp>
        <p:nvSpPr>
          <p:cNvPr id="187" name="Google Shape;187;g3936df5c928_0_11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